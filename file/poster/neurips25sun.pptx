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4"/>
  </p:notesMasterIdLst>
  <p:sldIdLst>
    <p:sldId id="256" r:id="rId3"/>
  </p:sldIdLst>
  <p:sldSz cx="32918400" cy="21945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26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326390" algn="l" defTabSz="326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652780" algn="l" defTabSz="326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979805" algn="l" defTabSz="326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306195" algn="l" defTabSz="326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1632585" algn="l" defTabSz="326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1958975" algn="l" defTabSz="326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2286000" algn="l" defTabSz="326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2612390" algn="l" defTabSz="32639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 YI" initials="KY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0BE"/>
    <a:srgbClr val="E37D7D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48" d="100"/>
          <a:sy n="48" d="100"/>
        </p:scale>
        <p:origin x="1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633345" latinLnBrk="0">
      <a:defRPr sz="3400">
        <a:latin typeface="+mn-lt"/>
        <a:ea typeface="+mn-ea"/>
        <a:cs typeface="+mn-cs"/>
        <a:sym typeface="Calibri" panose="020F0502020204030204"/>
      </a:defRPr>
    </a:lvl1pPr>
    <a:lvl2pPr indent="228600" defTabSz="2633345" latinLnBrk="0">
      <a:defRPr sz="3400">
        <a:latin typeface="+mn-lt"/>
        <a:ea typeface="+mn-ea"/>
        <a:cs typeface="+mn-cs"/>
        <a:sym typeface="Calibri" panose="020F0502020204030204"/>
      </a:defRPr>
    </a:lvl2pPr>
    <a:lvl3pPr indent="457200" defTabSz="2633345" latinLnBrk="0">
      <a:defRPr sz="3400">
        <a:latin typeface="+mn-lt"/>
        <a:ea typeface="+mn-ea"/>
        <a:cs typeface="+mn-cs"/>
        <a:sym typeface="Calibri" panose="020F0502020204030204"/>
      </a:defRPr>
    </a:lvl3pPr>
    <a:lvl4pPr indent="685800" defTabSz="2633345" latinLnBrk="0">
      <a:defRPr sz="3400">
        <a:latin typeface="+mn-lt"/>
        <a:ea typeface="+mn-ea"/>
        <a:cs typeface="+mn-cs"/>
        <a:sym typeface="Calibri" panose="020F0502020204030204"/>
      </a:defRPr>
    </a:lvl4pPr>
    <a:lvl5pPr indent="914400" defTabSz="2633345" latinLnBrk="0">
      <a:defRPr sz="3400">
        <a:latin typeface="+mn-lt"/>
        <a:ea typeface="+mn-ea"/>
        <a:cs typeface="+mn-cs"/>
        <a:sym typeface="Calibri" panose="020F0502020204030204"/>
      </a:defRPr>
    </a:lvl5pPr>
    <a:lvl6pPr indent="1143000" defTabSz="2633345" latinLnBrk="0">
      <a:defRPr sz="3400">
        <a:latin typeface="+mn-lt"/>
        <a:ea typeface="+mn-ea"/>
        <a:cs typeface="+mn-cs"/>
        <a:sym typeface="Calibri" panose="020F0502020204030204"/>
      </a:defRPr>
    </a:lvl6pPr>
    <a:lvl7pPr indent="1371600" defTabSz="2633345" latinLnBrk="0">
      <a:defRPr sz="3400">
        <a:latin typeface="+mn-lt"/>
        <a:ea typeface="+mn-ea"/>
        <a:cs typeface="+mn-cs"/>
        <a:sym typeface="Calibri" panose="020F0502020204030204"/>
      </a:defRPr>
    </a:lvl7pPr>
    <a:lvl8pPr indent="1600200" defTabSz="2633345" latinLnBrk="0">
      <a:defRPr sz="3400">
        <a:latin typeface="+mn-lt"/>
        <a:ea typeface="+mn-ea"/>
        <a:cs typeface="+mn-cs"/>
        <a:sym typeface="Calibri" panose="020F0502020204030204"/>
      </a:defRPr>
    </a:lvl8pPr>
    <a:lvl9pPr indent="1828800" defTabSz="2633345" latinLnBrk="0">
      <a:defRPr sz="34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 Researc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 marL="2005965" indent="-771525">
              <a:buFont typeface="Calibri" panose="020F0502020204030204" pitchFamily="34" charset="0"/>
              <a:buChar char="–"/>
              <a:defRPr>
                <a:latin typeface="Calibri" panose="020F0502020204030204" pitchFamily="34" charset="0"/>
              </a:defRPr>
            </a:lvl2pPr>
            <a:lvl3pPr marL="3086100" indent="-617220"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503920" y="20238720"/>
            <a:ext cx="15910560" cy="146304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Join Algorithms: From External Memory to the BSP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8691AAE-3C2A-4EFA-BA52-0DE96F085E69}" type="slidenum">
              <a:rPr lang="en-US"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>
          <a:xfrm>
            <a:off x="1645920" y="19984720"/>
            <a:ext cx="7680960" cy="1524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45920" y="294640"/>
            <a:ext cx="29626561" cy="482600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45920" y="5120640"/>
            <a:ext cx="29626561" cy="16824961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910559" y="19756119"/>
            <a:ext cx="7680961" cy="1168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/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l" defTabSz="2926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2926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2926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2926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2926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2926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2926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2926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292608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731520" marR="0" indent="-731520" algn="l" defTabSz="292608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 panose="020B0604020202020204"/>
        <a:buChar char="•"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2319655" marR="0" indent="-856615" algn="l" defTabSz="292608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 panose="020B0604020202020204"/>
        <a:buChar char="•"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3943350" marR="0" indent="-1017270" algn="l" defTabSz="292608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 panose="020B0604020202020204"/>
        <a:buChar char="•"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5531485" marR="0" indent="-1142365" algn="l" defTabSz="292608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 panose="020B0604020202020204"/>
        <a:buChar char="•"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6994525" marR="0" indent="-1142365" algn="l" defTabSz="292608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 panose="020B0604020202020204"/>
        <a:buChar char="•"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8457565" marR="0" indent="-1142365" algn="l" defTabSz="292608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 panose="020B0604020202020204"/>
        <a:buChar char="•"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9921240" marR="0" indent="-1142365" algn="l" defTabSz="292608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 panose="020B0604020202020204"/>
        <a:buChar char="•"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11384280" marR="0" indent="-1142365" algn="l" defTabSz="292608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 panose="020B0604020202020204"/>
        <a:buChar char="•"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12847320" marR="0" indent="-1142365" algn="l" defTabSz="292608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 panose="020B0604020202020204"/>
        <a:buChar char="•"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326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326390" algn="r" defTabSz="326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652780" algn="r" defTabSz="326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979805" algn="r" defTabSz="326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306195" algn="r" defTabSz="326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1632585" algn="r" defTabSz="326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1958975" algn="r" defTabSz="326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2286000" algn="r" defTabSz="326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2612390" algn="r" defTabSz="3263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notesSlide" Target="../notesSlides/notesSlide1.xml"/><Relationship Id="rId18" Type="http://schemas.openxmlformats.org/officeDocument/2006/relationships/image" Target="../media/image5.png"/><Relationship Id="rId26" Type="http://schemas.openxmlformats.org/officeDocument/2006/relationships/image" Target="../media/image13.png"/><Relationship Id="rId39" Type="http://schemas.openxmlformats.org/officeDocument/2006/relationships/image" Target="../media/image25.png"/><Relationship Id="rId21" Type="http://schemas.openxmlformats.org/officeDocument/2006/relationships/image" Target="../media/image8.png"/><Relationship Id="rId34" Type="http://schemas.openxmlformats.org/officeDocument/2006/relationships/image" Target="../media/image20.png"/><Relationship Id="rId42" Type="http://schemas.openxmlformats.org/officeDocument/2006/relationships/image" Target="../media/image28.jpe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29" Type="http://schemas.openxmlformats.org/officeDocument/2006/relationships/image" Target="../media/image16.png"/><Relationship Id="rId41" Type="http://schemas.openxmlformats.org/officeDocument/2006/relationships/image" Target="../media/image27.jpe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1.png"/><Relationship Id="rId32" Type="http://schemas.openxmlformats.org/officeDocument/2006/relationships/image" Target="../media/image18.png"/><Relationship Id="rId37" Type="http://schemas.openxmlformats.org/officeDocument/2006/relationships/image" Target="../media/image23.png"/><Relationship Id="rId40" Type="http://schemas.openxmlformats.org/officeDocument/2006/relationships/image" Target="../media/image26.png"/><Relationship Id="rId5" Type="http://schemas.openxmlformats.org/officeDocument/2006/relationships/tags" Target="../tags/tag5.xml"/><Relationship Id="rId15" Type="http://schemas.openxmlformats.org/officeDocument/2006/relationships/image" Target="../media/image2.png"/><Relationship Id="rId23" Type="http://schemas.openxmlformats.org/officeDocument/2006/relationships/image" Target="../media/image10.svg"/><Relationship Id="rId28" Type="http://schemas.openxmlformats.org/officeDocument/2006/relationships/image" Target="../media/image15.png"/><Relationship Id="rId36" Type="http://schemas.openxmlformats.org/officeDocument/2006/relationships/image" Target="../media/image22.png"/><Relationship Id="rId10" Type="http://schemas.openxmlformats.org/officeDocument/2006/relationships/tags" Target="../tags/tag10.xml"/><Relationship Id="rId19" Type="http://schemas.openxmlformats.org/officeDocument/2006/relationships/image" Target="../media/image6.png"/><Relationship Id="rId31" Type="http://schemas.openxmlformats.org/officeDocument/2006/relationships/image" Target="../media/image17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.png"/><Relationship Id="rId22" Type="http://schemas.openxmlformats.org/officeDocument/2006/relationships/image" Target="../media/image9.png"/><Relationship Id="rId27" Type="http://schemas.openxmlformats.org/officeDocument/2006/relationships/image" Target="../media/image14.svg"/><Relationship Id="rId30" Type="http://schemas.openxmlformats.org/officeDocument/2006/relationships/image" Target="../media/image17.svg"/><Relationship Id="rId35" Type="http://schemas.openxmlformats.org/officeDocument/2006/relationships/image" Target="../media/image21.png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slideLayout" Target="../slideLayouts/slideLayout1.xml"/><Relationship Id="rId17" Type="http://schemas.openxmlformats.org/officeDocument/2006/relationships/image" Target="../media/image4.png"/><Relationship Id="rId25" Type="http://schemas.openxmlformats.org/officeDocument/2006/relationships/image" Target="../media/image12.svg"/><Relationship Id="rId33" Type="http://schemas.openxmlformats.org/officeDocument/2006/relationships/image" Target="../media/image19.png"/><Relationship Id="rId3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5"/>
          <p:cNvSpPr txBox="1"/>
          <p:nvPr/>
        </p:nvSpPr>
        <p:spPr>
          <a:xfrm>
            <a:off x="5423535" y="1198880"/>
            <a:ext cx="20583525" cy="9372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5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US" altLang="zh-CN" dirty="0"/>
              <a:t>Sum Estimation under Personalized Local Differential Privacy</a:t>
            </a:r>
          </a:p>
        </p:txBody>
      </p:sp>
      <p:sp>
        <p:nvSpPr>
          <p:cNvPr id="50" name="TextBox 37"/>
          <p:cNvSpPr txBox="1"/>
          <p:nvPr/>
        </p:nvSpPr>
        <p:spPr>
          <a:xfrm>
            <a:off x="10082189" y="2347612"/>
            <a:ext cx="12754021" cy="125285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defRPr sz="2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2800" dirty="0" err="1"/>
              <a:t>Dajun</a:t>
            </a:r>
            <a:r>
              <a:rPr lang="en-US" altLang="zh-CN" sz="2800" dirty="0"/>
              <a:t> </a:t>
            </a:r>
            <a:r>
              <a:rPr lang="en-US" sz="2800" dirty="0"/>
              <a:t>Sun, Wei Dong, Yuan Qiu, Ke Yi, Graham Cormode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defRPr sz="21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2800" dirty="0"/>
              <a:t>HKUST, NTU, Southeast University, University of Warwick</a:t>
            </a:r>
          </a:p>
        </p:txBody>
      </p:sp>
      <p:sp>
        <p:nvSpPr>
          <p:cNvPr id="2" name="Rectangle 35"/>
          <p:cNvSpPr/>
          <p:nvPr/>
        </p:nvSpPr>
        <p:spPr>
          <a:xfrm>
            <a:off x="0" y="-3789"/>
            <a:ext cx="32918400" cy="104261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41"/>
          <p:cNvSpPr/>
          <p:nvPr/>
        </p:nvSpPr>
        <p:spPr>
          <a:xfrm>
            <a:off x="6096" y="4096421"/>
            <a:ext cx="32911772" cy="274521"/>
          </a:xfrm>
          <a:prstGeom prst="rect">
            <a:avLst/>
          </a:prstGeom>
          <a:gradFill>
            <a:gsLst>
              <a:gs pos="100000">
                <a:srgbClr val="DAE9F6"/>
              </a:gs>
              <a:gs pos="0">
                <a:schemeClr val="accent1">
                  <a:tint val="66000"/>
                  <a:satMod val="160000"/>
                </a:schemeClr>
              </a:gs>
              <a:gs pos="51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neurips_logo.pdf" descr="neurips_logo.pdf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06580" y="1268151"/>
            <a:ext cx="4797779" cy="2159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" name="TextBox 45"/>
          <p:cNvSpPr txBox="1"/>
          <p:nvPr/>
        </p:nvSpPr>
        <p:spPr>
          <a:xfrm>
            <a:off x="986246" y="4958785"/>
            <a:ext cx="9064534" cy="61555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lang="en-US" altLang="zh-CN" dirty="0"/>
              <a:t>Background</a:t>
            </a:r>
            <a:endParaRPr dirty="0"/>
          </a:p>
        </p:txBody>
      </p:sp>
      <p:sp>
        <p:nvSpPr>
          <p:cNvPr id="16" name="Rectangle 42"/>
          <p:cNvSpPr/>
          <p:nvPr/>
        </p:nvSpPr>
        <p:spPr>
          <a:xfrm rot="10800000">
            <a:off x="-1" y="20902982"/>
            <a:ext cx="32918400" cy="104261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43"/>
          <p:cNvSpPr/>
          <p:nvPr/>
        </p:nvSpPr>
        <p:spPr>
          <a:xfrm>
            <a:off x="805851" y="4710485"/>
            <a:ext cx="9757021" cy="16192497"/>
          </a:xfrm>
          <a:prstGeom prst="roundRect">
            <a:avLst>
              <a:gd name="adj" fmla="val 195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43"/>
          <p:cNvSpPr/>
          <p:nvPr/>
        </p:nvSpPr>
        <p:spPr>
          <a:xfrm>
            <a:off x="11580687" y="4710485"/>
            <a:ext cx="9757021" cy="16192497"/>
          </a:xfrm>
          <a:prstGeom prst="roundRect">
            <a:avLst>
              <a:gd name="adj" fmla="val 195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内容占位符 2"/>
              <p:cNvSpPr txBox="1"/>
              <p:nvPr/>
            </p:nvSpPr>
            <p:spPr bwMode="auto">
              <a:xfrm>
                <a:off x="971550" y="5871210"/>
                <a:ext cx="7630795" cy="43434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0000"/>
                  <a:buFont typeface="Calibri" panose="020F050202020403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Arial" panose="020B0604020202020204" pitchFamily="34" charset="0"/>
                  <a:buChar char="•"/>
                  <a:defRPr sz="1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1" lang="en-US" altLang="zh-CN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Differential</a:t>
                </a:r>
                <a:r>
                  <a:rPr kumimoji="1" lang="zh-CN" alt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 </a:t>
                </a:r>
                <a:r>
                  <a:rPr kumimoji="1" lang="en-US" altLang="zh-CN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Privacy</a:t>
                </a:r>
                <a:endParaRPr kumimoji="1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80000"/>
                  <a:buFont typeface="Calibri" panose="020F0502020204030204" pitchFamily="34" charset="0"/>
                  <a:buChar char="–"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Database instance </a:t>
                </a:r>
                <a14:m>
                  <m:oMath xmlns:m="http://schemas.openxmlformats.org/officeDocument/2006/math">
                    <m:r>
                      <a:rPr kumimoji="1" lang="en-US" altLang="zh-CN" sz="2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𝐈</m:t>
                    </m:r>
                  </m:oMath>
                </a14:m>
                <a:endPara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80000"/>
                  <a:buFont typeface="Calibri" panose="020F0502020204030204" pitchFamily="34" charset="0"/>
                  <a:buChar char="–"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For any </a:t>
                </a:r>
                <a14:m>
                  <m:oMath xmlns:m="http://schemas.openxmlformats.org/officeDocument/2006/math">
                    <m:r>
                      <a:rPr kumimoji="1" lang="en-US" altLang="zh-CN" sz="2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𝐈</m:t>
                    </m:r>
                    <m:r>
                      <a:rPr kumimoji="1" lang="en-US" altLang="zh-CN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2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𝐈</m:t>
                    </m:r>
                    <m:r>
                      <a:rPr kumimoji="1" lang="en-US" altLang="zh-CN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, they are neighbors (</a:t>
                </a:r>
                <a14:m>
                  <m:oMath xmlns:m="http://schemas.openxmlformats.org/officeDocument/2006/math">
                    <m:r>
                      <a:rPr kumimoji="1" lang="en-US" altLang="zh-CN" sz="2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𝐈</m:t>
                    </m:r>
                    <m:r>
                      <a:rPr kumimoji="1" lang="en-US" altLang="zh-CN" sz="2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kumimoji="1" lang="en-US" altLang="zh-CN" sz="2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𝐈</m:t>
                    </m:r>
                    <m:r>
                      <a:rPr kumimoji="1" lang="en-US" altLang="zh-CN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) if they differ by one individual’s information</a:t>
                </a:r>
                <a:endPara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80000"/>
                  <a:buFont typeface="Calibri" panose="020F0502020204030204" pitchFamily="34" charset="0"/>
                  <a:buChar char="–"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𝜀</m:t>
                    </m:r>
                    <m:r>
                      <a:rPr kumimoji="1" lang="en-US" altLang="zh-CN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𝛿</m:t>
                    </m:r>
                    <m:r>
                      <a:rPr kumimoji="1" lang="en-US" altLang="zh-CN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, a mechanism 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kumimoji="1" lang="en-US" altLang="zh-CN" sz="2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𝜀</m:t>
                    </m:r>
                    <m:r>
                      <a:rPr kumimoji="1" lang="en-US" altLang="zh-CN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𝛿</m:t>
                    </m:r>
                    <m:r>
                      <a:rPr kumimoji="1" lang="en-US" altLang="zh-CN" sz="20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-DP if for any </a:t>
                </a:r>
                <a14:m>
                  <m:oMath xmlns:m="http://schemas.openxmlformats.org/officeDocument/2006/math">
                    <m:r>
                      <a:rPr kumimoji="1" lang="en-US" altLang="zh-CN" sz="2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𝐈</m:t>
                    </m:r>
                    <m:r>
                      <a:rPr kumimoji="1" lang="en-US" altLang="zh-CN" sz="20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∼</m:t>
                    </m:r>
                    <m:r>
                      <a:rPr kumimoji="1" lang="en-US" altLang="zh-CN" sz="20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𝐈</m:t>
                    </m:r>
                    <m:r>
                      <a:rPr kumimoji="1" lang="en-US" altLang="zh-CN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kumimoji="1" lang="en-US" altLang="zh-CN" sz="2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, </a:t>
                </a: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any subset of outputs</a:t>
                </a: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0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𝑌</m:t>
                    </m:r>
                    <m:r>
                      <a:rPr kumimoji="1" lang="en-US" altLang="zh-CN" sz="20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		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CN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0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𝑀</m:t>
                            </m:r>
                            <m:d>
                              <m:dPr>
                                <m:ctrlPr>
                                  <a:rPr kumimoji="1" lang="en-US" altLang="zh-CN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000" b="1" i="0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𝐈</m:t>
                                </m:r>
                              </m:e>
                            </m:d>
                            <m:r>
                              <a:rPr kumimoji="1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kumimoji="1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func>
                    <m:r>
                      <a:rPr kumimoji="1" lang="en-US" altLang="zh-CN" sz="20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kumimoji="1" lang="en-US" altLang="zh-CN" sz="20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kumimoji="1" lang="en-US" altLang="zh-CN" sz="20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kumimoji="1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𝜀</m:t>
                            </m:r>
                          </m:sup>
                        </m:sSup>
                        <m:r>
                          <a:rPr kumimoji="1" lang="en-US" altLang="zh-CN" sz="20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kumimoji="1" lang="en-US" altLang="zh-CN" sz="2000" b="0" i="0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𝑀</m:t>
                            </m:r>
                            <m:d>
                              <m:dPr>
                                <m:ctrlPr>
                                  <a:rPr kumimoji="1" lang="en-US" altLang="zh-CN" sz="20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1" lang="en-US" altLang="zh-CN" sz="20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000" b="1" i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𝐈</m:t>
                                    </m:r>
                                  </m:e>
                                  <m:sup>
                                    <m:r>
                                      <a:rPr kumimoji="1" lang="en-US" altLang="zh-CN" sz="20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kumimoji="1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kumimoji="1" lang="en-US" altLang="zh-CN" sz="20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.</a:t>
                </a:r>
              </a:p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80000"/>
                  <a:buFont typeface="Calibri" panose="020F0502020204030204" pitchFamily="34" charset="0"/>
                  <a:buNone/>
                  <a:defRPr/>
                </a:pPr>
                <a:endPara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</a:endParaRPr>
              </a:p>
              <a:p>
                <a:pPr marL="1143000" marR="0" lvl="2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65000"/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kumimoji="1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: controls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privacy</a:t>
                </a: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 </a:t>
                </a:r>
                <a:r>
                  <a:rPr kumimoji="1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level</a:t>
                </a:r>
              </a:p>
              <a:p>
                <a:pPr marL="914400" marR="0" lvl="2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65000"/>
                  <a:buFont typeface="Arial" panose="020B0604020202020204" pitchFamily="34" charset="0"/>
                  <a:buNone/>
                  <a:defRPr/>
                </a:pPr>
                <a:endParaRPr kumimoji="1" lang="en-US" altLang="zh-CN" sz="1800" b="0" i="1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 pitchFamily="34" charset="0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80000"/>
                  <a:buFont typeface="Calibri" panose="020F0502020204030204" pitchFamily="34" charset="0"/>
                  <a:buChar char="–"/>
                  <a:defRPr/>
                </a:pPr>
                <a:endParaRPr kumimoji="1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</a:endParaRPr>
              </a:p>
              <a:p>
                <a:pPr marL="1143000" marR="0" lvl="2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65000"/>
                  <a:buFont typeface="Arial" panose="020B0604020202020204" pitchFamily="34" charset="0"/>
                  <a:buChar char="•"/>
                  <a:defRPr/>
                </a:pPr>
                <a:endParaRPr kumimoji="1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5871210"/>
                <a:ext cx="7630795" cy="434340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1" name="图片 90" descr="图片包含 图示&#10;&#10;描述已自动生成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00" y="8310253"/>
            <a:ext cx="5491657" cy="3661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/>
              <p:cNvSpPr txBox="1"/>
              <p:nvPr/>
            </p:nvSpPr>
            <p:spPr>
              <a:xfrm>
                <a:off x="5304285" y="9326262"/>
                <a:ext cx="228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kumimoji="1"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𝐈</m:t>
                          </m:r>
                        </m:e>
                      </m:d>
                      <m:r>
                        <a:rPr kumimoji="1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Lap</m:t>
                      </m:r>
                      <m:r>
                        <a:rPr kumimoji="1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GS</m:t>
                      </m:r>
                      <m:r>
                        <a:rPr kumimoji="1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kumimoji="1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kumimoji="1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2" name="文本框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4285" y="9326262"/>
                <a:ext cx="2286000" cy="369332"/>
              </a:xfrm>
              <a:prstGeom prst="rect">
                <a:avLst/>
              </a:prstGeom>
              <a:blipFill rotWithShape="1">
                <a:blip r:embed="rId17"/>
                <a:stretch>
                  <a:fillRect l="-6" t="-5" r="6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本框 92"/>
              <p:cNvSpPr txBox="1"/>
              <p:nvPr/>
            </p:nvSpPr>
            <p:spPr>
              <a:xfrm>
                <a:off x="8051968" y="9326262"/>
                <a:ext cx="228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kumimoji="1" lang="en-US" altLang="zh-CN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𝐈</m:t>
                          </m:r>
                          <m:r>
                            <a:rPr kumimoji="1"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kumimoji="1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zh-CN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Lap</m:t>
                      </m:r>
                      <m:r>
                        <a:rPr kumimoji="1" lang="en-US" altLang="zh-CN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zh-CN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GS</m:t>
                      </m:r>
                      <m:r>
                        <a:rPr kumimoji="1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kumimoji="1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kumimoji="1"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3" name="文本框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968" y="9326262"/>
                <a:ext cx="2286000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7" t="-5" r="7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内容占位符 2"/>
              <p:cNvSpPr txBox="1"/>
              <p:nvPr/>
            </p:nvSpPr>
            <p:spPr bwMode="auto">
              <a:xfrm>
                <a:off x="986155" y="9326245"/>
                <a:ext cx="4410075" cy="290004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0000"/>
                  <a:buFont typeface="Calibri" panose="020F050202020403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Arial" panose="020B0604020202020204" pitchFamily="34" charset="0"/>
                  <a:buChar char="•"/>
                  <a:defRPr sz="1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1" lang="en-US" altLang="zh-CN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Laplace mechanism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80000"/>
                  <a:buFont typeface="Calibri" panose="020F0502020204030204" pitchFamily="34" charset="0"/>
                  <a:buChar char="–"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Denote</a:t>
                </a: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 </a:t>
                </a: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the</a:t>
                </a: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 </a:t>
                </a: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query</a:t>
                </a: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 </a:t>
                </a: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as</a:t>
                </a:r>
                <a:r>
                  <a:rPr kumimoji="1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 </a:t>
                </a: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𝑄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80000"/>
                  <a:buFont typeface="Calibri" panose="020F0502020204030204" pitchFamily="34" charset="0"/>
                  <a:buChar char="–"/>
                  <a:defRPr/>
                </a:pPr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Global sensitivity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GS</m:t>
                    </m:r>
                  </m:oMath>
                </a14:m>
                <a:r>
                  <a:rPr kumimoji="1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</a:rPr>
                  <a:t>):</a:t>
                </a:r>
              </a:p>
              <a:p>
                <a:pPr marL="1143000" marR="0" lvl="2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65000"/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1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GS</m:t>
                    </m:r>
                    <m:r>
                      <a:rPr kumimoji="1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kumimoji="1" lang="en-US" altLang="zh-CN" sz="1800" b="1" i="0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𝐈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sSup>
                                  <m:sSupPr>
                                    <m:ctrlPr>
                                      <a:rPr kumimoji="1" lang="en-US" altLang="zh-CN" sz="18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1800" b="1" i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𝐈</m:t>
                                    </m:r>
                                  </m:e>
                                  <m:sup>
                                    <m:r>
                                      <a:rPr kumimoji="1" lang="en-US" altLang="zh-CN" sz="1800" b="0" i="0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kumimoji="1" lang="en-US" altLang="zh-CN" sz="1800" b="1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1" lang="en-US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kumimoji="1" lang="en-US" altLang="zh-CN" sz="1800" b="1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zh-CN" sz="1800" b="1" i="0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𝐈</m:t>
                                    </m:r>
                                    <m:r>
                                      <a:rPr kumimoji="1" lang="en-US" altLang="zh-CN" sz="18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kumimoji="1" lang="en-US" altLang="zh-CN" sz="18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zh-CN" sz="1800" b="1" i="0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𝐈</m:t>
                                        </m:r>
                                      </m:e>
                                      <m:sup>
                                        <m:r>
                                          <a:rPr kumimoji="1" lang="en-US" altLang="zh-CN" sz="18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kumimoji="1" lang="en-US" altLang="zh-CN" sz="1800" b="1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zh-CN" sz="1800" b="0" i="0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lim>
                            </m:limLow>
                          </m:fName>
                          <m:e>
                            <m:r>
                              <a:rPr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kumimoji="1" lang="en-US" altLang="zh-CN" sz="1800" b="1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1800" b="1" i="0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𝐈</m:t>
                                </m:r>
                              </m:e>
                            </m:d>
                            <m:r>
                              <a:rPr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1800" b="1" i="0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𝐈</m:t>
                            </m:r>
                            <m:r>
                              <a:rPr kumimoji="1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′)|</m:t>
                            </m:r>
                          </m:e>
                        </m:func>
                      </m:e>
                    </m:func>
                  </m:oMath>
                </a14:m>
                <a:endPara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</a:endParaRPr>
              </a:p>
              <a:p>
                <a:pPr marL="1143000" marR="0" lvl="2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65000"/>
                  <a:buFont typeface="Arial" panose="020B0604020202020204" pitchFamily="34" charset="0"/>
                  <a:buChar char="•"/>
                  <a:defRPr/>
                </a:pPr>
                <a:endPara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</a:endParaRPr>
              </a:p>
              <a:p>
                <a:pPr marL="1143000" marR="0" lvl="2" indent="-22860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BE"/>
                  </a:buClr>
                  <a:buSzPct val="65000"/>
                  <a:buFont typeface="Arial" panose="020B0604020202020204" pitchFamily="34" charset="0"/>
                  <a:buChar char="•"/>
                  <a:defRPr/>
                </a:pPr>
                <a:endPara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6155" y="9326245"/>
                <a:ext cx="4410075" cy="290004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1230117" y="13827581"/>
            <a:ext cx="8389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kumimoji="1" lang="zh-CN" altLang="en-US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kumimoji="1" lang="zh-CN" altLang="en-US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kumimoji="1" lang="zh-CN" altLang="en-US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flexible</a:t>
            </a:r>
            <a:r>
              <a:rPr kumimoji="1" lang="zh-CN" altLang="en-US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DP</a:t>
            </a:r>
            <a:r>
              <a:rPr kumimoji="1" lang="zh-CN" altLang="en-US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3200" b="1" dirty="0">
                <a:solidFill>
                  <a:srgbClr val="0200B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endParaRPr kumimoji="1" lang="zh-CN" altLang="en-US" sz="3200" b="1" dirty="0">
              <a:solidFill>
                <a:srgbClr val="0200B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内容占位符 2"/>
              <p:cNvSpPr txBox="1"/>
              <p:nvPr/>
            </p:nvSpPr>
            <p:spPr bwMode="auto">
              <a:xfrm>
                <a:off x="971550" y="11875135"/>
                <a:ext cx="8743315" cy="243649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0000"/>
                  <a:buFont typeface="Calibri" panose="020F050202020403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Arial" panose="020B0604020202020204" pitchFamily="34" charset="0"/>
                  <a:buChar char="•"/>
                  <a:defRPr sz="1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Clr>
                    <a:srgbClr val="0200BE"/>
                  </a:buClr>
                </a:pPr>
                <a:r>
                  <a:rPr kumimoji="1" lang="en-US" altLang="zh-CN" kern="0" dirty="0"/>
                  <a:t>Standard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DP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has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uniform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privacy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parameter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for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all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users</a:t>
                </a:r>
              </a:p>
              <a:p>
                <a:pPr>
                  <a:buClr>
                    <a:srgbClr val="0200BE"/>
                  </a:buClr>
                </a:pPr>
                <a:endParaRPr kumimoji="1" lang="en-US" altLang="zh-CN" kern="0" dirty="0"/>
              </a:p>
              <a:p>
                <a:pPr>
                  <a:buClr>
                    <a:srgbClr val="0200BE"/>
                  </a:buClr>
                </a:pPr>
                <a:r>
                  <a:rPr kumimoji="1" lang="en-US" altLang="zh-CN" kern="0" dirty="0"/>
                  <a:t>Different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users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may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have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different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requirements</a:t>
                </a:r>
              </a:p>
              <a:p>
                <a:pPr lvl="1">
                  <a:buClr>
                    <a:srgbClr val="0200BE"/>
                  </a:buClr>
                </a:pPr>
                <a:r>
                  <a:rPr kumimoji="1" lang="en-US" altLang="zh-CN" kern="0" dirty="0"/>
                  <a:t>Rich people may be more concerned about their privacy </a:t>
                </a:r>
              </a:p>
              <a:p>
                <a:pPr lvl="1">
                  <a:buClr>
                    <a:srgbClr val="0200BE"/>
                  </a:buClr>
                </a:pPr>
                <a:r>
                  <a:rPr kumimoji="1" lang="en-US" altLang="zh-CN" kern="0" dirty="0"/>
                  <a:t>People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with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some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diseases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may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need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stronger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privacy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protection</a:t>
                </a:r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endParaRPr kumimoji="1" lang="en-US" altLang="zh-CN" kern="0" dirty="0"/>
              </a:p>
              <a:p>
                <a:endParaRPr kumimoji="1" lang="en-US" altLang="zh-CN" kern="0" dirty="0"/>
              </a:p>
              <a:p>
                <a:pPr lvl="1"/>
                <a:endParaRPr kumimoji="1" lang="en-US" altLang="zh-CN" kern="0" dirty="0"/>
              </a:p>
              <a:p>
                <a:pPr marL="0" indent="0">
                  <a:buFont typeface="Wingdings" panose="05000000000000000000" pitchFamily="2" charset="2"/>
                  <a:buNone/>
                </a:pPr>
                <a:endParaRPr kumimoji="1" lang="en-US" altLang="zh-CN" b="1" kern="0" dirty="0"/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r>
                  <a:rPr kumimoji="1" lang="zh-CN" altLang="en-US" kern="0" dirty="0"/>
                  <a:t> </a:t>
                </a:r>
              </a:p>
            </p:txBody>
          </p:sp>
        </mc:Choice>
        <mc:Fallback xmlns="">
          <p:sp>
            <p:nvSpPr>
              <p:cNvPr id="15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11875135"/>
                <a:ext cx="8743315" cy="2436495"/>
              </a:xfrm>
              <a:prstGeom prst="rect">
                <a:avLst/>
              </a:prstGeom>
              <a:blipFill rotWithShape="1">
                <a:blip r:embed="rId20"/>
                <a:stretch>
                  <a:fillRect b="-56685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内容占位符 2"/>
              <p:cNvSpPr txBox="1"/>
              <p:nvPr/>
            </p:nvSpPr>
            <p:spPr bwMode="auto">
              <a:xfrm>
                <a:off x="971550" y="14479905"/>
                <a:ext cx="9575800" cy="261937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0000"/>
                  <a:buFont typeface="Calibri" panose="020F050202020403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Arial" panose="020B0604020202020204" pitchFamily="34" charset="0"/>
                  <a:buChar char="•"/>
                  <a:defRPr sz="1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buClr>
                    <a:srgbClr val="0200BE"/>
                  </a:buClr>
                </a:pPr>
                <a:r>
                  <a:rPr kumimoji="1" lang="en-US" altLang="zh-CN" b="1" kern="0" dirty="0">
                    <a:solidFill>
                      <a:srgbClr val="0200BE"/>
                    </a:solidFill>
                  </a:rPr>
                  <a:t>Personalized</a:t>
                </a:r>
                <a:r>
                  <a:rPr kumimoji="1" lang="zh-CN" altLang="en-US" b="1" kern="0" dirty="0">
                    <a:solidFill>
                      <a:srgbClr val="0200BE"/>
                    </a:solidFill>
                  </a:rPr>
                  <a:t> </a:t>
                </a:r>
                <a:r>
                  <a:rPr kumimoji="1" lang="en-US" altLang="zh-CN" b="1" kern="0" dirty="0">
                    <a:solidFill>
                      <a:srgbClr val="0200BE"/>
                    </a:solidFill>
                  </a:rPr>
                  <a:t>Differential</a:t>
                </a:r>
                <a:r>
                  <a:rPr kumimoji="1" lang="zh-CN" altLang="en-US" b="1" kern="0" dirty="0">
                    <a:solidFill>
                      <a:srgbClr val="0200BE"/>
                    </a:solidFill>
                  </a:rPr>
                  <a:t> </a:t>
                </a:r>
                <a:r>
                  <a:rPr kumimoji="1" lang="en-US" altLang="zh-CN" b="1" kern="0" dirty="0">
                    <a:solidFill>
                      <a:srgbClr val="0200BE"/>
                    </a:solidFill>
                  </a:rPr>
                  <a:t>Privacy</a:t>
                </a:r>
                <a:r>
                  <a:rPr kumimoji="1" lang="zh-CN" altLang="en-US" b="1" kern="0" dirty="0">
                    <a:solidFill>
                      <a:srgbClr val="0200BE"/>
                    </a:solidFill>
                  </a:rPr>
                  <a:t> </a:t>
                </a:r>
                <a:r>
                  <a:rPr kumimoji="1" lang="en-US" altLang="zh-CN" b="1" kern="0" dirty="0">
                    <a:solidFill>
                      <a:srgbClr val="0200BE"/>
                    </a:solidFill>
                  </a:rPr>
                  <a:t>(PDP)</a:t>
                </a:r>
                <a:r>
                  <a:rPr kumimoji="1" lang="en-US" altLang="zh-CN" kern="0" baseline="-25000" dirty="0"/>
                  <a:t>[Jorgensen</a:t>
                </a:r>
                <a:r>
                  <a:rPr kumimoji="1" lang="zh-CN" altLang="en-US" kern="0" baseline="-25000" dirty="0"/>
                  <a:t> </a:t>
                </a:r>
                <a:r>
                  <a:rPr kumimoji="1" lang="en-US" altLang="zh-CN" kern="0" baseline="-25000" dirty="0"/>
                  <a:t>et</a:t>
                </a:r>
                <a:r>
                  <a:rPr kumimoji="1" lang="zh-CN" altLang="en-US" kern="0" baseline="-25000" dirty="0"/>
                  <a:t> </a:t>
                </a:r>
                <a:r>
                  <a:rPr kumimoji="1" lang="en-US" altLang="zh-CN" kern="0" baseline="-25000" dirty="0"/>
                  <a:t>al.</a:t>
                </a:r>
                <a:r>
                  <a:rPr kumimoji="1" lang="zh-CN" altLang="en-US" kern="0" baseline="-25000" dirty="0"/>
                  <a:t> </a:t>
                </a:r>
                <a:r>
                  <a:rPr kumimoji="1" lang="en-US" altLang="zh-CN" kern="0" baseline="-25000" dirty="0"/>
                  <a:t>2015]</a:t>
                </a:r>
                <a:endParaRPr kumimoji="1" lang="en-US" altLang="zh-CN" kern="0" dirty="0"/>
              </a:p>
              <a:p>
                <a:pPr lvl="1">
                  <a:buClr>
                    <a:srgbClr val="0200BE"/>
                  </a:buClr>
                </a:pPr>
                <a:r>
                  <a:rPr kumimoji="1" lang="en-US" altLang="zh-CN" kern="0" dirty="0"/>
                  <a:t>Each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user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kumimoji="1"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kern="0" dirty="0"/>
                  <a:t>specifies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his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own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privacy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parameter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kumimoji="1" lang="en-US" altLang="zh-CN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(analog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to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kumimoji="1" lang="en-US" altLang="zh-CN" kern="0" dirty="0"/>
                  <a:t>)</a:t>
                </a:r>
              </a:p>
              <a:p>
                <a:pPr lvl="1">
                  <a:buClr>
                    <a:srgbClr val="0200BE"/>
                  </a:buClr>
                </a:pPr>
                <a:endParaRPr kumimoji="1" lang="en-US" altLang="zh-CN" kern="0" dirty="0"/>
              </a:p>
              <a:p>
                <a:pPr>
                  <a:buClr>
                    <a:srgbClr val="0200BE"/>
                  </a:buClr>
                </a:pPr>
                <a:r>
                  <a:rPr kumimoji="1" lang="en-US" altLang="zh-CN" dirty="0"/>
                  <a:t>Definition:</a:t>
                </a:r>
                <a:r>
                  <a:rPr kumimoji="1" lang="zh-CN" altLang="en-US" dirty="0"/>
                  <a:t> </a:t>
                </a:r>
                <a:r>
                  <a:rPr kumimoji="1" lang="en-US" altLang="zh-CN" dirty="0"/>
                  <a:t>A mechanism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en-US" altLang="zh-CN" dirty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kumimoji="1" lang="en-US" altLang="zh-CN" dirty="0"/>
                  <a:t>-PDP </a:t>
                </a:r>
                <a:r>
                  <a:rPr kumimoji="1" lang="en-US" altLang="zh-CN" kern="0" dirty="0"/>
                  <a:t>if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for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any</a:t>
                </a:r>
                <a:r>
                  <a:rPr kumimoji="1" lang="zh-CN" altLang="en-US" b="1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1" i="0" kern="0" smtClean="0">
                        <a:latin typeface="Cambria Math" panose="02040503050406030204" pitchFamily="18" charset="0"/>
                      </a:rPr>
                      <m:t>𝐈</m:t>
                    </m:r>
                    <m:sSub>
                      <m:sSubPr>
                        <m:ctrlPr>
                          <a:rPr kumimoji="1" lang="en-US" altLang="zh-CN" b="1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b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∼</m:t>
                        </m:r>
                      </m:e>
                      <m:sub>
                        <m:r>
                          <a:rPr kumimoji="1"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sub>
                    </m:sSub>
                    <m:sSup>
                      <m:sSupPr>
                        <m:ctrlPr>
                          <a:rPr kumimoji="1" lang="en-US" altLang="zh-CN" b="1" i="1" ker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b="1" i="0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𝐈</m:t>
                        </m:r>
                      </m:e>
                      <m:sup>
                        <m:r>
                          <a:rPr kumimoji="1" lang="en-US" altLang="zh-CN" b="1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zh-CN" altLang="en-US" b="1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kumimoji="1" lang="en-US" altLang="zh-CN" kern="0" dirty="0" smtClean="0">
                        <a:latin typeface="DejaVu Math TeX Gyre" panose="02000503000000000000" charset="0"/>
                        <a:cs typeface="Calibri" panose="020F0502020204030204" pitchFamily="34" charset="0"/>
                      </a:rPr>
                      <m:t>that</m:t>
                    </m:r>
                    <m:r>
                      <m:rPr>
                        <m:nor/>
                      </m:rPr>
                      <a:rPr kumimoji="1" lang="zh-CN" altLang="en-US" kern="0" dirty="0" smtClean="0">
                        <a:latin typeface="DejaVu Math TeX Gyre" panose="02000503000000000000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kumimoji="1" lang="en-US" altLang="zh-CN" kern="0" dirty="0">
                        <a:latin typeface="DejaVu Math TeX Gyre" panose="02000503000000000000" charset="0"/>
                        <a:cs typeface="Calibri" panose="020F0502020204030204" pitchFamily="34" charset="0"/>
                      </a:rPr>
                      <m:t>differ</m:t>
                    </m:r>
                    <m:r>
                      <m:rPr>
                        <m:nor/>
                      </m:rPr>
                      <a:rPr kumimoji="1" lang="en-US" altLang="zh-CN" kern="0" dirty="0">
                        <a:latin typeface="DejaVu Math TeX Gyre" panose="02000503000000000000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kumimoji="1" lang="en-US" altLang="zh-CN" kern="0" dirty="0">
                        <a:latin typeface="DejaVu Math TeX Gyre" panose="02000503000000000000" charset="0"/>
                        <a:cs typeface="Calibri" panose="020F0502020204030204" pitchFamily="34" charset="0"/>
                      </a:rPr>
                      <m:t>by</m:t>
                    </m:r>
                    <m:r>
                      <m:rPr>
                        <m:nor/>
                      </m:rPr>
                      <a:rPr kumimoji="1" lang="en-US" altLang="zh-CN" kern="0" dirty="0">
                        <a:latin typeface="DejaVu Math TeX Gyre" panose="02000503000000000000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kumimoji="1" lang="en-US" altLang="zh-CN" kern="0" dirty="0" smtClean="0">
                        <a:latin typeface="DejaVu Math TeX Gyre" panose="02000503000000000000" charset="0"/>
                        <a:cs typeface="Calibri" panose="020F0502020204030204" pitchFamily="34" charset="0"/>
                      </a:rPr>
                      <m:t>user</m:t>
                    </m:r>
                    <m:r>
                      <m:rPr>
                        <m:nor/>
                      </m:rPr>
                      <a:rPr kumimoji="1" lang="zh-CN" altLang="en-US" kern="0" dirty="0" smtClean="0">
                        <a:latin typeface="DejaVu Math TeX Gyre" panose="02000503000000000000" charset="0"/>
                        <a:cs typeface="Calibri" panose="020F0502020204030204" pitchFamily="34" charset="0"/>
                      </a:rPr>
                      <m:t> </m:t>
                    </m:r>
                    <m:sSup>
                      <m:sSupPr>
                        <m:ctrlPr>
                          <a:rPr kumimoji="1" lang="en-US" altLang="zh-CN" i="1" kern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kumimoji="1" lang="en-US" altLang="zh-CN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kumimoji="1" lang="zh-CN" altLang="en-US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kumimoji="1" lang="en-US" altLang="zh-CN" kern="0" dirty="0">
                        <a:latin typeface="DejaVu Math TeX Gyre" panose="02000503000000000000" charset="0"/>
                        <a:cs typeface="Calibri" panose="020F0502020204030204" pitchFamily="34" charset="0"/>
                      </a:rPr>
                      <m:t>information</m:t>
                    </m:r>
                  </m:oMath>
                </a14:m>
                <a:r>
                  <a:rPr kumimoji="1" lang="en-US" altLang="zh-CN" kern="0" dirty="0"/>
                  <a:t>,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kern="0" dirty="0"/>
                  <a:t>is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kumimoji="1"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kumimoji="1"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kern="0" dirty="0"/>
                  <a:t>-DP,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namely</a:t>
                </a:r>
              </a:p>
              <a:p>
                <a:pPr marL="457200" lvl="1" indent="0">
                  <a:buClr>
                    <a:srgbClr val="0200BE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CN" i="1" ker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ker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i="1" ker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 ker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kumimoji="1" lang="en-US" altLang="zh-CN" i="1" ker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zh-CN" b="1" i="0" kern="0" smtClean="0">
                                      <a:latin typeface="Cambria Math" panose="02040503050406030204" pitchFamily="18" charset="0"/>
                                    </a:rPr>
                                    <m:t>𝐈</m:t>
                                  </m:r>
                                </m:e>
                              </m:d>
                              <m:r>
                                <a:rPr kumimoji="1" lang="en-US" altLang="zh-CN" i="1" ker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1" lang="en-US" altLang="zh-CN" i="1" ker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  <m:r>
                        <a:rPr kumimoji="1" lang="en-US" altLang="zh-CN" i="1" ker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kumimoji="1" lang="en-US" altLang="zh-CN" i="1" ker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en-US" altLang="zh-CN" i="1" kern="0" smtClean="0">
                                  <a:solidFill>
                                    <a:srgbClr val="0200B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i="1" kern="0">
                                  <a:solidFill>
                                    <a:srgbClr val="0200BE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kumimoji="1" lang="el-GR" altLang="zh-CN" i="1" kern="0">
                                  <a:solidFill>
                                    <a:srgbClr val="0200B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  <m:r>
                                <a:rPr kumimoji="1" lang="en-US" altLang="zh-CN" i="1" kern="0">
                                  <a:solidFill>
                                    <a:srgbClr val="0200B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zh-CN" i="1" kern="0">
                                  <a:solidFill>
                                    <a:srgbClr val="0200B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kumimoji="1" lang="en-US" altLang="zh-CN" i="1" kern="0">
                                  <a:solidFill>
                                    <a:srgbClr val="0200BE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kumimoji="1" lang="en-US" altLang="zh-CN" i="1" ker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kumimoji="1" lang="en-US" altLang="zh-CN" ker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zh-CN" i="1" ker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 ker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kumimoji="1" lang="en-US" altLang="zh-CN" i="1" ker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kumimoji="1" lang="en-US" altLang="zh-CN" i="1" ker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zh-CN" b="1" i="0" kern="0" smtClean="0"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  <m:sup>
                                      <m:r>
                                        <a:rPr kumimoji="1" lang="en-US" altLang="zh-CN" i="1" ker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kumimoji="1" lang="en-US" altLang="zh-CN" i="1" ker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kumimoji="1" lang="en-US" altLang="zh-CN" i="1" ker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en-US" altLang="zh-CN" kern="0" dirty="0"/>
              </a:p>
              <a:p>
                <a:pPr lvl="0">
                  <a:buClr>
                    <a:srgbClr val="0200BE"/>
                  </a:buClr>
                </a:pPr>
                <a:r>
                  <a:rPr kumimoji="1" lang="en-US" altLang="zh-CN" sz="2200" dirty="0">
                    <a:sym typeface="+mn-ea"/>
                  </a:rPr>
                  <a:t>The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PDP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framework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is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meaningful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in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the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local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DP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setting</a:t>
                </a:r>
                <a:endParaRPr kumimoji="1" lang="en-US" altLang="zh-CN" sz="2200" dirty="0"/>
              </a:p>
              <a:p>
                <a:pPr lvl="1"/>
                <a:r>
                  <a:rPr kumimoji="1" lang="en-US" altLang="zh-CN" sz="2200" dirty="0">
                    <a:sym typeface="+mn-ea"/>
                  </a:rPr>
                  <a:t>Each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user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privatizes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his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data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by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himself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using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local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randomizer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kumimoji="1" lang="en-US" altLang="zh-CN" sz="2200" dirty="0"/>
              </a:p>
              <a:p>
                <a:pPr lvl="0">
                  <a:buClr>
                    <a:srgbClr val="0200BE"/>
                  </a:buClr>
                </a:pP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We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want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to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extend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our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study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of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the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PDP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model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to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the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local</a:t>
                </a:r>
                <a:r>
                  <a:rPr kumimoji="1" lang="zh-CN" altLang="en-US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b="1" dirty="0">
                    <a:solidFill>
                      <a:srgbClr val="0200BE"/>
                    </a:solidFill>
                    <a:sym typeface="+mn-ea"/>
                  </a:rPr>
                  <a:t>setting</a:t>
                </a:r>
                <a:endParaRPr kumimoji="1" lang="en-US" altLang="zh-CN" b="1" dirty="0">
                  <a:solidFill>
                    <a:srgbClr val="0200BE"/>
                  </a:solidFill>
                </a:endParaRPr>
              </a:p>
              <a:p>
                <a:pPr lvl="0">
                  <a:buClr>
                    <a:srgbClr val="0200BE"/>
                  </a:buClr>
                </a:pPr>
                <a:endParaRPr kumimoji="1" lang="en-US" altLang="zh-CN" kern="0" dirty="0"/>
              </a:p>
              <a:p>
                <a:pPr marL="457200" lvl="1" indent="0">
                  <a:buNone/>
                </a:pPr>
                <a:endParaRPr kumimoji="1" lang="en-US" altLang="zh-CN" kern="0" dirty="0"/>
              </a:p>
              <a:p>
                <a:pPr marL="0" indent="0">
                  <a:buFont typeface="Wingdings" panose="05000000000000000000" pitchFamily="2" charset="2"/>
                  <a:buNone/>
                </a:pPr>
                <a:endParaRPr kumimoji="1" lang="en-US" altLang="zh-CN" b="1" kern="0" dirty="0"/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r>
                  <a:rPr kumimoji="1" lang="zh-CN" altLang="en-US" kern="0" dirty="0"/>
                  <a:t> </a:t>
                </a:r>
              </a:p>
            </p:txBody>
          </p:sp>
        </mc:Choice>
        <mc:Fallback xmlns="">
          <p:sp>
            <p:nvSpPr>
              <p:cNvPr id="45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550" y="14479905"/>
                <a:ext cx="9575800" cy="2619375"/>
              </a:xfrm>
              <a:prstGeom prst="rect">
                <a:avLst/>
              </a:prstGeom>
              <a:blipFill rotWithShape="1">
                <a:blip r:embed="rId21"/>
                <a:stretch>
                  <a:fillRect b="-8676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" name="内容占位符 5" descr="数据库 纯色填充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auto">
          <a:xfrm>
            <a:off x="4846630" y="18973165"/>
            <a:ext cx="1157605" cy="1157605"/>
          </a:xfrm>
          <a:prstGeom prst="rect">
            <a:avLst/>
          </a:prstGeom>
          <a:noFill/>
          <a:effectLst/>
        </p:spPr>
      </p:pic>
      <p:sp>
        <p:nvSpPr>
          <p:cNvPr id="51" name="左箭头 50"/>
          <p:cNvSpPr/>
          <p:nvPr>
            <p:custDataLst>
              <p:tags r:id="rId2"/>
            </p:custDataLst>
          </p:nvPr>
        </p:nvSpPr>
        <p:spPr bwMode="auto">
          <a:xfrm rot="10800000">
            <a:off x="3984300" y="19218910"/>
            <a:ext cx="363855" cy="198120"/>
          </a:xfrm>
          <a:prstGeom prst="leftArrow">
            <a:avLst>
              <a:gd name="adj1" fmla="val 50000"/>
              <a:gd name="adj2" fmla="val 69661"/>
            </a:avLst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左箭头 51"/>
          <p:cNvSpPr/>
          <p:nvPr>
            <p:custDataLst>
              <p:tags r:id="rId3"/>
            </p:custDataLst>
          </p:nvPr>
        </p:nvSpPr>
        <p:spPr bwMode="auto">
          <a:xfrm rot="9008542">
            <a:off x="4020495" y="20008542"/>
            <a:ext cx="363855" cy="198120"/>
          </a:xfrm>
          <a:prstGeom prst="leftArrow">
            <a:avLst>
              <a:gd name="adj1" fmla="val 50000"/>
              <a:gd name="adj2" fmla="val 69661"/>
            </a:avLst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" name="文本框 53"/>
          <p:cNvSpPr txBox="1"/>
          <p:nvPr>
            <p:custDataLst>
              <p:tags r:id="rId4"/>
            </p:custDataLst>
          </p:nvPr>
        </p:nvSpPr>
        <p:spPr>
          <a:xfrm>
            <a:off x="2478397" y="18540095"/>
            <a:ext cx="963295" cy="236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en-US" altLang="zh-CN" b="0" dirty="0">
                <a:latin typeface="Calibri" panose="020F0502020204030204" pitchFamily="34" charset="0"/>
                <a:cs typeface="Calibri" panose="020F0502020204030204" pitchFamily="34" charset="0"/>
              </a:rPr>
              <a:t>User</a:t>
            </a:r>
            <a:endParaRPr kumimoji="1" lang="zh-CN" alt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5" name="图形 2" descr="用户 纯色填充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415850" y="19119850"/>
            <a:ext cx="544195" cy="544195"/>
          </a:xfrm>
          <a:prstGeom prst="rect">
            <a:avLst/>
          </a:prstGeom>
        </p:spPr>
      </p:pic>
      <p:pic>
        <p:nvPicPr>
          <p:cNvPr id="56" name="图形 5" descr="纸张 轮廓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093395" y="19144615"/>
            <a:ext cx="479425" cy="479425"/>
          </a:xfrm>
          <a:prstGeom prst="rect">
            <a:avLst/>
          </a:prstGeom>
        </p:spPr>
      </p:pic>
      <p:pic>
        <p:nvPicPr>
          <p:cNvPr id="57" name="图形 6" descr="用户 纯色填充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415850" y="19937701"/>
            <a:ext cx="544195" cy="544195"/>
          </a:xfrm>
          <a:prstGeom prst="rect">
            <a:avLst/>
          </a:prstGeom>
        </p:spPr>
      </p:pic>
      <p:pic>
        <p:nvPicPr>
          <p:cNvPr id="58" name="图形 14" descr="纸张 轮廓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093395" y="19973617"/>
            <a:ext cx="479425" cy="479425"/>
          </a:xfrm>
          <a:prstGeom prst="rect">
            <a:avLst/>
          </a:prstGeom>
        </p:spPr>
      </p:pic>
      <p:sp>
        <p:nvSpPr>
          <p:cNvPr id="59" name="文本框 58"/>
          <p:cNvSpPr txBox="1"/>
          <p:nvPr>
            <p:custDataLst>
              <p:tags r:id="rId9"/>
            </p:custDataLst>
          </p:nvPr>
        </p:nvSpPr>
        <p:spPr>
          <a:xfrm>
            <a:off x="4409750" y="18322290"/>
            <a:ext cx="2124710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kumimoji="1" lang="en-US" altLang="zh-CN" b="0">
                <a:latin typeface="Calibri" panose="020F0502020204030204" pitchFamily="34" charset="0"/>
                <a:cs typeface="Calibri" panose="020F0502020204030204" pitchFamily="34" charset="0"/>
              </a:rPr>
              <a:t>Untrusted Aggregator</a:t>
            </a:r>
            <a:endParaRPr kumimoji="1" lang="zh-CN" altLang="en-US" b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118260" y="17992091"/>
            <a:ext cx="221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Inject DP noises</a:t>
            </a:r>
          </a:p>
        </p:txBody>
      </p:sp>
      <p:pic>
        <p:nvPicPr>
          <p:cNvPr id="61" name="图片 60" descr="图片包含 图示&#10;&#10;描述已自动生成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1" t="4054" r="5405" b="11503"/>
          <a:stretch>
            <a:fillRect/>
          </a:stretch>
        </p:blipFill>
        <p:spPr>
          <a:xfrm>
            <a:off x="3700772" y="18440400"/>
            <a:ext cx="875030" cy="588010"/>
          </a:xfrm>
          <a:prstGeom prst="rect">
            <a:avLst/>
          </a:prstGeom>
        </p:spPr>
      </p:pic>
      <p:pic>
        <p:nvPicPr>
          <p:cNvPr id="62" name="图形 27" descr="条形图 轮廓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700830" y="18973165"/>
            <a:ext cx="1079500" cy="1079500"/>
          </a:xfrm>
          <a:prstGeom prst="rect">
            <a:avLst/>
          </a:prstGeom>
        </p:spPr>
      </p:pic>
      <p:sp>
        <p:nvSpPr>
          <p:cNvPr id="63" name="文本框 62"/>
          <p:cNvSpPr txBox="1"/>
          <p:nvPr/>
        </p:nvSpPr>
        <p:spPr>
          <a:xfrm>
            <a:off x="6506520" y="20200620"/>
            <a:ext cx="221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>
                <a:latin typeface="Calibri" panose="020F0502020204030204" pitchFamily="34" charset="0"/>
                <a:cs typeface="Calibri" panose="020F0502020204030204" pitchFamily="34" charset="0"/>
              </a:rPr>
              <a:t>Privatized output</a:t>
            </a:r>
          </a:p>
        </p:txBody>
      </p:sp>
      <p:sp>
        <p:nvSpPr>
          <p:cNvPr id="64" name="左箭头 63"/>
          <p:cNvSpPr/>
          <p:nvPr>
            <p:custDataLst>
              <p:tags r:id="rId11"/>
            </p:custDataLst>
          </p:nvPr>
        </p:nvSpPr>
        <p:spPr bwMode="auto">
          <a:xfrm rot="10800000">
            <a:off x="6170605" y="19413855"/>
            <a:ext cx="363855" cy="198120"/>
          </a:xfrm>
          <a:prstGeom prst="leftArrow">
            <a:avLst>
              <a:gd name="adj1" fmla="val 50000"/>
              <a:gd name="adj2" fmla="val 69661"/>
            </a:avLst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Rounded Rectangle 43"/>
          <p:cNvSpPr/>
          <p:nvPr/>
        </p:nvSpPr>
        <p:spPr>
          <a:xfrm>
            <a:off x="22371242" y="4710485"/>
            <a:ext cx="9757021" cy="16192497"/>
          </a:xfrm>
          <a:prstGeom prst="roundRect">
            <a:avLst>
              <a:gd name="adj" fmla="val 195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45"/>
          <p:cNvSpPr txBox="1"/>
          <p:nvPr/>
        </p:nvSpPr>
        <p:spPr>
          <a:xfrm>
            <a:off x="11929836" y="4971485"/>
            <a:ext cx="9064534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kumimoji="1" lang="en-US" altLang="zh-CN" dirty="0">
                <a:sym typeface="+mn-ea"/>
              </a:rPr>
              <a:t>Problem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Definition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内容占位符 2"/>
              <p:cNvSpPr txBox="1"/>
              <p:nvPr/>
            </p:nvSpPr>
            <p:spPr bwMode="auto">
              <a:xfrm>
                <a:off x="11910695" y="5795010"/>
                <a:ext cx="9182100" cy="43434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0000"/>
                  <a:buFont typeface="Calibri" panose="020F050202020403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Arial" panose="020B0604020202020204" pitchFamily="34" charset="0"/>
                  <a:buChar char="•"/>
                  <a:defRPr sz="1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kumimoji="1" lang="en-US" altLang="zh-CN" kern="0" dirty="0"/>
                  <a:t>We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study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the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high-dimensional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sum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estimation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problem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under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local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PDP</a:t>
                </a:r>
              </a:p>
              <a:p>
                <a:r>
                  <a:rPr kumimoji="1" lang="en-US" altLang="zh-CN" kern="0" dirty="0"/>
                  <a:t>Assume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users,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each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user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holds:</a:t>
                </a:r>
              </a:p>
              <a:p>
                <a:pPr lvl="1"/>
                <a:r>
                  <a:rPr kumimoji="1" lang="en-US" altLang="zh-CN" kern="0" dirty="0"/>
                  <a:t>An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integer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valued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kumimoji="1" lang="en-US" altLang="zh-CN" kern="0" dirty="0"/>
                  <a:t>-dimensional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vector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1" i="0" kern="0" smtClean="0">
                        <a:latin typeface="Cambria Math" panose="02040503050406030204" pitchFamily="18" charset="0"/>
                      </a:rPr>
                      <m:t>𝐈</m:t>
                    </m:r>
                    <m:d>
                      <m:dPr>
                        <m:ctrlPr>
                          <a:rPr kumimoji="1"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b="0" i="1" ker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kumimoji="1"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zh-C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1" lang="en-US" altLang="zh-CN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0,1,…,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ker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</m:d>
                      </m:e>
                      <m:sup>
                        <m:r>
                          <a:rPr kumimoji="1" lang="en-US" altLang="zh-CN" b="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(Private)</a:t>
                </a:r>
              </a:p>
              <a:p>
                <a:pPr lvl="1"/>
                <a:r>
                  <a:rPr kumimoji="1" lang="en-US" altLang="zh-CN" kern="0" dirty="0"/>
                  <a:t>His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privacy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parameter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kumimoji="1"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 ker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kumimoji="1" lang="zh-CN" altLang="en-US" kern="0" dirty="0"/>
                  <a:t>  </a:t>
                </a:r>
                <a:r>
                  <a:rPr kumimoji="1" lang="en-US" altLang="zh-CN" kern="0" dirty="0"/>
                  <a:t>(Public)</a:t>
                </a:r>
              </a:p>
              <a:p>
                <a:pPr lvl="1"/>
                <a:endParaRPr kumimoji="1" lang="en-US" altLang="zh-CN" kern="0" dirty="0"/>
              </a:p>
              <a:p>
                <a:r>
                  <a:rPr kumimoji="1" lang="en-US" altLang="zh-CN" kern="0" dirty="0"/>
                  <a:t>Privacy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requirement: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For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each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user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and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any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pair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of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values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1" kern="0">
                        <a:latin typeface="Cambria Math" panose="02040503050406030204" pitchFamily="18" charset="0"/>
                      </a:rPr>
                      <m:t>𝐈</m:t>
                    </m:r>
                    <m:d>
                      <m:dPr>
                        <m:ctrlPr>
                          <a:rPr kumimoji="1"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 ker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kumimoji="1" lang="en-US" altLang="zh-CN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kern="0" dirty="0"/>
                  <a:t>and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b="1" kern="0">
                        <a:latin typeface="Cambria Math" panose="02040503050406030204" pitchFamily="18" charset="0"/>
                      </a:rPr>
                      <m:t>𝐈</m:t>
                    </m:r>
                    <m:r>
                      <a:rPr kumimoji="1" lang="en-US" altLang="zh-CN" b="1" i="0" kern="0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kumimoji="1" lang="en-US" altLang="zh-CN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i="1" ker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kumimoji="1" lang="en-US" altLang="zh-CN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kern="0" dirty="0"/>
                  <a:t>,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his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output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through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the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local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randomizer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should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satisfy: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ker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 ker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zh-CN" i="1" ker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kumimoji="1" lang="en-US" altLang="zh-CN" i="1" ker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b="1" kern="0">
                              <a:latin typeface="Cambria Math" panose="02040503050406030204" pitchFamily="18" charset="0"/>
                            </a:rPr>
                            <m:t>𝐈</m:t>
                          </m:r>
                          <m:d>
                            <m:dPr>
                              <m:ctrlPr>
                                <a:rPr kumimoji="1" lang="en-US" altLang="zh-CN" i="1" ker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 ker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d>
                      <m:r>
                        <a:rPr lang="en-US" altLang="zh-CN" b="1" i="1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kumimoji="1" lang="en-US" altLang="zh-CN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kumimoji="1"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zh-CN" b="1" i="1" ker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b="1" kern="0">
                                  <a:latin typeface="Cambria Math" panose="02040503050406030204" pitchFamily="18" charset="0"/>
                                </a:rPr>
                                <m:t>𝐈</m:t>
                              </m:r>
                            </m:e>
                            <m:sup>
                              <m:r>
                                <a:rPr kumimoji="1" lang="en-US" altLang="zh-CN" b="1" ker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kumimoji="1" lang="en-US" altLang="zh-CN" i="1" ker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i="1" ker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d>
                      <m:r>
                        <a:rPr kumimoji="1" lang="en-US" altLang="zh-CN" i="1" kern="0"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kumimoji="1" lang="en-US" altLang="zh-CN" i="1" ker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kumimoji="1" lang="en-US" altLang="zh-CN" i="1" ker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kumimoji="1" lang="en-US" altLang="zh-CN" ker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kumimoji="1" lang="en-US" altLang="zh-CN" i="1" ker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i="1" ker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kumimoji="1" lang="en-US" altLang="zh-CN" i="1" ker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kern="0" dirty="0"/>
              </a:p>
              <a:p>
                <a:pPr marL="0" indent="0">
                  <a:buNone/>
                </a:pPr>
                <a:r>
                  <a:rPr kumimoji="1" lang="zh-CN" altLang="en-US" kern="0" dirty="0"/>
                  <a:t>      </a:t>
                </a:r>
                <a:r>
                  <a:rPr kumimoji="1" lang="en-US" altLang="zh-CN" kern="0" dirty="0"/>
                  <a:t>For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any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latin typeface="Cambria Math" panose="02040503050406030204" pitchFamily="18" charset="0"/>
                      </a:rPr>
                      <m:t>𝛼</m:t>
                    </m:r>
                    <m:r>
                      <a:rPr kumimoji="1" lang="en-US" altLang="zh-CN" b="0" i="1" kern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kumimoji="1" lang="en-US" altLang="zh-CN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kern="0" dirty="0"/>
                  <a:t>,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where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i="1" ker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zh-CN" i="1" kern="0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kumimoji="1" lang="en-US" altLang="zh-CN" i="1" ker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||</m:t>
                    </m:r>
                    <m:r>
                      <a:rPr kumimoji="1"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kumimoji="1" lang="en-US" altLang="zh-CN" i="1" ker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denotes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the</a:t>
                </a:r>
                <a:r>
                  <a:rPr kumimoji="1" lang="zh-CN" altLang="en-US" kern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i="1" kern="0">
                        <a:latin typeface="Cambria Math" panose="02040503050406030204" pitchFamily="18" charset="0"/>
                      </a:rPr>
                      <m:t>𝛼</m:t>
                    </m:r>
                    <m:r>
                      <a:rPr kumimoji="1" lang="en-US" altLang="zh-CN" i="1" ker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kern="0" dirty="0"/>
                  <a:t>-Rényi divergence.</a:t>
                </a:r>
              </a:p>
              <a:p>
                <a:pPr lvl="1"/>
                <a:r>
                  <a:rPr kumimoji="1" lang="en-US" altLang="zh-CN" kern="0" dirty="0"/>
                  <a:t>Known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as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Concentrated Differential Privacy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(CDP)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which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has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better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composition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properties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in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high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dimensions</a:t>
                </a:r>
              </a:p>
              <a:p>
                <a:r>
                  <a:rPr kumimoji="1" lang="en-US" altLang="zh-CN" kern="0" dirty="0"/>
                  <a:t>Want</a:t>
                </a:r>
                <a:r>
                  <a:rPr kumimoji="1" lang="zh-CN" altLang="en-US" kern="0" dirty="0"/>
                  <a:t> </a:t>
                </a:r>
                <a:r>
                  <a:rPr kumimoji="1" lang="en-US" altLang="zh-CN" kern="0" dirty="0"/>
                  <a:t>to</a:t>
                </a:r>
                <a:r>
                  <a:rPr lang="en-US" altLang="zh-CN" dirty="0"/>
                  <a:t> produce a privatized estimation for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Sum(</a:t>
                </a:r>
                <a14:m>
                  <m:oMath xmlns:m="http://schemas.openxmlformats.org/officeDocument/2006/math">
                    <m:r>
                      <a:rPr kumimoji="1" lang="en-US" altLang="zh-CN" b="1" i="0" kern="0" smtClean="0">
                        <a:latin typeface="Cambria Math" panose="02040503050406030204" pitchFamily="18" charset="0"/>
                      </a:rPr>
                      <m:t>𝐈</m:t>
                    </m:r>
                  </m:oMath>
                </a14:m>
                <a:r>
                  <a:rPr lang="en-US" altLang="zh-CN" dirty="0"/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r>
                          <a:rPr kumimoji="1" lang="en-US" altLang="zh-CN" b="1" i="0" kern="0" smtClean="0">
                            <a:latin typeface="Cambria Math" panose="02040503050406030204" pitchFamily="18" charset="0"/>
                          </a:rPr>
                          <m:t>𝐈</m:t>
                        </m:r>
                        <m:d>
                          <m:dPr>
                            <m:ctrlPr>
                              <a:rPr kumimoji="1" lang="en-US" altLang="zh-CN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i="1" ker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  <a:p>
                <a:pPr marL="914400" lvl="2" indent="0">
                  <a:buNone/>
                </a:pPr>
                <a:endParaRPr lang="en-US" altLang="zh-CN" dirty="0"/>
              </a:p>
              <a:p>
                <a:endParaRPr kumimoji="1" lang="en-US" altLang="zh-CN" kern="0" dirty="0"/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endParaRPr kumimoji="1" lang="en-US" altLang="zh-CN" kern="0" dirty="0"/>
              </a:p>
              <a:p>
                <a:endParaRPr kumimoji="1" lang="en-US" altLang="zh-CN" kern="0" dirty="0"/>
              </a:p>
              <a:p>
                <a:pPr lvl="1"/>
                <a:endParaRPr kumimoji="1" lang="en-US" altLang="zh-CN" kern="0" dirty="0"/>
              </a:p>
              <a:p>
                <a:pPr marL="0" indent="0">
                  <a:buFont typeface="Wingdings" panose="05000000000000000000" pitchFamily="2" charset="2"/>
                  <a:buNone/>
                </a:pPr>
                <a:endParaRPr kumimoji="1" lang="en-US" altLang="zh-CN" b="1" kern="0" dirty="0"/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endParaRPr kumimoji="1" lang="zh-CN" altLang="en-US" kern="0" dirty="0"/>
              </a:p>
            </p:txBody>
          </p:sp>
        </mc:Choice>
        <mc:Fallback xmlns="">
          <p:sp>
            <p:nvSpPr>
              <p:cNvPr id="68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10695" y="5795010"/>
                <a:ext cx="9182100" cy="4343400"/>
              </a:xfrm>
              <a:prstGeom prst="rect">
                <a:avLst/>
              </a:prstGeom>
              <a:blipFill rotWithShape="1">
                <a:blip r:embed="rId31"/>
                <a:stretch>
                  <a:fillRect b="-64810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45"/>
          <p:cNvSpPr txBox="1"/>
          <p:nvPr/>
        </p:nvSpPr>
        <p:spPr>
          <a:xfrm>
            <a:off x="11822521" y="10663625"/>
            <a:ext cx="9064534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kumimoji="1" lang="en-US" altLang="zh-CN" dirty="0">
                <a:sym typeface="+mn-ea"/>
              </a:rPr>
              <a:t>Local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PDP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Sum: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First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Attempt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内容占位符 2"/>
              <p:cNvSpPr txBox="1"/>
              <p:nvPr/>
            </p:nvSpPr>
            <p:spPr bwMode="auto">
              <a:xfrm>
                <a:off x="11923395" y="11277600"/>
                <a:ext cx="9182100" cy="43434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0000"/>
                  <a:buFont typeface="Calibri" panose="020F050202020403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Arial" panose="020B0604020202020204" pitchFamily="34" charset="0"/>
                  <a:buChar char="•"/>
                  <a:defRPr sz="1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lvl="0"/>
                <a:r>
                  <a:rPr kumimoji="1" lang="en-US" altLang="zh-CN" sz="2420" dirty="0">
                    <a:sym typeface="+mn-ea"/>
                  </a:rPr>
                  <a:t>Consider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:r>
                  <a:rPr kumimoji="1" lang="en-US" altLang="zh-CN" sz="2420" dirty="0">
                    <a:sym typeface="+mn-ea"/>
                  </a:rPr>
                  <a:t>a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:r>
                  <a:rPr kumimoji="1" lang="en-US" altLang="zh-CN" sz="2420" dirty="0">
                    <a:sym typeface="+mn-ea"/>
                  </a:rPr>
                  <a:t>set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:r>
                  <a:rPr kumimoji="1" lang="en-US" altLang="zh-CN" sz="2420" dirty="0">
                    <a:sym typeface="+mn-ea"/>
                  </a:rPr>
                  <a:t>of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:r>
                  <a:rPr kumimoji="1" lang="en-US" altLang="zh-CN" sz="2420" dirty="0">
                    <a:sym typeface="+mn-ea"/>
                  </a:rPr>
                  <a:t>noise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:r>
                  <a:rPr kumimoji="1" lang="en-US" altLang="zh-CN" sz="2420" dirty="0">
                    <a:sym typeface="+mn-ea"/>
                  </a:rPr>
                  <a:t>scales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2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kumimoji="1" lang="en-US" altLang="zh-CN" sz="2420" dirty="0"/>
              </a:p>
              <a:p>
                <a:pPr lvl="1"/>
                <a:r>
                  <a:rPr kumimoji="1" lang="en-US" altLang="zh-CN" sz="2200" dirty="0">
                    <a:sym typeface="+mn-ea"/>
                  </a:rPr>
                  <a:t>For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each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value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of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kumimoji="1" lang="en-US" altLang="zh-CN" sz="2200" dirty="0">
                    <a:sym typeface="+mn-ea"/>
                  </a:rPr>
                  <a:t>,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define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user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kumimoji="1" lang="en-US" altLang="zh-CN" sz="2200" dirty="0">
                    <a:sym typeface="+mn-ea"/>
                  </a:rPr>
                  <a:t>’s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personalized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truncation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threshold</a:t>
                </a:r>
                <a14:m>
                  <m:oMath xmlns:m="http://schemas.openxmlformats.org/officeDocument/2006/math">
                    <m:r>
                      <a:rPr kumimoji="1" lang="zh-CN" alt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𝑠</m:t>
                    </m:r>
                    <m:rad>
                      <m:radPr>
                        <m:degHide m:val="on"/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latin typeface="Cambria Math" panose="02040503050406030204" pitchFamily="18" charset="0"/>
                          </a:rPr>
                          <m:t>Φ</m:t>
                        </m:r>
                        <m:d>
                          <m:dPr>
                            <m:ctrlPr>
                              <a:rPr kumimoji="1"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rad>
                  </m:oMath>
                </a14:m>
                <a:endParaRPr kumimoji="1" lang="en-US" altLang="zh-CN" sz="2200" b="0" dirty="0"/>
              </a:p>
              <a:p>
                <a:pPr lvl="2"/>
                <a:r>
                  <a:rPr kumimoji="1" lang="en-US" altLang="zh-CN" sz="2200" dirty="0">
                    <a:sym typeface="+mn-ea"/>
                  </a:rPr>
                  <a:t>Each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user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performs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truncation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on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the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200" i="1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kumimoji="1"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norm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of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their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data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and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obtains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200" b="1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kumimoji="1" lang="zh-CN" altLang="en-US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kumimoji="1"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zh-CN" sz="2200" b="1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b="1">
                        <a:latin typeface="Cambria Math" panose="02040503050406030204" pitchFamily="18" charset="0"/>
                      </a:rPr>
                      <m:t>𝐈</m:t>
                    </m:r>
                    <m:d>
                      <m:dPr>
                        <m:ctrlPr>
                          <a:rPr kumimoji="1"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kumimoji="1" lang="en-US" altLang="zh-CN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dirty="0">
                    <a:sym typeface="+mn-ea"/>
                  </a:rPr>
                  <a:t>*</a:t>
                </a:r>
                <a:r>
                  <a:rPr kumimoji="1" lang="en-US" altLang="zh-CN" sz="2200" dirty="0">
                    <a:sym typeface="+mn-ea"/>
                  </a:rPr>
                  <a:t>min(1,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200" i="1">
                            <a:latin typeface="Cambria Math" panose="02040503050406030204" pitchFamily="18" charset="0"/>
                          </a:rPr>
                          <m:t>𝜏</m:t>
                        </m:r>
                        <m:d>
                          <m:dPr>
                            <m:ctrlPr>
                              <a:rPr kumimoji="1"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num>
                      <m:den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kumimoji="1" lang="en-US" altLang="zh-CN" sz="2200" b="1">
                            <a:latin typeface="Cambria Math" panose="02040503050406030204" pitchFamily="18" charset="0"/>
                          </a:rPr>
                          <m:t>𝐈</m:t>
                        </m:r>
                        <m:d>
                          <m:dPr>
                            <m:ctrlPr>
                              <a:rPr kumimoji="1"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kumimoji="1" lang="en-US" altLang="zh-CN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1" lang="en-US" altLang="zh-CN" sz="2200" dirty="0">
                    <a:sym typeface="+mn-ea"/>
                  </a:rPr>
                  <a:t>)</a:t>
                </a:r>
                <a:endParaRPr kumimoji="1" lang="en-US" altLang="zh-CN" sz="2200" dirty="0"/>
              </a:p>
              <a:p>
                <a:pPr lvl="2"/>
                <a:r>
                  <a:rPr kumimoji="1" lang="en-US" altLang="zh-CN" sz="2200" dirty="0">
                    <a:sym typeface="+mn-ea"/>
                  </a:rPr>
                  <a:t>Each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user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adds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Gaussian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noise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with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scale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proportional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to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on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200" b="1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kumimoji="1" lang="zh-CN" altLang="en-US" sz="2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kumimoji="1"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and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sends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the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result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to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the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aggregator</a:t>
                </a:r>
                <a:endParaRPr kumimoji="1" lang="en-US" altLang="zh-CN" sz="2200" dirty="0"/>
              </a:p>
              <a:p>
                <a:pPr lvl="1"/>
                <a:r>
                  <a:rPr kumimoji="1" lang="en-US" altLang="zh-CN" sz="2200" dirty="0">
                    <a:sym typeface="+mn-ea"/>
                  </a:rPr>
                  <a:t>The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aggregator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computes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noisy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sums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for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different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kumimoji="1" lang="en-US" altLang="zh-CN" sz="2200" dirty="0">
                    <a:sym typeface="+mn-ea"/>
                  </a:rPr>
                  <a:t>,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and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determine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which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value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of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leads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to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the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best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result</a:t>
                </a:r>
              </a:p>
              <a:p>
                <a:pPr lvl="0"/>
                <a:r>
                  <a:rPr kumimoji="1" lang="en-US" altLang="zh-CN" sz="2660" dirty="0">
                    <a:sym typeface="+mn-ea"/>
                  </a:rPr>
                  <a:t>It’s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enough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to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examine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66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66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6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66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6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66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66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66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kumimoji="1" lang="en-US" altLang="zh-CN" sz="266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660" i="1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kumimoji="1" lang="en-US" altLang="zh-CN" sz="266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for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66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CN" sz="2660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kumimoji="1" lang="en-US" altLang="zh-CN" sz="266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kumimoji="1" lang="en-US" altLang="zh-CN" sz="266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kumimoji="1" lang="en-US" altLang="zh-CN" sz="2660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kumimoji="1" lang="zh-CN" altLang="en-US" sz="266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266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zh-CN" sz="266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660" b="0" i="1">
                  <a:latin typeface="Cambria Math" panose="02040503050406030204" pitchFamily="18" charset="0"/>
                </a:endParaRPr>
              </a:p>
              <a:p>
                <a:pPr lvl="0"/>
                <a:r>
                  <a:rPr kumimoji="1" lang="en-US" altLang="zh-CN" sz="2660" dirty="0">
                    <a:sym typeface="+mn-ea"/>
                  </a:rPr>
                  <a:t>Our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result: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We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achieve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a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60" b="1" i="1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60" b="1" i="1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kumimoji="1" lang="en-US" altLang="zh-CN" sz="2660" b="1" i="1" smtClean="0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1" lang="en-US" altLang="zh-CN" sz="2660" b="1" dirty="0">
                    <a:solidFill>
                      <a:srgbClr val="0200BE"/>
                    </a:solidFill>
                    <a:sym typeface="+mn-ea"/>
                  </a:rPr>
                  <a:t> error</a:t>
                </a:r>
                <a:r>
                  <a:rPr kumimoji="1" lang="zh-CN" altLang="en-US" sz="2660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sz="2660" b="1" dirty="0">
                    <a:solidFill>
                      <a:srgbClr val="0200BE"/>
                    </a:solidFill>
                    <a:sym typeface="+mn-ea"/>
                  </a:rPr>
                  <a:t>guarantee</a:t>
                </a:r>
                <a:r>
                  <a:rPr kumimoji="1" lang="zh-CN" altLang="en-US" sz="2660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endParaRPr lang="en-US" altLang="zh-CN" dirty="0"/>
              </a:p>
              <a:p>
                <a:endParaRPr kumimoji="1" lang="en-US" altLang="zh-CN" kern="0" dirty="0"/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endParaRPr kumimoji="1" lang="en-US" altLang="zh-CN" kern="0" dirty="0"/>
              </a:p>
              <a:p>
                <a:endParaRPr kumimoji="1" lang="en-US" altLang="zh-CN" kern="0" dirty="0"/>
              </a:p>
              <a:p>
                <a:pPr lvl="1"/>
                <a:endParaRPr kumimoji="1" lang="en-US" altLang="zh-CN" kern="0" dirty="0"/>
              </a:p>
              <a:p>
                <a:pPr marL="0" indent="0">
                  <a:buFont typeface="Wingdings" panose="05000000000000000000" pitchFamily="2" charset="2"/>
                  <a:buNone/>
                </a:pPr>
                <a:endParaRPr kumimoji="1" lang="en-US" altLang="zh-CN" b="1" kern="0" dirty="0"/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endParaRPr kumimoji="1" lang="zh-CN" altLang="en-US" kern="0" dirty="0"/>
              </a:p>
            </p:txBody>
          </p:sp>
        </mc:Choice>
        <mc:Fallback xmlns="">
          <p:sp>
            <p:nvSpPr>
              <p:cNvPr id="7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23395" y="11277600"/>
                <a:ext cx="9182100" cy="4343400"/>
              </a:xfrm>
              <a:prstGeom prst="rect">
                <a:avLst/>
              </a:prstGeom>
              <a:blipFill rotWithShape="1">
                <a:blip r:embed="rId32"/>
                <a:stretch>
                  <a:fillRect b="-68933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334E55B0-647D-440b-865C-3EC943EB4CBC-1" descr="/private/var/folders/w0/kjwzytgj0xv9c9vtv4ltw8zc0000gn/T/com.kingsoft.wpsoffice.mac/wpsoffice.bPkAGFwpsoffice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3983180" y="16355660"/>
            <a:ext cx="4210851" cy="470766"/>
          </a:xfrm>
          <a:prstGeom prst="rect">
            <a:avLst/>
          </a:prstGeom>
        </p:spPr>
      </p:pic>
      <p:sp>
        <p:nvSpPr>
          <p:cNvPr id="76" name="TextBox 45"/>
          <p:cNvSpPr txBox="1"/>
          <p:nvPr/>
        </p:nvSpPr>
        <p:spPr>
          <a:xfrm>
            <a:off x="11934281" y="16966000"/>
            <a:ext cx="9064534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kumimoji="1" lang="en-US" altLang="zh-CN" dirty="0">
                <a:sym typeface="+mn-ea"/>
              </a:rPr>
              <a:t>Radius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vs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Diameter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内容占位符 2"/>
              <p:cNvSpPr txBox="1"/>
              <p:nvPr/>
            </p:nvSpPr>
            <p:spPr bwMode="auto">
              <a:xfrm>
                <a:off x="11910695" y="17510760"/>
                <a:ext cx="9182100" cy="194373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0000"/>
                  <a:buFont typeface="Calibri" panose="020F050202020403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Arial" panose="020B0604020202020204" pitchFamily="34" charset="0"/>
                  <a:buChar char="•"/>
                  <a:defRPr sz="1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kumimoji="1" lang="en-US" altLang="zh-CN" sz="2200" dirty="0">
                    <a:sym typeface="+mn-ea"/>
                  </a:rPr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200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kumimoji="1" lang="en-US" altLang="zh-CN" sz="2200" dirty="0">
                    <a:sym typeface="+mn-ea"/>
                  </a:rPr>
                  <a:t>, the previous bound degenerates to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zh-CN" altLang="en-US" sz="2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2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(</m:t>
                    </m:r>
                    <m:limLow>
                      <m:limLow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kumimoji="1" lang="en-US" altLang="zh-CN" sz="22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lim>
                    </m:limLow>
                    <m:r>
                      <m:rPr>
                        <m:lit/>
                      </m:rP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kumimoji="1" lang="en-US" altLang="zh-CN" sz="2200" b="1">
                        <a:latin typeface="Cambria Math" panose="02040503050406030204" pitchFamily="18" charset="0"/>
                      </a:rPr>
                      <m:t>𝐈</m:t>
                    </m:r>
                    <m:d>
                      <m:dPr>
                        <m:ctrlPr>
                          <a:rPr kumimoji="1"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m:rPr>
                        <m:lit/>
                      </m:rP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ad>
                      <m:radPr>
                        <m:degHide m:val="on"/>
                        <m:ctrlPr>
                          <a:rPr kumimoji="1"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200" b="0" i="1" smtClean="0">
                                <a:latin typeface="Cambria Math" panose="02040503050406030204" pitchFamily="18" charset="0"/>
                              </a:rPr>
                              <m:t>𝑛𝑑</m:t>
                            </m:r>
                          </m:num>
                          <m:den>
                            <m:r>
                              <a:rPr kumimoji="1" lang="en-US" altLang="zh-CN" sz="22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</m:e>
                    </m:rad>
                    <m:r>
                      <a:rPr kumimoji="1"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200" dirty="0"/>
              </a:p>
              <a:p>
                <a:pPr lvl="1"/>
                <a:r>
                  <a:rPr kumimoji="1" lang="en-US" altLang="zh-CN" sz="2200" dirty="0">
                    <a:sym typeface="+mn-ea"/>
                  </a:rPr>
                  <a:t>rad(</a:t>
                </a:r>
                <a14:m>
                  <m:oMath xmlns:m="http://schemas.openxmlformats.org/officeDocument/2006/math">
                    <m:r>
                      <a:rPr kumimoji="1" lang="en-US" altLang="zh-CN" sz="2200" b="1">
                        <a:latin typeface="Cambria Math" panose="02040503050406030204" pitchFamily="18" charset="0"/>
                      </a:rPr>
                      <m:t>𝐈</m:t>
                    </m:r>
                  </m:oMath>
                </a14:m>
                <a:r>
                  <a:rPr kumimoji="1" lang="en-US" altLang="zh-CN" sz="2200" dirty="0">
                    <a:sym typeface="+mn-ea"/>
                  </a:rPr>
                  <a:t>)=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kumimoji="1" lang="en-US" altLang="zh-CN" sz="22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kumimoji="1" lang="en-US" altLang="zh-CN" sz="220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kumimoji="1" lang="en-US" altLang="zh-CN" sz="2200" i="1">
                            <a:latin typeface="Cambria Math" panose="02040503050406030204" pitchFamily="18" charset="0"/>
                          </a:rPr>
                          <m:t>𝑢</m:t>
                        </m:r>
                      </m:lim>
                    </m:limLow>
                    <m:r>
                      <m:rPr>
                        <m:lit/>
                      </m:rPr>
                      <a:rPr kumimoji="1" lang="en-US" altLang="zh-CN" sz="2200" i="1">
                        <a:latin typeface="Cambria Math" panose="02040503050406030204" pitchFamily="18" charset="0"/>
                      </a:rPr>
                      <m:t>||</m:t>
                    </m:r>
                    <m:r>
                      <a:rPr kumimoji="1" lang="en-US" altLang="zh-CN" sz="2200" b="1">
                        <a:latin typeface="Cambria Math" panose="02040503050406030204" pitchFamily="18" charset="0"/>
                      </a:rPr>
                      <m:t>𝐈</m:t>
                    </m:r>
                    <m:d>
                      <m:dPr>
                        <m:ctrlPr>
                          <a:rPr kumimoji="1"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m:rPr>
                        <m:lit/>
                      </m:rPr>
                      <a:rPr kumimoji="1" lang="en-US" altLang="zh-CN" sz="22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kumimoji="1"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22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kumimoji="1"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200" dirty="0">
                    <a:sym typeface="+mn-ea"/>
                  </a:rPr>
                  <a:t> is known as the radius of the dataset</a:t>
                </a:r>
                <a:endParaRPr kumimoji="1" lang="en-US" altLang="zh-CN" sz="2200" dirty="0"/>
              </a:p>
              <a:p>
                <a:pPr lvl="1"/>
                <a:r>
                  <a:rPr kumimoji="1" lang="en-US" altLang="zh-CN" sz="2200" b="1" dirty="0">
                    <a:solidFill>
                      <a:srgbClr val="0200BE"/>
                    </a:solidFill>
                    <a:sym typeface="+mn-ea"/>
                  </a:rPr>
                  <a:t>Good for arbitrary dataset, but real data is usually concentrated</a:t>
                </a:r>
              </a:p>
              <a:p>
                <a:pPr marL="0" indent="0">
                  <a:buNone/>
                </a:pPr>
                <a:endParaRPr kumimoji="1" lang="en-US" altLang="zh-CN" kern="0" dirty="0"/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endParaRPr kumimoji="1" lang="en-US" altLang="zh-CN" kern="0" dirty="0"/>
              </a:p>
              <a:p>
                <a:endParaRPr kumimoji="1" lang="en-US" altLang="zh-CN" kern="0" dirty="0"/>
              </a:p>
              <a:p>
                <a:pPr lvl="1"/>
                <a:endParaRPr kumimoji="1" lang="en-US" altLang="zh-CN" kern="0" dirty="0"/>
              </a:p>
              <a:p>
                <a:pPr marL="0" indent="0">
                  <a:buFont typeface="Wingdings" panose="05000000000000000000" pitchFamily="2" charset="2"/>
                  <a:buNone/>
                </a:pPr>
                <a:endParaRPr kumimoji="1" lang="en-US" altLang="zh-CN" b="1" kern="0" dirty="0"/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endParaRPr kumimoji="1" lang="zh-CN" altLang="en-US" kern="0" dirty="0"/>
              </a:p>
            </p:txBody>
          </p:sp>
        </mc:Choice>
        <mc:Fallback xmlns="">
          <p:sp>
            <p:nvSpPr>
              <p:cNvPr id="78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910695" y="17510760"/>
                <a:ext cx="9182100" cy="1943735"/>
              </a:xfrm>
              <a:prstGeom prst="rect">
                <a:avLst/>
              </a:prstGeom>
              <a:blipFill rotWithShape="1">
                <a:blip r:embed="rId34"/>
                <a:stretch>
                  <a:fillRect b="-10457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内容占位符 2"/>
              <p:cNvSpPr txBox="1"/>
              <p:nvPr/>
            </p:nvSpPr>
            <p:spPr bwMode="auto">
              <a:xfrm>
                <a:off x="22453600" y="5039995"/>
                <a:ext cx="9584690" cy="283908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0000"/>
                  <a:buFont typeface="Calibri" panose="020F050202020403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Arial" panose="020B0604020202020204" pitchFamily="34" charset="0"/>
                  <a:buChar char="•"/>
                  <a:defRPr sz="1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lvl="0"/>
                <a:r>
                  <a:rPr kumimoji="1" lang="en-US" altLang="zh-CN" sz="2420" dirty="0">
                    <a:sym typeface="+mn-ea"/>
                  </a:rPr>
                  <a:t>Consider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:r>
                  <a:rPr kumimoji="1" lang="en-US" altLang="zh-CN" sz="2420" dirty="0">
                    <a:sym typeface="+mn-ea"/>
                  </a:rPr>
                  <a:t>the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:r>
                  <a:rPr kumimoji="1" lang="en-US" altLang="zh-CN" sz="2420" dirty="0">
                    <a:sym typeface="+mn-ea"/>
                  </a:rPr>
                  <a:t>dataset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:r>
                  <a:rPr kumimoji="1" lang="en-US" altLang="zh-CN" sz="2420" dirty="0">
                    <a:sym typeface="+mn-ea"/>
                  </a:rPr>
                  <a:t>where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20" b="1">
                        <a:latin typeface="Cambria Math" panose="02040503050406030204" pitchFamily="18" charset="0"/>
                      </a:rPr>
                      <m:t>𝐈</m:t>
                    </m:r>
                    <m:d>
                      <m:dPr>
                        <m:ctrlPr>
                          <a:rPr kumimoji="1" lang="en-US" altLang="zh-CN" sz="242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2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2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42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zh-CN" sz="242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42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2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kumimoji="1" lang="en-US" altLang="zh-CN" sz="242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zh-CN" sz="242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42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zh-CN" altLang="en-US" sz="2420" dirty="0">
                    <a:sym typeface="+mn-ea"/>
                  </a:rPr>
                  <a:t> </a:t>
                </a:r>
                <a:r>
                  <a:rPr kumimoji="1" lang="en-US" altLang="zh-CN" sz="2420" dirty="0">
                    <a:sym typeface="+mn-ea"/>
                  </a:rPr>
                  <a:t>for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2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CN" sz="2420" dirty="0">
                    <a:sym typeface="+mn-ea"/>
                  </a:rPr>
                  <a:t>=1,2,…, </a:t>
                </a:r>
                <a14:m>
                  <m:oMath xmlns:m="http://schemas.openxmlformats.org/officeDocument/2006/math">
                    <m:r>
                      <a:rPr kumimoji="1" lang="en-US" altLang="zh-CN" sz="242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kumimoji="1" lang="en-US" altLang="zh-CN" sz="2420" dirty="0"/>
              </a:p>
              <a:p>
                <a:pPr lvl="1"/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b="1" dirty="0">
                    <a:solidFill>
                      <a:srgbClr val="0200BE"/>
                    </a:solidFill>
                    <a:sym typeface="+mn-ea"/>
                  </a:rPr>
                  <a:t>rad(</a:t>
                </a:r>
                <a14:m>
                  <m:oMath xmlns:m="http://schemas.openxmlformats.org/officeDocument/2006/math">
                    <m:r>
                      <a:rPr kumimoji="1" lang="en-US" altLang="zh-CN" sz="2200" b="1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𝐈</m:t>
                    </m:r>
                  </m:oMath>
                </a14:m>
                <a:r>
                  <a:rPr kumimoji="1" lang="en-US" altLang="zh-CN" sz="2200" b="1" dirty="0">
                    <a:solidFill>
                      <a:srgbClr val="0200BE"/>
                    </a:solidFill>
                    <a:sym typeface="+mn-ea"/>
                  </a:rPr>
                  <a:t>)=</a:t>
                </a:r>
                <a14:m>
                  <m:oMath xmlns:m="http://schemas.openxmlformats.org/officeDocument/2006/math">
                    <m:r>
                      <a:rPr kumimoji="1" lang="en-US" altLang="zh-CN" sz="2200" b="1" i="0" dirty="0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kumimoji="1" lang="en-US" altLang="zh-CN" sz="2200" b="1" i="1" dirty="0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200" b="1" i="1" dirty="0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kumimoji="1" lang="en-US" altLang="zh-CN" sz="2200" b="1" i="1" dirty="0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(assume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en-US" altLang="zh-CN" sz="2200" dirty="0">
                    <a:sym typeface="+mn-ea"/>
                  </a:rPr>
                  <a:t>) </a:t>
                </a:r>
                <a:endParaRPr kumimoji="1" lang="en-US" altLang="zh-CN" sz="2200" dirty="0"/>
              </a:p>
              <a:p>
                <a:pPr lvl="2"/>
                <a:r>
                  <a:rPr kumimoji="1" lang="en-US" altLang="zh-CN" sz="2200" dirty="0">
                    <a:sym typeface="+mn-ea"/>
                  </a:rPr>
                  <a:t>A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noise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proportional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to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is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too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large</a:t>
                </a:r>
                <a:endParaRPr kumimoji="1" lang="en-US" altLang="zh-CN" sz="2200" dirty="0"/>
              </a:p>
              <a:p>
                <a:pPr lvl="1"/>
                <a:r>
                  <a:rPr kumimoji="1" lang="en-US" altLang="zh-CN" sz="2200" dirty="0">
                    <a:sym typeface="+mn-ea"/>
                  </a:rPr>
                  <a:t>However,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diameter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of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b="1">
                        <a:latin typeface="Cambria Math" panose="02040503050406030204" pitchFamily="18" charset="0"/>
                      </a:rPr>
                      <m:t>𝐈</m:t>
                    </m:r>
                  </m:oMath>
                </a14:m>
                <a:r>
                  <a:rPr kumimoji="1" lang="en-US" altLang="zh-CN" sz="2200" dirty="0">
                    <a:sym typeface="+mn-ea"/>
                  </a:rPr>
                  <a:t>,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denoted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as</a:t>
                </a:r>
                <a:r>
                  <a:rPr kumimoji="1" lang="zh-CN" altLang="en-US" sz="2200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b="1" i="1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𝝎</m:t>
                    </m:r>
                    <m:d>
                      <m:dPr>
                        <m:ctrlPr>
                          <a:rPr kumimoji="1" lang="en-US" altLang="zh-CN" sz="2200" b="1" i="1" smtClean="0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200" b="1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</m:d>
                    <m:r>
                      <a:rPr kumimoji="1" lang="en-US" altLang="zh-CN" sz="2200" b="1" i="1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kumimoji="1" lang="en-US" altLang="zh-CN" sz="2200" b="1" i="1" smtClean="0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kumimoji="1" lang="en-US" altLang="zh-CN" sz="2200" b="1" i="0" smtClean="0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  <m:t>𝐦𝐚𝐱</m:t>
                        </m:r>
                      </m:e>
                      <m:lim>
                        <m:sSub>
                          <m:sSubPr>
                            <m:ctrlPr>
                              <a:rPr kumimoji="1" lang="en-US" altLang="zh-CN" sz="2200" b="1" i="1" smtClean="0">
                                <a:solidFill>
                                  <a:srgbClr val="0200B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b="1" i="1" smtClean="0">
                                <a:solidFill>
                                  <a:srgbClr val="0200BE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2200" b="1" i="1" smtClean="0">
                                <a:solidFill>
                                  <a:srgbClr val="0200BE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kumimoji="1" lang="en-US" altLang="zh-CN" sz="2200" b="1" i="1" smtClean="0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200" b="1" i="1" smtClean="0">
                                <a:solidFill>
                                  <a:srgbClr val="0200B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b="1" i="1" smtClean="0">
                                <a:solidFill>
                                  <a:srgbClr val="0200BE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2200" b="1" i="1" smtClean="0">
                                <a:solidFill>
                                  <a:srgbClr val="0200BE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lim>
                    </m:limLow>
                    <m:r>
                      <a:rPr kumimoji="1" lang="zh-CN" altLang="en-US" sz="2200" b="1" i="1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kumimoji="1" lang="en-US" altLang="zh-CN" sz="2200" b="1" i="1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||</m:t>
                    </m:r>
                    <m:r>
                      <a:rPr kumimoji="1" lang="en-US" altLang="zh-CN" sz="2200" b="1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𝐈</m:t>
                    </m:r>
                    <m:d>
                      <m:dPr>
                        <m:ctrlPr>
                          <a:rPr kumimoji="1" lang="en-US" altLang="zh-CN" sz="2200" b="1" i="1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200" b="1" i="1">
                                <a:solidFill>
                                  <a:srgbClr val="0200B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b="1" i="1">
                                <a:solidFill>
                                  <a:srgbClr val="0200BE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2200" b="1" i="1">
                                <a:solidFill>
                                  <a:srgbClr val="0200BE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zh-CN" sz="2200" b="1" dirty="0">
                    <a:solidFill>
                      <a:srgbClr val="0200BE"/>
                    </a:solidFill>
                    <a:sym typeface="+mn-ea"/>
                  </a:rPr>
                  <a:t>- </a:t>
                </a:r>
                <a14:m>
                  <m:oMath xmlns:m="http://schemas.openxmlformats.org/officeDocument/2006/math">
                    <m:r>
                      <a:rPr kumimoji="1" lang="en-US" altLang="zh-CN" sz="2200" b="1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𝐈</m:t>
                    </m:r>
                    <m:d>
                      <m:dPr>
                        <m:ctrlPr>
                          <a:rPr kumimoji="1" lang="en-US" altLang="zh-CN" sz="2200" b="1" i="1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200" b="1" i="1">
                                <a:solidFill>
                                  <a:srgbClr val="0200B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200" b="1" i="1">
                                <a:solidFill>
                                  <a:srgbClr val="0200BE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kumimoji="1" lang="en-US" altLang="zh-CN" sz="2200" b="1" i="1" smtClean="0">
                                <a:solidFill>
                                  <a:srgbClr val="0200BE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m:rPr>
                        <m:lit/>
                      </m:rPr>
                      <a:rPr kumimoji="1" lang="en-US" altLang="zh-CN" sz="2200" b="1" i="1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kumimoji="1" lang="en-US" altLang="zh-CN" sz="2200" b="1" i="1" smtClean="0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kumimoji="1" lang="en-US" altLang="zh-CN" sz="2200" b="1" i="1" smtClean="0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kumimoji="1" lang="en-US" altLang="zh-CN" sz="2200" b="1" i="1" smtClean="0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200" b="1" i="1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200" b="1" i="0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𝚯</m:t>
                    </m:r>
                    <m:r>
                      <a:rPr kumimoji="1" lang="en-US" altLang="zh-CN" sz="2200" b="1" i="1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200" b="1" i="1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kumimoji="1" lang="en-US" altLang="zh-CN" sz="2200" b="1" i="1" smtClean="0">
                        <a:solidFill>
                          <a:srgbClr val="0200B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200" b="1" dirty="0">
                  <a:solidFill>
                    <a:srgbClr val="0200BE"/>
                  </a:solidFill>
                </a:endParaRPr>
              </a:p>
              <a:p>
                <a:pPr lvl="2"/>
                <a:r>
                  <a:rPr kumimoji="1" lang="en-US" altLang="zh-CN" sz="2200" dirty="0">
                    <a:sym typeface="+mn-ea"/>
                  </a:rPr>
                  <a:t>It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will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be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better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if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we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can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achieve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noise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proportional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to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kumimoji="1" lang="zh-CN" altLang="en-US" sz="2200" dirty="0"/>
              </a:p>
              <a:p>
                <a:pPr lvl="1"/>
                <a:endParaRPr kumimoji="1" lang="en-US" altLang="zh-CN" sz="2200" dirty="0">
                  <a:sym typeface="+mn-ea"/>
                </a:endParaRPr>
              </a:p>
              <a:p>
                <a:pPr marL="0" indent="0">
                  <a:buNone/>
                </a:pPr>
                <a:endParaRPr kumimoji="1" lang="en-US" altLang="zh-CN" kern="0" dirty="0"/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endParaRPr kumimoji="1" lang="en-US" altLang="zh-CN" kern="0" dirty="0"/>
              </a:p>
              <a:p>
                <a:endParaRPr kumimoji="1" lang="en-US" altLang="zh-CN" kern="0" dirty="0"/>
              </a:p>
              <a:p>
                <a:pPr lvl="1"/>
                <a:endParaRPr kumimoji="1" lang="en-US" altLang="zh-CN" kern="0" dirty="0"/>
              </a:p>
              <a:p>
                <a:pPr marL="0" indent="0">
                  <a:buFont typeface="Wingdings" panose="05000000000000000000" pitchFamily="2" charset="2"/>
                  <a:buNone/>
                </a:pPr>
                <a:endParaRPr kumimoji="1" lang="en-US" altLang="zh-CN" b="1" kern="0" dirty="0"/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endParaRPr kumimoji="1" lang="zh-CN" altLang="en-US" kern="0" dirty="0"/>
              </a:p>
            </p:txBody>
          </p:sp>
        </mc:Choice>
        <mc:Fallback xmlns="">
          <p:sp>
            <p:nvSpPr>
              <p:cNvPr id="80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53600" y="5039995"/>
                <a:ext cx="9584690" cy="2839085"/>
              </a:xfrm>
              <a:prstGeom prst="rect">
                <a:avLst/>
              </a:prstGeom>
              <a:blipFill rotWithShape="1">
                <a:blip r:embed="rId35"/>
                <a:stretch>
                  <a:fillRect b="-80877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" name="图片 80" descr="图示&#10;&#10;AI 生成的内容可能不正确。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812157" y="19245692"/>
            <a:ext cx="4554071" cy="1581274"/>
          </a:xfrm>
          <a:prstGeom prst="rect">
            <a:avLst/>
          </a:prstGeom>
        </p:spPr>
      </p:pic>
      <p:sp>
        <p:nvSpPr>
          <p:cNvPr id="82" name="TextBox 45"/>
          <p:cNvSpPr txBox="1"/>
          <p:nvPr/>
        </p:nvSpPr>
        <p:spPr>
          <a:xfrm>
            <a:off x="22665781" y="7908304"/>
            <a:ext cx="9064534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kumimoji="1" lang="en-US" altLang="zh-CN" dirty="0">
                <a:sym typeface="+mn-ea"/>
              </a:rPr>
              <a:t>Diameter</a:t>
            </a:r>
            <a:r>
              <a:rPr kumimoji="1" lang="zh-CN" altLang="en-US" dirty="0">
                <a:sym typeface="+mn-ea"/>
              </a:rPr>
              <a:t> </a:t>
            </a:r>
            <a:r>
              <a:rPr kumimoji="1" lang="en-US" altLang="zh-CN" dirty="0">
                <a:sym typeface="+mn-ea"/>
              </a:rPr>
              <a:t>Sum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内容占位符 2"/>
              <p:cNvSpPr txBox="1"/>
              <p:nvPr/>
            </p:nvSpPr>
            <p:spPr bwMode="auto">
              <a:xfrm>
                <a:off x="22665690" y="8650549"/>
                <a:ext cx="9372600" cy="283908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Calibri" panose="020F0502020204030204" pitchFamily="34" charset="0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80000"/>
                  <a:buFont typeface="Calibri" panose="020F050202020403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Arial" panose="020B0604020202020204" pitchFamily="34" charset="0"/>
                  <a:buChar char="•"/>
                  <a:defRPr sz="1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lvl="0"/>
                <a:r>
                  <a:rPr kumimoji="1" lang="en-US" altLang="zh-CN" sz="2680" dirty="0">
                    <a:sym typeface="+mn-ea"/>
                  </a:rPr>
                  <a:t>Intuition:</a:t>
                </a:r>
                <a:r>
                  <a:rPr kumimoji="1" lang="zh-CN" altLang="en-US" sz="2680" dirty="0">
                    <a:sym typeface="+mn-ea"/>
                  </a:rPr>
                  <a:t> </a:t>
                </a:r>
                <a:r>
                  <a:rPr kumimoji="1" lang="en-US" altLang="zh-CN" sz="2680" dirty="0">
                    <a:sym typeface="+mn-ea"/>
                  </a:rPr>
                  <a:t>First</a:t>
                </a:r>
                <a:r>
                  <a:rPr kumimoji="1" lang="zh-CN" altLang="en-US" sz="2680" dirty="0">
                    <a:sym typeface="+mn-ea"/>
                  </a:rPr>
                  <a:t> </a:t>
                </a:r>
                <a:r>
                  <a:rPr kumimoji="1" lang="en-US" altLang="zh-CN" sz="2680" dirty="0">
                    <a:sym typeface="+mn-ea"/>
                  </a:rPr>
                  <a:t>shift</a:t>
                </a:r>
                <a:r>
                  <a:rPr kumimoji="1" lang="zh-CN" altLang="en-US" sz="2680" dirty="0">
                    <a:sym typeface="+mn-ea"/>
                  </a:rPr>
                  <a:t> </a:t>
                </a:r>
                <a:r>
                  <a:rPr kumimoji="1" lang="en-US" altLang="zh-CN" sz="2680" dirty="0">
                    <a:sym typeface="+mn-ea"/>
                  </a:rPr>
                  <a:t>the</a:t>
                </a:r>
                <a:r>
                  <a:rPr kumimoji="1" lang="zh-CN" altLang="en-US" sz="2680" dirty="0">
                    <a:sym typeface="+mn-ea"/>
                  </a:rPr>
                  <a:t> </a:t>
                </a:r>
                <a:r>
                  <a:rPr kumimoji="1" lang="en-US" altLang="zh-CN" sz="2680" dirty="0">
                    <a:sym typeface="+mn-ea"/>
                  </a:rPr>
                  <a:t>dataset</a:t>
                </a:r>
                <a:r>
                  <a:rPr kumimoji="1" lang="zh-CN" altLang="en-US" sz="2680" dirty="0">
                    <a:sym typeface="+mn-ea"/>
                  </a:rPr>
                  <a:t> </a:t>
                </a:r>
                <a:r>
                  <a:rPr kumimoji="1" lang="en-US" altLang="zh-CN" sz="2680" dirty="0">
                    <a:sym typeface="+mn-ea"/>
                  </a:rPr>
                  <a:t>toward</a:t>
                </a:r>
                <a:r>
                  <a:rPr kumimoji="1" lang="zh-CN" altLang="en-US" sz="2680" dirty="0">
                    <a:sym typeface="+mn-ea"/>
                  </a:rPr>
                  <a:t> </a:t>
                </a:r>
                <a:r>
                  <a:rPr kumimoji="1" lang="en-US" altLang="zh-CN" sz="2680" dirty="0">
                    <a:sym typeface="+mn-ea"/>
                  </a:rPr>
                  <a:t>the</a:t>
                </a:r>
                <a:r>
                  <a:rPr kumimoji="1" lang="zh-CN" altLang="en-US" sz="2680" dirty="0">
                    <a:sym typeface="+mn-ea"/>
                  </a:rPr>
                  <a:t> </a:t>
                </a:r>
                <a:r>
                  <a:rPr kumimoji="1" lang="en-US" altLang="zh-CN" sz="2680" dirty="0">
                    <a:sym typeface="+mn-ea"/>
                  </a:rPr>
                  <a:t>origin</a:t>
                </a:r>
                <a:endParaRPr kumimoji="1" lang="en-US" altLang="zh-CN" sz="2680" dirty="0"/>
              </a:p>
              <a:p>
                <a:pPr lvl="2"/>
                <a:endParaRPr kumimoji="1" lang="en-US" altLang="zh-CN" sz="2200" dirty="0"/>
              </a:p>
              <a:p>
                <a:pPr lvl="2"/>
                <a:endParaRPr kumimoji="1" lang="en-US" altLang="zh-CN" sz="2200" dirty="0"/>
              </a:p>
              <a:p>
                <a:pPr lvl="1"/>
                <a:r>
                  <a:rPr kumimoji="1" lang="en-US" altLang="zh-CN" sz="2200" dirty="0">
                    <a:sym typeface="+mn-ea"/>
                  </a:rPr>
                  <a:t>Then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applying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the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radius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sum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algorithm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leads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to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a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diameter</a:t>
                </a:r>
                <a:r>
                  <a:rPr kumimoji="1" lang="zh-CN" altLang="en-US" sz="2200" dirty="0">
                    <a:sym typeface="+mn-ea"/>
                  </a:rPr>
                  <a:t> </a:t>
                </a:r>
                <a:r>
                  <a:rPr kumimoji="1" lang="en-US" altLang="zh-CN" sz="2200" dirty="0">
                    <a:sym typeface="+mn-ea"/>
                  </a:rPr>
                  <a:t>bound</a:t>
                </a:r>
              </a:p>
              <a:p>
                <a:pPr lvl="0"/>
                <a:r>
                  <a:rPr kumimoji="1" lang="en-US" altLang="zh-CN" sz="2660" dirty="0">
                    <a:sym typeface="+mn-ea"/>
                  </a:rPr>
                  <a:t>The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diameter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sum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algorithm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provides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:r>
                  <a:rPr kumimoji="1" lang="en-US" altLang="zh-CN" sz="2660" dirty="0">
                    <a:sym typeface="+mn-ea"/>
                  </a:rPr>
                  <a:t>a</a:t>
                </a:r>
                <a:r>
                  <a:rPr kumimoji="1" lang="zh-CN" altLang="en-US" sz="266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660" b="1" i="1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660" b="1" i="1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kumimoji="1" lang="en-US" altLang="zh-CN" sz="2660" b="1" i="1">
                            <a:solidFill>
                              <a:srgbClr val="0200BE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1" lang="en-US" altLang="zh-CN" sz="2660" b="1" dirty="0">
                    <a:solidFill>
                      <a:srgbClr val="0200BE"/>
                    </a:solidFill>
                    <a:sym typeface="+mn-ea"/>
                  </a:rPr>
                  <a:t> error</a:t>
                </a:r>
                <a:r>
                  <a:rPr kumimoji="1" lang="zh-CN" altLang="en-US" sz="2660" b="1" dirty="0">
                    <a:solidFill>
                      <a:srgbClr val="0200BE"/>
                    </a:solidFill>
                    <a:sym typeface="+mn-ea"/>
                  </a:rPr>
                  <a:t> </a:t>
                </a:r>
                <a:r>
                  <a:rPr kumimoji="1" lang="en-US" altLang="zh-CN" sz="2660" b="1" dirty="0">
                    <a:solidFill>
                      <a:srgbClr val="0200BE"/>
                    </a:solidFill>
                    <a:sym typeface="+mn-ea"/>
                  </a:rPr>
                  <a:t>guarantee</a:t>
                </a:r>
                <a:r>
                  <a:rPr kumimoji="1" lang="en-US" altLang="zh-CN" sz="2660" dirty="0">
                    <a:sym typeface="+mn-ea"/>
                  </a:rPr>
                  <a:t>:</a:t>
                </a:r>
                <a:endParaRPr kumimoji="1" lang="en-US" altLang="zh-CN" sz="2660" dirty="0"/>
              </a:p>
              <a:p>
                <a:pPr lvl="1"/>
                <a:r>
                  <a:rPr kumimoji="1" lang="en-US" altLang="zh-CN" sz="2420" dirty="0">
                    <a:sym typeface="+mn-ea"/>
                  </a:rPr>
                  <a:t>Error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:r>
                  <a:rPr kumimoji="1" lang="en-US" altLang="zh-CN" sz="2420" dirty="0">
                    <a:sym typeface="+mn-ea"/>
                  </a:rPr>
                  <a:t>is</a:t>
                </a:r>
                <a:endParaRPr kumimoji="1" lang="en-US" altLang="zh-CN" sz="2420" dirty="0"/>
              </a:p>
              <a:p>
                <a:pPr lvl="1"/>
                <a:r>
                  <a:rPr kumimoji="1" lang="en-US" altLang="zh-CN" sz="2420" dirty="0">
                    <a:sym typeface="+mn-ea"/>
                  </a:rPr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2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kumimoji="1" lang="en-US" altLang="zh-CN" sz="242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20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kumimoji="1" lang="en-US" altLang="zh-CN" sz="2420" i="1">
                        <a:latin typeface="Cambria Math" panose="02040503050406030204" pitchFamily="18" charset="0"/>
                      </a:rPr>
                      <m:t>≡</m:t>
                    </m:r>
                    <m:r>
                      <a:rPr kumimoji="1" lang="en-US" altLang="zh-CN" sz="242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kumimoji="1" lang="en-US" altLang="zh-CN" sz="2420" dirty="0">
                    <a:sym typeface="+mn-ea"/>
                  </a:rPr>
                  <a:t>, it degenerates to</a:t>
                </a:r>
                <a:r>
                  <a:rPr kumimoji="1" lang="zh-CN" altLang="en-US" sz="242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kumimoji="1" lang="zh-CN" altLang="en-US" sz="242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42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r>
                      <a:rPr kumimoji="1" lang="en-US" altLang="zh-CN" sz="242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42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kumimoji="1" lang="en-US" altLang="zh-CN" sz="242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420" b="1" i="0" smtClean="0">
                        <a:latin typeface="Cambria Math" panose="02040503050406030204" pitchFamily="18" charset="0"/>
                      </a:rPr>
                      <m:t>𝐈</m:t>
                    </m:r>
                    <m:r>
                      <a:rPr kumimoji="1" lang="en-US" altLang="zh-CN" sz="2420" b="0" i="1" smtClean="0"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kumimoji="1" lang="en-US" altLang="zh-CN" sz="242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1" lang="en-US" altLang="zh-CN" sz="242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420" i="1">
                                <a:latin typeface="Cambria Math" panose="02040503050406030204" pitchFamily="18" charset="0"/>
                              </a:rPr>
                              <m:t>𝑛𝑑</m:t>
                            </m:r>
                          </m:num>
                          <m:den>
                            <m:r>
                              <a:rPr kumimoji="1" lang="en-US" altLang="zh-CN" sz="242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</m:e>
                    </m:rad>
                    <m:r>
                      <a:rPr kumimoji="1" lang="en-US" altLang="zh-CN" sz="242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420" dirty="0"/>
              </a:p>
              <a:p>
                <a:pPr lvl="0"/>
                <a:endParaRPr kumimoji="1" lang="en-US" altLang="zh-CN" sz="2420" dirty="0"/>
              </a:p>
              <a:p>
                <a:pPr lvl="2"/>
                <a:endParaRPr kumimoji="1" lang="zh-CN" altLang="en-US" sz="2200" dirty="0"/>
              </a:p>
              <a:p>
                <a:pPr lvl="1"/>
                <a:endParaRPr kumimoji="1" lang="en-US" altLang="zh-CN" sz="2200" dirty="0">
                  <a:sym typeface="+mn-ea"/>
                </a:endParaRPr>
              </a:p>
              <a:p>
                <a:pPr marL="0" indent="0">
                  <a:buNone/>
                </a:pPr>
                <a:endParaRPr kumimoji="1" lang="en-US" altLang="zh-CN" kern="0" dirty="0"/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endParaRPr kumimoji="1" lang="en-US" altLang="zh-CN" kern="0" dirty="0"/>
              </a:p>
              <a:p>
                <a:endParaRPr kumimoji="1" lang="en-US" altLang="zh-CN" kern="0" dirty="0"/>
              </a:p>
              <a:p>
                <a:pPr lvl="1"/>
                <a:endParaRPr kumimoji="1" lang="en-US" altLang="zh-CN" kern="0" dirty="0"/>
              </a:p>
              <a:p>
                <a:pPr marL="0" indent="0">
                  <a:buFont typeface="Wingdings" panose="05000000000000000000" pitchFamily="2" charset="2"/>
                  <a:buNone/>
                </a:pPr>
                <a:endParaRPr kumimoji="1" lang="en-US" altLang="zh-CN" b="1" kern="0" dirty="0"/>
              </a:p>
              <a:p>
                <a:pPr marL="457200" lvl="1" indent="0">
                  <a:buFont typeface="Calibri" panose="020F0502020204030204" pitchFamily="34" charset="0"/>
                  <a:buNone/>
                </a:pPr>
                <a:endParaRPr kumimoji="1" lang="zh-CN" altLang="en-US" kern="0" dirty="0"/>
              </a:p>
            </p:txBody>
          </p:sp>
        </mc:Choice>
        <mc:Fallback>
          <p:sp>
            <p:nvSpPr>
              <p:cNvPr id="83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65690" y="8650549"/>
                <a:ext cx="9372600" cy="2839085"/>
              </a:xfrm>
              <a:prstGeom prst="rect">
                <a:avLst/>
              </a:prstGeom>
              <a:blipFill>
                <a:blip r:embed="rId37"/>
                <a:stretch>
                  <a:fillRect l="-585" t="-2146" b="-23176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图片 84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3656898" y="9094467"/>
            <a:ext cx="7772400" cy="727629"/>
          </a:xfrm>
          <a:prstGeom prst="rect">
            <a:avLst/>
          </a:prstGeom>
        </p:spPr>
      </p:pic>
      <p:pic>
        <p:nvPicPr>
          <p:cNvPr id="86" name="334E55B0-647D-440b-865C-3EC943EB4CBC-2" descr="wpsoffice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4555609" y="10875859"/>
            <a:ext cx="3591538" cy="543968"/>
          </a:xfrm>
          <a:prstGeom prst="rect">
            <a:avLst/>
          </a:prstGeom>
        </p:spPr>
      </p:pic>
      <p:sp>
        <p:nvSpPr>
          <p:cNvPr id="87" name="TextBox 45"/>
          <p:cNvSpPr txBox="1"/>
          <p:nvPr/>
        </p:nvSpPr>
        <p:spPr>
          <a:xfrm>
            <a:off x="22665781" y="12459874"/>
            <a:ext cx="9064534" cy="61404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3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kumimoji="1" lang="en-US" altLang="zh-CN" dirty="0">
                <a:sym typeface="+mn-ea"/>
              </a:rPr>
              <a:t>Experiments</a:t>
            </a:r>
            <a:endParaRPr dirty="0"/>
          </a:p>
        </p:txBody>
      </p:sp>
      <p:pic>
        <p:nvPicPr>
          <p:cNvPr id="88" name="图片 87" descr="表格&#10;&#10;AI 生成的内容可能不正确。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3363378" y="13470547"/>
            <a:ext cx="7772400" cy="2709732"/>
          </a:xfrm>
          <a:prstGeom prst="rect">
            <a:avLst/>
          </a:prstGeom>
        </p:spPr>
      </p:pic>
      <p:pic>
        <p:nvPicPr>
          <p:cNvPr id="89" name="图片 88" descr="图表, 折线图&#10;&#10;AI 生成的内容可能不正确。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4204295" y="16898648"/>
            <a:ext cx="5989320" cy="2822575"/>
          </a:xfrm>
          <a:prstGeom prst="rect">
            <a:avLst/>
          </a:prstGeom>
        </p:spPr>
      </p:pic>
      <p:pic>
        <p:nvPicPr>
          <p:cNvPr id="90" name="内容占位符 89" descr="图表, 折线图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42"/>
          <a:stretch>
            <a:fillRect/>
          </a:stretch>
        </p:blipFill>
        <p:spPr>
          <a:xfrm>
            <a:off x="24342090" y="18093690"/>
            <a:ext cx="5851525" cy="2753995"/>
          </a:xfr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  <p:bldP spid="15" grpId="0" build="p"/>
      <p:bldP spid="45" grpId="0" build="p"/>
      <p:bldP spid="51" grpId="0" bldLvl="0" animBg="1"/>
      <p:bldP spid="52" grpId="0" bldLvl="0" animBg="1"/>
      <p:bldP spid="54" grpId="0"/>
      <p:bldP spid="59" grpId="0"/>
      <p:bldP spid="60" grpId="0"/>
      <p:bldP spid="63" grpId="0"/>
      <p:bldP spid="64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3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3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3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39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0cnVlfSIsCgkiTGF0ZXgiIDogIlhGc2dYSFJwYkdSbGUwOTlYR3hsWm5Rb0lGeHRhVzRnWDN0eklGeHBiaUJjYldGMGFHSmllMUo5WDN0Y1oyVnhJREI5ZlZ4c1pXWjBLRnhzWldaMFhIeGNjM1Z0WDNWY2JHVm1kQ2hjZkZ4dFlYUm9ZbVo3U1gwb2RTbGNmRjh5TFhNZ1hITnhjblI3TWlCY1VHaHBLSFVwZlZ4eWFXZG9kQ2xlZXl0OUlGeG1jbUZqZTF4dFlYUm9ZbVo3U1gwb2RTbDllMXg4SUZ4dFlYUm9ZbVo3U1gxY2JHVm1kQ2gxS1NCY2ZGOHlYSEpwWjJoMExuMWNjbWxuYUhSY2ZGOHlLM01nWEhOeGNuUjdiaUJrZlZ4eWFXZG9kQ2tnWEhKcFoyaDBLVnhkIiwKCSJMYXRleEltZ0Jhc2U2NCIgOiAiaVZCT1J3MEtHZ29BQUFBTlNVaEVVZ0FBQ09rQUFBRC9DQU1BQUFDWnBlQVNBQUFBU0ZCTVZFWC8vLzhBQUFBQUFBQUFBQUFBQUFBQUFBQUFBQUFBQUFBQUFBQUFBQUFBQUFBQUFBQUFBQUFBQUFBQUFBQUFBQUFBQUFBQUFBQUFBQUFBQUFBQUFBQUFBQUFBQUFBQUFBQ0NnVW5EQUFBQUYzUlNUbE1BaWMzdjNhdFVSREtadXlKMlpoRDVrL3Vsci8yM3NZK09kaG9BQUFBSmNFaFpjd0FBRHNRQUFBN0VBWlVyRGhzQUFDQUFTVVJCVkhnQjdWM25Zc01zcjI2YmRLWGpmYzkzUnU3L1RvOEdPSWhsTWV5TXlqOWFEeERTZ3lTRXdNN1RreDMzZzhEN1I4enIxM3Q4eDY0TkFVUEFFREFFdEFpWVY5VWlaZVVNZ1YwUStEeWZvMURuNDN4KzNhVnBhOFFRTUFRTWdRZEV3THpxQTNicXJZcjArM0krZjk0cWMxZmlLNFBKOFh6K2x0eDhuODlIZWNldURBRkR3QkF3QkxRSW1GZlZJalc1M08vaGZIZ2VvVGxNWUtUeHZyb1E2TVJqZUIraEI2cVZ3UVJRaWpUakdXNDlrTXdtaWlGZ0NCZ0N1eUpnWG5WWHVJUEdJTWFNQjdUZ3FlSjBtSUNpamFsRmNGQS9UYVY0LzhSeW1BQk1VZVlMTXE4VzZkeC9aNXNFaG9BaGNDVUV6S3RlQ2ZnbjJIdHhQdjhNdEQ1TVlLRHRucW9ua1BmNDIxUHpjZXRrTVRHYmZOd09OOGtNQVVQZ0dnaVlWNzBHNnRUbUQyQi9Ibm1uWnBqQXJxSmpYaUxlYWJzckF6ZllXQjRUd01seU9qZllXOGFTSVdBSTNDc0M1bFd2MTNQNWNhNkJuMkVDRFcyTkZvVk50V01wckZFR2JyQitBUk96eVJ2c0syUEpFREFFN2hnQjg2cFg3RHpjcEhFWVdjOFpKckNiOE84Z2FweXAySzN4RzIyb2hFbUtGSWEwTnlxRXNXVUlHQUtHd00wallGNzFpbDMwZFFENFIxNGZIaWF3bC9CZklPajVaYS9XN3FPZElpWm1rL2ZSZ2NhbElXQUkzQXNDNWxXdjJWTTBxeDk1SFdtWXdEN1MvK0o3WXVldmZScTdrMWJLbUpoTjNra1hHcHVHZ0NGd0p3aVlWNzFxUitHSFVvYmVOUjhtc0l2NCtJclIwSHRtdTNDNWJ5TmxUQUFyMjVHOGIyZFlhNGFBSWZEUUNKaFh2VzczNGs2Ym9SZXdoZ25zSUQvdHZCMUpYZTNBNDk1TlZEQXhtOXk3TTZ3OVE4QVFlR3dFekt0ZXQzOXBzOGJJcnVSaEF0dkxUeC8rR1pGeGV4WjNiNkdHaWRuazd0MWhEUm9DaHNCREkyQmU5Y3JkVzVuYjZ6Z2JKcUJycHI4VS9Hd0ZIRy85QkI2d1poVVRzOGtIN0hFVHlSQXdCSzZJZ0huVks0SlBUZFB5VS9TTGprMDhEUk5vYXEyOU1HMUlzWi9pRnNCVk1UR2JGRmpaaFNGZ0NCZ0Nnd2lZVngwRWNMZzZMVCtOZkR4NG1NQ3dDRlVDOUNWblc3c1NHTlV4TVpzVVlObUZJV0FJR0FLRENKaFhIUVJ3dkRvdFA0MkVBc01FeG1Vb1UrQTR6TmF1UW9SV01ER2JETUd5YzBQQUVEQUVSaEV3cnpxSzRIaDlXbjRhV2Q0WkpqQXVRNUVDcmRQWWUxY0NueFZNekNZRlduWmhDQmdDaHNBZ0F1WlZCd0djVUgxbGlyL2V3akNCOVNaNlM5QTZqWDB6VU1DM2hvblpwSURMTGd3QlE4QVFHRVRBdk9vZ2dET3EwK2YvRGdPVWhna010RjJ0eXU4WVBWZkwvTFdIcTVpWVRmNDFsVEI1RFFGRFlGc0V6S3R1aTYrT09yMkhIWDBYVjFmVGxSb20wTlNhdnZBcjZOZDVKSWJUTjNVM0pWY3hNWnU4bTc0MFJnMEJRK0F1RURDdmVndmR4T3NaSC8yc0RCUG9iN3BXOHcwREhmdVVqb0JvSFJPelNRR1lYUmdDaG9BaE1JaUFlZFZCQU9kVXB6M0ZJNy8xUFV4Z2poeVNDcS9UaklnbDZUM0NsUUlUczhsSDZHaVR3UkF3Qkc0SEFmT3FOOUVYOU9NQTU0SHZCdzRUMkFLR1Q5QXUrd2x6aWF3Q0U3TkpDWmxkR1FLR2dDRXdob0I1MVRIOFp0V216UnZuMzM1eXd3VDZteTdWNUZmQ1JyWWZsU2pmNzMwTkptYVQ5OXUveHJraFlBamNJZ0xtVlcralYzZ0VIUGlvempDQitUaHc4UFUxbi9BZFU5UmdZalo1eHgxc3JCc0Noc0FOSW1CZTlVWTZoVjRVUDcvM2N6Tk1vTC9wZkUxZVVMT1VUb2lPQ2hPenlSQXlPemNFREFGRFlCUUI4NnFqQ0U2cS93czljVDRQN040ZEpqQkprSVVNYlpLMmp3WXVlT0NKQ2hPelNZR1pYUmdDaG9BaE1JaUFlZFZCQUtkVkg4N0pEQk9ZSmdvUjRyZXBMYVVUb3FyRHhHd3l4TXpPRFFGRDRLWVFlRHQycnoxOEhYNnVKSXA1MVNzQm56VExPWmxqY2w5OVk1aUF1aVZWd1NPb2xyMTRKYUhTWVdJMktWR3pLMFBBRUxnZEJEN1BoLzdObDhmemxYNEUwYnpxeldnUXYzODg4S3Zmd3dSbVFzSGZNclNVVG9pcEVoT3p5UkEwT3pjRURJRWJRZ0JlcWhqNHh1M3Y4Znd5OElweFB3N21WZnV4bTF5VDM1NGFTT29NRTVncEVQMCtoZTNTRVpBcU1UR2JGS2paaFNGZ0NOd01BcWZ6eUhzelQwOWZoL1B4R3FHT2VkV2JVYUVuZmdONVlCMXptTUE4TERoOU1mRFcvRHhXYm9hU0ZoT3p5WnZwTW1QRUVEQUVRZ1RnbllxQkVRb3B3ZnVuMXdoMXpLdUczWGpkYzM0RmVlRDNNSWNKekpPZmQ2UjBiMXlieDhnTlVkSmlZalo1UTUxbXJCZ0NENG5BTy96MDh1RjRmUEhIeVo4Y2p3ZElQaGZDR1poTVA0L0NBZTlsREx4ajNOdTZlZFZlNURhb0I0bEJPQW82cG1sdm1JQ21FVTBaZnNsb1lDVk8wOGlkbFZGallqWjVaejFyN0JvQ2Q0Y0FSRHExSXo4S3dmdTlFellVQTVYOXMvM21WVzlJUllkek1zTUVab0hCMzQwWitCMnZXWXpjRUIwMUptYVROOVJyeG9vaHNBVUN6MWQ3M2RwSjB4UHBZSjBaZTJ3Z3U3MzcyR0JlZFFzMTdxWEo2eHNEcjE4TkUramxYTmJqaUd1S1VVakNkM3lseDhSczhvNjcyVmczQkRRSUhLNnhnaE15OW5Id0IvaWI1ZkQzRHJsQjZMZThxaFZTWGovSGQyY0czdDlhYnlCVEFwcU0zZ1RHZDVVekJlM1dEZ2g4azhZTkxHSU9FNWdqSksraTdaK2huTVA5TmxUMG1KaE5idE1EUnRVUXVCa0VZRnZ1cmZEQ3lXWWFldW9qUHhRY0dKdENjV0djMmx0ODg2cGhCMXo3bkQvK054RHVEaE9ZZ2dDLzdqNGd4aFF1Ym90SUF5Wm1rN2ZWZGNhTklUQWRnZjJIK3FJSTJrZ0gzeDN0LzJTZ2JCNnlROE03bXlYRnRTdnpxbXNJN2ZxYzN4T1BzbXd0SEF3VGFHbXNWSlkvWWJoMzBGN2k1amJ1TjJCaU5ua2JYV1pjR0FLYklYQi9rUTdPb2dkR0pva2tSazM3cmwrbDNOdnFsZXlUWGEvY05ySCtYVi9EQkdhSUMwb0ZSMzczL2d6NjkwaWpBUk1vR25rVXM4bDc3SExqMlJBb0luQi9rUTVPb3ZzSHBoZ0kyRkU2YVNVc3BseTROcTlhQU9aS3Qva3p1Z01iMDRjSmpBdk9YOGlyTC9tT3QzSmZGRm93TVp1OHI3NDFiZzJCWmdUdUx0TEJOeXFpQ1ZpejBFRUYvT1pHYnRkelVHVHVhY3ErelIvbkl0eEdqWCtRZkdEaFo1aEFHNys1MHJ6dWEvdVJRMnhhTURHYkRKR3pjMFBnQVJHNHUwZ0gzNmlZbDlKNWVvS2t6c0JIY3RzMXdyeHFPMlpiMW5BYlYvcy9ManhNWUZpNjYzTXdMTUowQWsyWW1FMU94OThJR2dLM2hjQzlSVHFUVXpwUFQvaWE4TURhUlhOdm1sZHRobXpiQ2p6NUgvZ1E1VENCVWZrNHEyU0xWeUdPVFppWVRZYlEyYmtoOElBSTNGdWtneW1kcVZ1SWNZUHpua2tkODZvM1prVnVRMGYvMjN6REJFWUI0WjFDdG5nVjR0aUVpZGxrQ0oyZEd3SVBpTUNkUlRvWWx3enNxY2gxSU81dzNuR25qbm5WWENkYzhaNzdJazcveHdhR0NRd0s3OTcrMmxHSEJ4bmVvWG9iSm1hVE8zU0pOV0VJWEJPQjZZRkR2ekM4Q2dCZUI0NFNGVnhyNmgrVHNsVFJLZTc0K2hXMEZtMm90aDNKMlg3WjdTYnIzVUQ4UEV4Z1RGVCtvay9SWk1hSTMybnROa3pNSnUrMG00MXRRMENMd0oxRk92Z3pRLzNyREhsUWdPUjBtdm1XOEs1NTFUSTIxM25pVnAvNjEwU0hDUXpKN1ZKS3RuZ1ZvTmlJaWRsa2dKMmRHZ0tQaU1COVJUcTRIM2w2L2dXMy9rek9FMVUweGJ4cUJaeXJQSEt2NmZTcndEQ0JJYkZkbkdXTFZ3R0tqWmlZVFFiWTJha2g4SWdJM0Zla2d3czkvU05Tb2YvUUxRNnNYUlNvbG02YlZ5MGhjN1g3dzZ0UHd3UkdST2Nmc3JURnF4RERSa3orT1ovL0Rhcy9QZjE3UHYrWHZHTlhob0FoY01jSTdEbklyOERFNHdWRUFuQVVpdUtqL2krZkZJalNsTHgvN2FKQXRYVGJ2R29KbWF2ZDU5OGpIM2lsYjVqQWlPaG9FK2Z6d0Z2eUk0M2ZhTjFHVE1BbS95TWwrYy81L0krOGMxOVh2eERyVFhlVTl3V0JjZnNvQ0x5Y0R4TXkxbmNWNmRBYkZmUDdEemYvN1BaSm5jZnpxdk03WkdlS3c2dFB3d1FHQk1hUGZNTXh3UlVNTUhGalZWc3hBZnlpVERGK2p1ZkdoR3BoNXd0ZnNwKzluN0dGQVN0ckNFeERBRmR5eG4vVDc2NGlIZlEvMDdmcFBEM2hpeHE3elltaHJjZnlxdE1VK25xRU1OUWQrcXJTTUlGKzJkMWJSak0vRzk3UHpJM1ViTVVFT3YraDNvZjh3RURIVWpvM29vM0d4aWdDdUJnOW5JcTRxMGdIMTdlaU1FR0ErSE02bkErdnpTWk8reGNGb1EwdkhzMnJiZ2pWYnFUZEIzWDdWekNIQ2ZTTEN2b0V4Mzc3elBvNTNhOW1LeVpRL3BFaUhYeHZZOElrZUwvK3NwWU1nU29DT1BDUGhqbzM1Q1RYOSttZ0JaZlQ5QjlBNElDem1jd0x0eitIODB0eDJrdWVvWCtZcS9aUjhoRDRleVN2bXNoM2p6ZmNkK2FpZm1tUVpKaEFRMXV5NlBWYWxuemMwbFV6Sm85bGs3UjBOVG91M0ZKL0dpOS9Ib0hHRFNiZi9JbDBzT3VWWThZR29QYk9XWTEweUlNVkl4SjQrZ2xMMDVpZ1NZWXNXcmhQN2k0c0loempDNEVMdWVwSnlwNTlPYkFLMkI0UFVRR0dscStHQ2ZSS2ljb0RSem4rN3lWOHgvV2FNUUVBSStkd3h6WkpnVTRremgxM3ByRnVDRHc5L1dMb29oK2llVGNCT3NhMVk3ZGRLMkV2cmtZNnRFWVExZ2pQSVRIRDdoNWxpOE1oSXAxSjlUZ0NDRXo1YWRqSytEazBGYm1oTy9hcTQzRGNCZ1duZXJIYTZKa2JKcUJ2U3BaMGs1ZGl2bEtXL2h0WHpaZzhrazNTbUhBVi8vMDNsTXVrdkFvQ3RPNmlucy85dkJ5VEE0dzh1WGQ4YWQ3cU1rUDYxVWdITnlhVk5pU0FnYnVRRDhPV3lOTDVrNm5sa0JCM01PNzFLNS9RbEVVNk05UmxKZzIzejZZLzVUOU1vRk1hY2dDYmJOUHZaT2dHcXJWajhrZzJpVjUwZzdjMmJxQmZqWVcvakVCOVFVZUJURGwyVUZTZVcyUTEwc0c1V2hURExCeThMaytnVUJ5MjhGdW41Ums3cGJzWFV0dWVBSGNXNld3TGNUdDF0N09qcEZ6ckJJY0pyRGVSTGVHKzVGUGJwcCt0OThnMzJ6RjVJSnVrMTg3cy9mSkgxdTgvS2h0T0pnOER1ZXQ3aW5SQTFEaEs4TDBPOHpobjN2eHRFNGtJTDl6N3N1bC84bzA3dVlkVUJsdTlTbnRrN3p1b1duRDBOOHYxQndqME5lMCtCbnlWSEd3Zng5dlhhc2NFT3U5QlpoL2t5ZFJKL3UzN3dsb3dCR1loTUppdHZLTkloMktZd2dMRGFYbjduUE0zRWwzYW9GUko2VktkblVhTHgvR3FFdVA3dm5MNXhINGRHQ2JRaDkrVkFxdytabmVxMVk3Snc5Z2twUmIzMm5HNFUzZGFNNFlBSVVBNzBLSVpTUU0wZHhUcGtCbm5OOXRBU3NkbmNTaC9JemZkOERhZFNvYWZWdmJ6bEJ1ZzFCVjlHSytxRS9kT1NybDlOaFVkV1JGa21NQUsvZnpqOWkwcGVUcVBkTGNEazBleFNSb0xTanNaSDZtUFRaYS9pQUFsSkxvVGxuY1U2ZEFIL3ZLejdzOWxsODRUdlhnaE4xeHdtaWRma3pTR3NrWDlvMXlUMWoyS1YyMFMrdVlMdTMwMmxiemZpZ2pEQkZibzV4KzNiMG5KMDNta3V4MllQSXBOMHJwZGVUdmlJL1d5eWZJSEVhQXNSdTh1a3p1S2RHamFuTGRqLzRiNTB4T1BPREx3NC9sMlRUUEExZTMxbXZtamVOVWFuSGY0RERVQURwOFpiSmVBNnc4UWFHL3k2ZWxLYTJZOXJPNVdwd01UNkxzb0szNlhlK2RvS2xoWTN0OE5mbXZJRU5nS0FjcFo5czVHN3lqU0tVZDBrTEQyNFBKUDN2Z3IvaysrcndvUURsUFZBcExneU5XRGVOVVJDRzZ4cmhzZlpZamN3dWd3Z1piR2ZGblVXemo2NHpOUDZJSCtNeVJObUVDVkI0aDBLRE50YTFjUHBNb21Tb1RBU0N4L1I1RU9CVEZacC81OGNWVGs1eUszUmZlcWkxTll3aUtkU0szKzFLWGJaeE5wVGdNRXd3UWEydkpGM1pLWjNKWG1ILzdSL3oyWWdQVkhIWCtQT1IyS3RTdHI5SDlVSVV6c0IwS0FkTHh2L2VvaElwMzNreGMrdHlXSGZWL1ZCV0NrczlOczZERzg2Z01aRDR2Q2lqT2dCTU1FT2lCMVcxTGtyclFPT285VXBRY1RuVTNTenl5Z3A5anl5Sy9PYXpxSTVydjIzcFVHcXNjc3M2VmFYbysyN0N2S1cvYmxKSFliNFNYSHVTdVgveWRRYzg5cHYxMDJwM01wVFhtZmFJN0xzKzFxUmR6R0hOVzYwSng3QmkwOXdQeHhMaVpFYlZ0aldtT1lUQWhZcUtwSmpjZ3dnUnJ4d2pQMzVaaHF1ckpROVdGdjkyQ2lzMG1YTGRwV1Q3dERGZHJENEQ4cTlyQzlhNEtWRVBod3Y0R3lyWHJ1VHoyU2x3YnpydGVrN3lqU29VZ29FankrcEo2SUlnbXFWNDhETGRLSmdkejcramVNY3pld3AxVjVYSnY5RzNXR0NheXltQlJ3enEyZjU0VGkvZC9vd1FTNkx2SVp1ZFVybDdYYlFEbERrcjJoTnUxaXRKajMvaFc0VTRLTi9XZW9vcnVleDNEUVVOMWpKSThWNmVRV3I1Nm9ZK28rZ0Q0dEdHTzZ6VFZ3by9DcTI3Ujl3MVI1Si9sMk5yUXF1dk1VZFQycFVXa2c4UHh5T0w3SytPUzlZekxQMzRsYXZnNWVZKzdQUE92Q1JHZVQ3a005Mitrb1VlNThkNHFZMnlrdC9XZVU2WTRFM1NYaHVMSHFaOG5IZlVDTHREMWUrckVpSFVwZFIvYXUyS1pESCtHSnFzVUl6N3FHN3JSSUp3Rno4MUVrYVRHK1FYUGk4dStxeGNYVGF6V0JkNWQyT0FheERvVG83VHMwZkpJaDVlWHYzdW5DUkdtVGJ0TzVjOGpOb2Vudjc5ZlgxL3Ziei9mejU0bW1WbG5QM3VtR3lQTjFaZlgvcnE0OGt1UXd6OXBwbyttMVVTUHY2ZmZsTmpCelF3Q0YrYmVjQkdUTTFid1ZUK2lpUUlMOVU0N2c1UjZpdDVPaUtMM3FoYmMvY1lZcG5XclhibzRDelJWR2RtdHBDZml4R0NSKzhkdmtJVW9Ld2g2dHJHN2tyUy9NYW9rOVNMa3VUTFEyR1hxbzgza3Nydmo5ZUhzK3VaZ1gycjhjSFlyZ1BpTzJrd2Q3RUUxNUtERndPdCtsT1BlSFF1L08rOTFHK0hWSVF6K1NLMTEreTl5WDVzRW1taHdUMlpYUndDSWREK0YxL3VOMjNpaEEzWnNSbjFYcWpyZVVCQ2pRZWZHNmZucjdldnI2QnZYckdUWWRrU3NEdDNkSDFkdnJ3aVRWUGt6UXBRM3hybDk0eEVmSHhES20rZnYyR2FkM1ZseFZUSUd2U2V3ZUhjcVRzN3QzaGdEMC81K0pjMmw2MEc1N040U1FjMUxrUlhLS3RoN3A1QmF2Tk50MHFFeVhoOG54V2I4SDRrVkRVOTZyMXFrODJOUHJwM1NlV0U5R1prWnUvS3RQclNEUTRWV3J0MURkejEyN00xeUROc0FGMXRDRmlkb21nM3djMUprMHR2eCt5MkFubXFrRndoVlBhWVcrYzkyclNOUWUzQTBDT012Nk0yNmdNNmt6elY3SHRTSjAvVGxxdEJHaUdzdVJtNHZpQ00wMkhScmxkdm9xaWRxcjVpQjQwSHMza05KNWVuTERUYzltTis0V0RRSFF4cVdCdDhzQTErV2wvSHZ0SFNQamcrclIwMU1mSm5xYkpCOUViZ2IvUks2bUg5V1A1MkFkcTNrRGtOUGRSYkg2K2JDYTk0a0FUUEgvVUp4THR0S2NlNytqU0llVzRQM09ocHhHOHZwQk5LZldiTk9oL1QwZERpYkh4TnE5MUVGYVRnY1JxSWF3YTZET2VFNHB3NUV0eVJvQ1J6SDFjckhPc2FiVVpkRjhncUZjNHU4OTZjT2t3U1l2MFNsVW1yazFBcGN3M2RIc3hIazIxMXp0NzZuSGcwcjhwMUk2VDA4MHBEZkg5WWU5ZmdWaFhjbldjanJreGFJNFJsRGx6Nk5HQms5VVYxYW1hQ2JZREoxb1czMEIzaXlhQ3Y3NVNBY0R6WjNpekVvM3VZL3I5cytOTkFTK0l2MTlmMzU5am01VldKU1AzT2JiZm9ZbHVZZTQ2c09rd1NaOTBzZ0ZKVFBqYzhkN2tQWFRkZ210MmwvZmdyVHNXcm5KQ01BYzZ5OTVBYmJCYUp4ZmhmVDUwSlU1WDZYYlVXQXQwcUdVVFkxYk12aDQ4Wnhja285aXZxTWd3M0ZKYzZJYTVRNXBTbFVhdkdxSnhLUGR2NG1VenBOUEIzUVBYc01FR3Z1VjFIMjMzMnRyWk81S3hmc3dhYkZKOTRxZGkzUldwbEJ0S1B5aUljRFJPbXF4NTdkRnpEYTBINmMwOW4vWFJyOTdoWUNzL0k0bFhvdDBhSTNKeHl5NVRxTE1jalMxRWR0MGZndE9oTWFvdmlXRUhCL1ZlNkNWVWJqMTEzTTZ0NUhTZWVLMXo0RVZpV0VDVmIxSkg3cUZsRWpoMDNKLzZVNGZKazAyNlJZcG9RNGVOWC9VRHJ6NzFGSmpsbzhDcEtreFZ6dm5WdU42Q1B5eGxNNFRUMHBiNXdQWDY1K2s1YlZJaC9ZTlIxR0NJRUlyM1pIckVTdGFiK2Y4dG1NcTFEMlhGenlzWG9CM2pHVDQ2NUVPWnUxdllFSktnVFN3MGoxWEdDYXdxanV5QVBDS1J6ZS9rdHBqWERFa3JaaEFyUWFibEZ0MTVrNlErRWRSMnFJVzFydkc2T2d4dXR1a0FBVCtYRXJuaWI3MEszWTgzcGNpckVZNjZHSnFUb0RjWExRSUpWYTBQZ3N1a0NaRk80SFY1bFYzWXVxYXphQ2p6Z2VnTzNORjZqT3lZMmlZUUpQQWU2ZVFtcGk3VXVGT1ROcHMwamZDM1gxbzNTK3dBZzJsakpvQ2Y1N01yWkMxeHcrTEFJNWVrNVh3MXJHaUxXM3hQcFZiWi9yQzMycWtnMUZMTFdkRnJpZWEyOUE5bitBL0ZuSUhTSGd2M0tDcGh2bmpCWjJIUGJ1UmxNN1RrOU8vV2l4ZDc0UmhBblh5MFZPL1lhUnBWSXhvUE5wbEp5YU5OdW0ybnBOcm1SK2xvejE0aDZYcUgxSzdtNWdycU5pMVFuTVJ3SmxpdEpBeHQ0RWJwTWFUaloxV1llYkx2eHJwa0llcFJLKzBlaVd6eWJ4TDFDWDR2MHB4RWxhTXdvLzU0am1LYVZOL2ZQVUt3TDhOTiswMllOUmk2YnBXREJPb2s0K2UwcndHdEtsaUVGR054Ny9zeEtUVkppbFJESlg0bUwxOGlHclUwS204SHpsS1pUOStWNXVFRG9FL21OSnh5MWQzRzkrdFJqb1V5Vldtc0VSQTVuUjRUZDNkZXk3TWxXaWhXOWJiem83QWpVVkIxZCtPZERCOGxkSHBkdGpYS1hjT2t4ZWl3d1F1cEJSbmZyaFZGUDB6UlRveGFiWEo2RmNoS2k2cEMzbVFvc0dKczlhdGgwWS9CNWtwZWp2TW0yQzhkWDRTQ3VENTByMzh1eVgzWFoxMEs1Vnc4SW9HbE91d3RyME9CSExobUxuYk1relE3cHpUMVVpSHRpUlhKaTlrODJLRzVXYlp6aFVkQ2tNcVJWQjdwY0pTeGZ6YmtRNmtkUHJYaStZb25xUFN1ZlJ4NFdHWXdJV1U0c3h0akwwUjhCUU03MUNrRTVObW0rUTNPdEhiNGpGN3F3NThycnNoc1VpWmJFWFFBdVZFT0FUeDFLd1p4dWY1ME84K2o2cVU3b2JjNzZDWEd6YUJnNTdvMXczYnFwSGVRUWVDNXRrQVowOHhnZ1kyUFYyUGRIREtKaWNtZ2lHS1dFS2IvemtmeVErd0pyeVgvQWVPVUEydVJiVFpmQUZ0UlNING40NTBFUHRaRHJlNUwyUUZQM3gxWi9lR0NVaCtWcTRBT0R3cTlyQkM0QUVmTXlUTm1FQzFScHYwNlR0dWNIWWZ3SUpVWlVJbis0MlZUbEVjV0JVakEwU0YzWm91V1lENXBLQXNuNjVkL1I3UEwrdEQ5WGJjci9GMzI4OXZKYVd6aHc2RVBVR0cxNUQ1RE90ZTZmemo0QS8yR3Z6WDN6c0lZMFQvVWd0SktIbDlzUm9ZUmI5b2J3OVBPRjRLYjE0OVllWm50ck1xb2dsdE5YclZJcWxIZUFDUjZLMWtKWGpEUTlQS2dleUJZUUtTWFAyS2xseEJtZTdMMnVzeWpUN3R4YVRESnNOcFdVTmNvcFR3V1orWnB6eStabFlQUW9wNEJDeFBFUjhwR0I1TkRuMGR6c2VMMHk0MHVCbjNoZmJ1NVRZT2lmMzV0R2xTN3FJREliZTBXbE9MQmNMQ3QzSHVKOExRWTdsREdDT1ZyZlFyRFRWTHpBTDV0SThuY241RTVMdm9QVER2STlyWkVobG95eUtkQldCTTZZaGdkbmx5aFJPbmY0c0NOYk9nSnZEMTluekNkT1BoNWZUNXR1cmxzM3p3NndmMk9aMFFuRjVNT216U1I3V3V5eXRPS1dSUWZYNlFVVW1sSGpvdjFXUUJpbTBTNlVETU4rZzhvZHRXUTUydHVLOGdleGVQb1B2Ny9kVTBDZmZSZ1pCZGZ0VklLSFQ0K0JiUFd5SWQycWhUR3hnLzBPNWYwZTM4d2kvbTBlSXgwa2M3Z3VST0FSZnlqMzNEVFFlZ3dJNUZPZ3R1a0VMZjdQWCszNC8zdCsvbjE5UExJVVo4YVY2ZTBLQ2hHelprUlgrbEkvRHg3TGFUZ0NyUThTTDJsbmxpSy8vOWIwL1V6R0dGeE1NOTdzVUVlcUhaSm4xYjNJV3psZmhiTzM1eHhLVlJJR0JVT0VCUVZobWhnS2M4SEk3SEYzK2MvTW54ZUVnS0w3b0RrK3ZodENKZ3VaYllYZVYrWWVoUG5lQ1N4WENVL1NQNlhYWjd1Qm1raU94T09oQzJ6K25ieUdyREFyZDM3dXpyWW1ET3ZvNDUrMXBkWi9ybHJCWU5KYzc4NlF2cmVLTzBIUVMxWmMzUTV1RUdqVVg5ODRmMzZlQndzZFZReldsOWFBQU8zYlRIcjBoMGQ3YUd3QS9wNXVIMSsvM3I5K3ZqN1pXaW80Tm1xSkpzMGJJc2lGYlNhbG42YjF6MVlnSXd0dHRrcUY5Si9XRzgzNVg5eWlLTEVLYlFOZ2dwaWlYQlM5T2MwemNDcXllcXdkQ1h6LzhIS2lzbXVzcDludkNqMzRWT1hBRk9nUUFtMWt1SHBuUDMwZ0VoQ3JuUjJSTU0wY0pWTDlBWVZ4Ym52cjVmWVJKL09IMWZzalEvcCtQNStIbTVqa1RBM1QxeWRoTVZtSG9KamJWNzFha2MzQkF4VU5mTmxKVkNDR2ZBdXU2bGJWNVFvNmdwYThpdEU0Qk1JeHl2NFREMnhxRlBhOERuQjlyaEdkMmFVRzNQMzE3T3grRTVmbHVUbDlLOW1FQ1hkTmdrOVJ0Mkp4MnQvWGZoZXVpTVZVNURBcmljSCttZ1ErNDJsNEJyd0xJZTdLOXlIeEQ3TzZjWW80aE92WWorKzBQajRQSGxkWFY1L09QejgvTVZjdDlBN0hJY1gwNnZjRi9oT1hmVGdZdHdjTWEyUGtQM0JObWJ1Y0NCSWh3bUpqQkdlYkQ5RUFNQk9yenFCRGx2a0FTbWRCU20xTWY1Ky9mek0yZE10QW5lM29GeTRXK053QS9GT1VuTXpYT3F1cWRmMnZBbjYxR1ZMN25uZjBaZ3MraDFSWlJlVFBwc2N1T3RPaXV5dXNmQXVqSWpEZVhFb0FpNktHMnY1ZDBRMXpwK1dFZ1MwWEdkbEVJc0JYZHhpZmo1ckliamR1N3JHbERJSjEzZXZTa0FiakNiVlBiUlV1dndveDhROTlNQjBUZnNOSzgwdnhDY2JIT0JXODNIMDNXQ044ei9SckdIZUQ3NUltME5SNGZKamR3Sk9aaEZyR1RvaGdVQlg2QnVCSlVMais1UXVrN2dpeVpOTDVra0RHMHZhOVJybjFFWVJtZ21BYjhBY3FXc1RpOG0wT2VSQjFEWnBNejY3N2NBSHZRWUF4NHhIendQVGtGSUVVdFVZb1Z3ZGg5UVNFK2g0Q1N4d1F0WDQrTUc3bE0ySC9WT0thWHpSWHM0WGw0L2x6eU5kbmtjWU1hakpZRFlUd2RFTi9JOFE2WDVvdDY5WEZBQ1ppNno2QjZGQzVoTFBxWUdyVVhkby9LcU1abEh1RVkzclp4dGRJdExrWTR5TnZiYlBGcnNYREJXSmNBUDg1a2JOdHY4OUV5MGNMa0E3UERZT2xLOE5LZzU0NVRPeXFDbElkUlhoaUZweHdUcWRka2tEU2l1MFFrYmN6dUU1dGhhcGJEQXAzQnpFeUlkSEdremdYdUhIUFI5LzFwODNNQjlWL04zV1FtR3JwelB3SW5Ua3NiNWNXSHJTWldsY1hPRmhrN2RVUWRrSDVGbnIwYkhzdnk5WGFGelVSbTJWakFjWkNiTlMxUk5Rbk5kWGxWRi9MNEtnUTF1UFZEekZuMWxPT1ZmcDhsSEl3cHNLd1IrS1owTW56M0lIMXl6b1dFV2JGL1Z6Yk1lM2wxeTV1SE4zYzY3TWVtMXllaFhJYnB6Z2YwSThjaWtHcGhBU0tGOTQ1RU80aDM1c241SlN2a0pSN0dCKzM0ZTdxd21PbzJNenVIdDBPTzUrVmZSOTRSU3U3QklGUlZSdlQxMUlHVDBpYjZDTjJlVG1LUjdLMWZUQXhPY2htYlVaVE41b2JuSU8velZuQTZtZEJyRzlxNGU0UWhDTlJJOFBRMnZ2WlFKZk5HUVZQbHFDR2REOUlySVdhRDhuSzRMcVNtVmZFNW56Nm5EaGZGdVRMcHQwbi9BQndqQU1mMVhJUzZpbGM2NDRkSlRjUitLVG81MGNOYXBIeE1GTTVrTHNKQ0syalJ3bjZIOW1MZnlpSUZPUmtHTmMwdWFYK3hvam5UMjFBSFppeHpBVGMxNnlBYXVmWVhPVkZqc0dFTVlrK1l5Z0dOVUs3V2hQWXQwQ0I5SUFHeWQwdUVkK3RwVy9FaXBYT3hLTzdsSWdIMU54WkUvY1ZVdHAwOVBmb3p0NWpYbGZzSWREMEE0cFp4QVZrbWlHNU4rbS9UcmxVQUJqbDBkQ1lMQ0V1dWFCZjZFM3h6TzZXRGprU3RUZGxTMkdFNUt5dU5XQS9kWjZnOTRNNS9TZ1R4akV0THdmRThUaWJkR09ydnFnT3hEOXFrVEZWQ1N2LzdWNU5BRUY3cUZBOWhhd3RROTdKVFQrZmxVcGphMlJzRFJSeVBaT3FVRHY1VUloellhUU5YQ294YVJWTUVwRVdDanJHUjBnQ3FuUTlTQU9PYzEvdFcycWtETkQzRU5RZzk0TS9sNmhXNU1nT1hJWTZwdDBnME5KUFlPK2h3Qm45d2hrQUFBSUFCSlJFRlV3SERYOXJkY0tnQ0x3dEVOUnpxNFZEa3ZwZk9FdGxxTzlCdTR2NGo4MkdlZ2VwbHRLcEJrU1RQRG1IbUJZOTBSdGtZNnUrcUE3RTZlVldVUWtNWHUrR3BxYklKajAzci96MFFMR3V6MXFrTnNRR0NobS9zTnRkSlFHWTJrb1hoWFVRNDkxQmtHNEFpUGZ1dmgrakVCSG9IcmdZNmJucGRkZlNRL2ozSDdqNjBSRzhubHgrZnB0VHd6VDRwUHZkR05DWFRiZjB0Ty9odHV5VHVGcTJpcmpvZ2xDbFVtM3Vid1dJYzNTQ1M0RzQxMEprL242U3YyNWFsUEEvY1Q4YjFsVWpoOVNuc2VlaVVhWGxBR1B3VkxZNkJJd3NaSVoxOGRpSGdGK2VHSWJqN1VKY1QrMDRJVERKdG16a3ZXZ1lZR2U3M3FPdkZLQ1JodSswZndDdDNlUjJna3VzbG9id3RRajJNTWRTNExuRDhkM1MxbUNhQ2tjS3h4d1hXMVNSMi9iS0tPNHJwbHVwK0szWmo4ei9uOHYxTE0vejJmLzBmZUtWMXh2bzY3ZUhjVDQ0Rko1OENBeGFtUkRzNVVCTUVTUXRyN09Cd1hJLzI0c1VxY3BtM3Z6c3ZsVXpyUUt6bDE0SkM0bnEzK2dCL2pBNWp4ZVBtRVQ3Z3I4TmxYQnlLR1dQbW5xbURVd3JVdjBiZXNCcWM2SmpFRHR2TllNZUpWZFVMbFM4R0V0K2hHOGpXMnZUdDNLMXVCVnpKd3ZkaTAxZ1VxVWFDMmZqdEhBSDZxR1k5Vk5lTU1zNVpaNTdveXM3cDFMaCsxUkRjbTBEMy9KMEg1UDdnbDd4U3ZmS3ZZeVJQbllNWDJ3Z2ZjWm5pbmZBNWx4YWhRaVJYY3pKNm9sd2hpWERKNTZvUVdrR1lwbUlFRzdrc2NQOVo5bkQ5bGZFcEJBOTFzcXpqZCt2M3hRUTZRZGNmaGMyMlUzVmtIb2c1a3d5c3BURlQ0UGk5QlJPMkFzQ0lnbUhUM3Bvd1YwcVhIb0ViOVhyVkVWSEgveGlJZGpERTNUK20wYmRONWV2SWVYak9keVVLZUllQ1dOOWF6a0c3dFJkbTJXM21mRmZKbnBibTNtOTJZZ0M1R0tYLzBvbHJ4ZmFkREZUZ3lvNCtXVUhPNXBxMEt3TnZNU0FjVGFKTU5HS2V3SlhmY3dIMHpqSGRaQVNLVHpDQklTZXpjTHdiemRLdXdPdWkralh6NmZuZFR0YS8zYjQ1ODZuczdkOWFCcUo4NGhUdFpCNk0ycm4wSi9SRjVwajZPY1BUUDVmcjZxT2xxZ2NsR3ZMZDRWVjBidVZJM0Z1bmdxTFE1OUx3OHJSOTcvTHhHakFnNU1FdjNNZ1Q0bGtMTjNES0lrdHRNU3lXbS9zejlia3pHYkpMakRhREJoekpVbmRFcnZEaXIzSDRIM0FtOUhzenA0Smc0VzFRRXNFQ3pnZnNaeU40OGpVSktoL01jbVhqUjJVWXVrSVNmcW9QalNNa1JGN1dqWi83OXByRG5WU2lOeEdWbkhaQ051NCtDS0xVL3Fuc3ZsK2hiS2gyZ0ZRTUh3clVFblphV3VoeTBhWkVPdlZRZHdhQkdVRit3Y1p1Tyt4alZnRktrV1FXM2QwUVJ2N2dFczlKeXlRdk5NUU05bmpkZXNodVRRWnQwMlRpZ2dzZmtKWjBhNXZ5RlpLVWRBV3ZDWjQ1Rk9xaXR1V0d6eHU3cU14eU9DM1AwQnU1WG0zbUVBZ0JWSnFYejVJUDl4Tit3cW1RU2xmd2JOVWMzRGdhUkRxREVpbDNVcjcxMUlPcTNwb3htVlBkdUxtRUlXM21WUlNNS3FJVjJBNmlHbks0TW1HeWtPbjh4cDRNeWI1N1NhZnVhRG5TZkQxUzYxMzRUQWk1ODBZeCtQaldnVXlPWGpTNU5nWFZFSHF4VU55YWpOdW03SGVpa3BEWUVtZHN0eEFaeHU4RFp4RWdIRFZqWmNNeEkrUnBIMW9LcE5IQmZwdjg0VDlCWjVNWXV2NUthekpkOE5CNDdYYjcvNG0vTFNPZkpmZkMwa0E3WVd3Zmk3Z01NNElqdlB0ZzFUSldIWnhUUVVWSE1zUWRJMERkUnE2Z3cyN2NNS3AyYkJHemZjSzRGektaRktPU0tqZDdqOUt1ZUN2WUVIdDJSVGtMQXBSa0tya0p5eG0wclZjR1A2dDVGU1ZKLzg2b2JFMEErMHNaR20vVFpKTzdDYnZWcDdUWWVsNUw1ZTU0TThEWXgwa0ZKVlZxZFp5Wi9sNEo5d2VSU3JvSDdwYzREbjBDTW0vWG1QdEpKQmtkT2J5ZUxneHdyWHpZUlJwSE8weTlyZGw3Rjl0YUJ1RCt4L1VpcDR5SVBjQTNadUV2L2RNa0R3VklTK1hZUmFxc0VmVFBtVmR1YVcwcmZWS1NEQTBsaFFYNWhlUHlFdCtua3BqNEYyajdGbXpmc1FxWHdka3pBclYwbGZpZXNzNXlqMmNLaHc0WEw3aEVpTC96ZC9FazNKbEJ4ekNaZDZzNHhvTmlVTlFkTER1MlVBUWN3SjRJSXFGelNjejllb2p4NVRtbFRXZjdSeUYwY1YvUDIyc0Q5Q0FOM1VyZVUwbG15MHNuWTZDTWRvUUt1ZUpCR2l5T2RwOHFibzd2clFOdzVISVh0TnErSW05L3JHZ2FWb2V3cGRIMmlEbnZ3RGlZNzVsVTdtYnlsU0FkRGtCM0FaK3VXdGwxRnp3VW1CV2RicmNvUEl3SWNhaWx6Ukg3MVNzY3ZJRWlIZ3FrL1U2UWJFNmc0YUpPKzQ1a0ZYV1E3M2kvY21pNDBmb0xDUXJXR0loME02VGVRRWxNTStlbG5BL2ZqdU40OEJad3Back81N3JXR05OM0dxMVJSTGM3b2hIT3JKTkp4ZTNWeVFmSHVPaEIzQzI5S3lrZkdjZGw3dmdiblVwcVRLTVNDV1ZqazNCU1ZaaFFCSFkwYWJzeVVkekt4WTZUenV4Wm1vNDBvL1hPbnRGUU5nUzFOU3JOMHZUdm9EcUVqQXN4QWFldEJ4SUxQQytpbTZDUmFtM1JSZStIbDE4Zjd6L2Z6NStubGVQQjk5L1o1aEYvUU9iNDhTMzdlUDEvdzl1bFpqSnBFNi9mai9lM24rZlAxZER5RVlXeVpkbzVJeUZYcmVUY21VSEhVSnYxV1VPYWhXNEdhUkhhQnRMSU9jQ2I2YkNqU3dSR3hKdVRQQ2JUa1ZhcU9nayt5bjJ5NUJ1Nno5YTk1OC9jSGJBS1dtMTR5UnRQRkYzWjhBWDEyT2Vub2p5NFhqN0E5RjU2SHFwOUdPdnlsamtoM2lNcnVPaER5anVjc2F3R0l1UEE5WDhPVVhaaHVpeXlnSzZrMnRCRG9MZ3ZhRnFvVzBNRU82eWFucmpncjBsazNXMmlwSG9LaW9ZWmpvWlRoN1hRNHZIeUdQZnY3eHNQcmE1MHNrbmw3aGZINXhibFl5bTdtcDRpeVNYL2xBNVdvZy96ajlmK1NnQnVKVnREd1ZIMSsyWWNhL243MnZ5ZWRYYXpQMXFqZDlFMUR2N2c5U3QrNE1ITEFQLzc5VTZyL2c1QzYyMHRNNUNsemFhb1M5SzZhdGlmVC9iOGZFK0E1NnZKbW00eCtGYUo1ak8rUm1tTmpyUXFBa0tGUlBRMUZPdGpMWlVYOWdFR1F0Q1RRQXkvZ0Q5aG5OaDJCQlVnaXdhV3Yxc0M5cjNJai96ODRDRDZTTi9Mdk9JM3hodHBad3ZEaitmU2NtVVc2U0R4VUZwOUVEa3RuSWgzbjA0SWxMc2Y4N2pvUWc4YVJXa2JING9KM2YvMVYvNjVSVGI3ZjE3Qi9heVZuUHdQOUdQV3FYU3lCd29acTNrVURYTkc2MldKS3RONFN6aSt5N2d5Wmd1bzBaQzRnL1hMb1RvNmlIcDcrOHZpTUpVL2dDSGprYXdsby9hamNiVHlTQUROZWRrcXlEM3lVcEJva3ZaZEsvWThrcXJ2eWJBTndOSDdCbTZjSG5uKytFZXdPajEvb2ZBNUIzOGtqUmtHa0x0SXAwTll4V2kzVmp3bUl2YWdiTjlFYzZiaXZleUNDZU95eVZZZTdUYnVJQkZ3Sm94dUpkR2lSUkZBTGV3YWVvbWRHaFk1Z2RiL1BrdHhkYWlOMjJmbE1BL2NMc1pzNFFXZDNlcU80NUFzbkNoTlNFT2pZeWhEbXBYYkdHVlp6VVkzUW4weWs0eWNRTWVQNzYwQXNHWHZNeUF2RmhlejZXZ2lrV3RydVZYdDRueExwckpzdHY1ZVk5MWFlYmJDNm9ucStuby9nUWFrZExnNkIrOEVOcjJpdHhZcjhDNEhrWXAvZ1U1L3dFUUllQ0lyKzJITVQvUGVyM0pWR2d0S1pVMEhBdXdnbE5aZExsc05ScGcyNjVVZDE0YVpLaFZmdmY4R2FrL054R09uQUxzVFBaY3BJOThsQml0c1U4Y3FJRUplL29JZndDQjdvYUsreXFDalFqd2x3SEE0QjBGYUhUYUxPWGc1bHB5dkVLaGRwOC9UQW03Q0ZrVWlIWkMweEJva1pUdmNnR3FKSnFFSHFGS2hIUkFRRDYrelRtRlNGKzRqa1ZTOS9RVjUwYVA0QUkyK1pldmxxOGoraXY5aW5mRlM2OGt2alFSN08zeElSalBNQ2dyb3o2bmoydXI4T3hNS3hnNTh6Mll0cDIvVXdBcUNsNDE2MWc0c0prWTdDYk5uNUZyK0tRWHpqa0I0WXY1RGx4ODJHTWFnaGx3QXBuc1UxMEZBV2diZlV4b1REeGFtY1lMOGtwMVNXQW9vVGIvemR3NVFnNExFSXZFdU5CN2M5VUxlQnlUYzBKOUlodHZnVFlqQkl3VUpNd0RMSGE1Qm9ndHZCYkh1NUxVWDZaU25pd2FwS3U2UUxrdkw2VlQ4bWMyelNqUkpBREk5RmE5Y1o3eTNCc1ZXTWRZa2E4Q1NRcnNRS29TUlpjbVJyMlNlaG5sQnlWWlppdFFuMFNENm1sNEhpSVpXS05IQWZrYnpxSlNBcDErckFLWWd3b29NN3hMRGtCVXZrV0ZWRXJwM2RZL1N0Z0Z5azQrcUdUZ0diMlY4SFl1RjRYcGxWbDdpb1hlK1BRS3FtSGZQSERyWW5SRHJyWmd1aTBISkhaRCtTWFhDeHhWRENEN0kwajRCcUVMRUV5NHcwakFwM3ZWQit4OWdvR1BlUFo5cFRVbTVwcVJtYzlJK1Zqb2dnNEpEUTdzRnFLdTZUUjRIRWdSeDlwOHo4RzB5N3hRSWFnUTRUcHhmcDZ1aDI2bVY0S0V0RzN4WGFmUXhIdGZveG1XT1RQcWNFMVBESTYybkU4OUFsUjVYYVFTOW1hU1RTUVdNcjJmRHI4Z1JSaURSa0xjOUt3MjhPbEFidWM5V3ZkQTk2S0Y3SGZCbU9nVEh5Q0p5aVNqVHNNRGpDRUpQdlJLUnlrWTZmc1VVZHZyOE94Skk2Ynh2ZnR1dmJRQUFVTFBKTjl4THBySm90ckZ3ZFBwejZSV1lSWUY5TDZiejU5NVRJNCtHZ0sraVFuMHhHVWFSTm8xdzQ3UHRocjJscTdYajNUQVJNSzA5REFuN2dDN21xa1hHZVI1ZU05ZUpwaWRjYVhwNFJCMjl2a1N2bXByNStvaDBHcFRHTGZHcmFSMVhhQ3dkREovMllUTEpKaHNUMVk3OFNxVUdnNlVEc1RZcTFnUzhSZkVGSGhRTmZXTStOZHlSSmVIODV4eWVSRi9QUHdBVGNNTXdHSURNWVpOZVYySitXY0hQRGVBUDNucFByLzBlTmxBN29HVkFYTHEyRFNTQ2EybGVkanRQTTBMZndsQVJvaVE3S1JUcmVyc0xhMEJ4VTNWa0hZaG1kaHhVQ3hHWHMrbW9JcFBweEo1SE9xdGxDQWR3STdJeEZlTlVRYmJEMTR2aDg4bzZCcHF1Zmwra2hFNkJBSXBvbDBoTjZJSDhmeEtWSWlteUVMUG56TUZEeDk1citod1RJYVVOdmkzWHdNalh2VDNSKzBBK3F1dExsVnNVVDlGM25uMFBrMGRnbFBoZHVDd0o0UWJpbm5yaEdXdzRHQ1VYdGpYNU1nTGxvM082elNSN0hTVlQ0azRLZ2xVUlpqaTFOcVY4enY2ZERRMHloMTA2THduTi9TRmxJTzRybTd6WXNpNVNpcXc5NENsT3V4R215eFd0ZVlRZUpjWmhpMDRyNEdtYlJyK1Jpd1ZyZGpEUDBya3FHbmJsSUoxL3lDam9RUytpQ05hRVhjUm03dmhvQ29LZFR2R3FyQU1PclY2dG1lK1F3eFEwNEpUK1B1ZENjSzBONVFIV2RZM0FXRnprRlZtM2hPd2dHdGtWSjFRVWFUVEM1U1VML2REd2s0RVNRRHJyTWpsOE4xdzFjL2FONm1RTjg3eGhYSDROTk9sUVk3OEtSdlozMk1vbWQzcTdSanV5aHdtSDFVVDhtSUYzRVExK2s0Nzg5UW5pVlV5WlZLUm9lc29icEZJYm00R0pNcU1RS1huVlJqaHcvRkpYbkUwSmdpdDQrS2U2VDh4SVhOZWRvOGoyeTVCeGw0RVRMZlpuNnprOVFHREZ0NE5sTWFoeU9MeUZna1Zmb3R5S0ZRaVczL2lSaVUyOHRzb05kei9zdUpIcmVxUzBkUzNldm9BT0pkS2lma1Y0a1plekd0UkNBcnBualZSc0ZHSTEwMXMzMnc5bUhtMEFVNWgzd05JcGZMb0w4TEpsZEdoaVR1UXZiWEVxWVdvek1uM3ptUXUvU1J1M00yN1IwejdVYTBiT1FBRmtoL0ltS2xDNzk2S0p6ZDk1UFRjM3BNT2pDTnlPM2ZEdkJoRzZuWFVseVJIMnhFTW5UbmlSRVB5YlRiTkwzdit2N1ZGTkx2ZDkxbncxTmpGOFZPc0NUMEMzb3YxeElnUlM4THFJWU9ZbzBjc3FKaFMvMmVURTVVaERadDl4RitacEVnUURNeFc0TjNIdFdydjRmUXowaFA4OW1TcWkveWxDaXdEN080RVEvRnNvRnQ5MjNucVJSc24rTU96Z1g2ZVJMWGtFSEFwSDRGTGlIbzZKT1NRMjdzUjhDMERWM0dlbm96ZGJOSUNJcEhjTG82NHFxK2VKOXJ4c3hZcC9BTnBlTUh6eDVGUE9RbnEvcHdPdlZhRGh3SktPNlZqMENBdDQvSklON25wYkx4T1pIbHJSSy82aWUwbHJ1Y0VpVGpETThvQ2JkU2JkVDZhcVJUcDUyR2k0dExMV2M5R01DWFI2Smh5clYwcll2NjNRZmxRaU9GQjFmYnNwLzdwallTRXFrZ1I4eFFnNUVPalJpQzJKTG81ZmNIeWN3WkNhUWgvcWxjT1lFWVpORE1oZlNjMDlmOFQ0bkgvZk90TFgxTGV3Zm9kdWtvUVdsd005ekpPYVI0UkM2VFVSUG1TTHhMZDY1TGpqeC9oRTRGS1Zya1k3MGlsZlFBY0VwWGdEM2NCU0hrNlM4M2RnVEFlaWFTVjYxald2d3dWSlYyNnBUWWw0WVM5bHNlY1RNejFEQW5ndW1EdndzU1J3ZXRFUnp5QzZQSXpIajdGSmpMOEYzOCs0NHB1Q3ZnMERGMzJyN0h4RHdZMTdPYldlSWJsczgwMkRtRnZkYjRqaDRRSlZERnRRbXA1aXFWRFhTeWRNdUswU0d5Zkt0UmdnRFFoTnRra2NWZE1CNFJKWWVORG5qbFB2ckNwRU9UUzJTQ1FlS0JQRzlsNHlSOEZmOG41UWpNZXV3REtLV0t3QzNoUzJEN0ZuQjRSUE15M0Y0am1ZL1lVTTduQk1qQXFibncrSHlwU3JCQVhtODFKcEVHYnhBSlJkQUpDV1NHK3dKNVM1R0tPUmhFaGpsSWgxMnhuR0FkUVVkU0NUanZrNDhVMUxPYmx3REFWQ3d5UC8xemgvYnVBY1RVUmhTbVdhRDJmTE16Vzh1RmlUUmFvcWErYjV3U0dhVVdqVGRUc1pGMW5maFVhRE45ZW1qWUl3dWZHS2xHNmlBQUl1Z202ZEI0L3dlVFFVY3lXMy9xQzdwaUNzR1VuZytmTTZSVG94dlY2U1RwNTMwcU9CS2ZkR1B5VVNiM1BOWEljZ2t5K1lVQVFlbHhSQUp2WjJORmFDYUcrK0lma1NGTGltSVNmb1NIejFmbkJ2Vmpsd2QzWXZuSktJRkxORWY2V0JpNVBqOS92WDEvc3hhVzVKUXRMblZCVW1iRXladDBMbk1vbXRjYW9CWWpTbWRYMElpQ1hUYzU4YWlsRWd1MHZHdlZrZ3NyNkFEQ3dqK3hDSWRqOFF0L2dmMWo4ei9qaUlkbmRtNjhUNFhMNkFuS3ZiSzg1SytKZU5NR3lNN2pBMmREVEcreTk0NnVWdHNteDc0UUdXWmw5YUxwMDhEQW0yaGk2K1l3eXh0eG1lMzhvbitYSG5WUFhZY1NWSHFqQlFTNm95VVg3cWRKckpxdE1zYWtmQlN1M0VUa1E3L2RCT05jZmduL3BwS2pmL21aOXpLK3VqSWhLSDA5cEhPKzhsSHhKd0prRWs4emk3SWU1SFVLRk5PSDFUY1EwYnA4a0ZpOWd1cEprWU5ibmpKT24vNHpzYUVZYnY0U1ZZNlVwY1hGb056UkxXS1gxUWVMdmw5cjVRSHY3d3U5bms1UmtScDc4a2s2WEtrczVrT1NBYmdpZ0dXRVZoU3lHNWNDUUZRMWJ1TWROUm1DN2k2ZkVhcWd1anF5cDU1TVJFZTk5TzVIM21EK0RZemxsQ2xzc0tLMXp2Y3h4dnBzTDVlbDBvRUJMeno4cDYvVHNHUDByRndwVnErL0ZSSFRraW1zY3U4U0tkQU96ZXlsUVN2M08vSFpLcE4raWt3S1dBMlAxR1JvZWtSdDZBZCtLRDByRWlIeGo0eEdxWjgwMGdZZFRobkxxb1ZVUWVqV2tSYnd6MzhYQWwrNXNJZlBKU3JMT1RydmVudzcxNzRsZ3IvdlFzNHZ6eFhPd20rZXZyaXdnblJReG15WUl1cjBaQ3NScGpMN3pTN0FvNDlRUzhYNmJDYXhhUFdGWFJBQ2daWDdKblNZU1lwT0hERFNXLy9hZ2hrOFlVS1cwWTZ2eDhGbTRYbzQxQjQ5SzRaamJWbWkwSzc3U3JwQ0FaRTBwc3BUTG41SUpUS1RnbmQrQllUNGJKcmppT3U1WHN6dnErK3ZoQmdLN3hzVzZpVDhLVTFQWUdVL0tnZXFWSzlrYlduRk9tay9VTzhwYU1QSzBSQ2syNm53MHNiN1lTcTVrWS9Kbk50MHMrQldSZXFZNXhHckhLWnRnYWd0REFINkpIU0dMSFlPdFRKTlUvUGN3K0NlOFJjcEo1VVQ0eXNRUVUrSFlsMFhxSW9nSDFBU2NpZ2FXOTlES2ptcjZwWFJjejd3aitaRzdUcVQ2SFlzMDhGcG9ialM5SC85cFFPdWRKOGF0c25kWUxnMEs5YmhyZllHU2ZaeVN2b2dJQUNMN2pmR3FlekNaWDZEWTAyL1BreVdRZ0JsY2orWjY1ZVJkc0V0RjJnVUJhbDJiTE1OS0ZMODZ6b2VoU09wL1NMVlp3cWlsQmxiVS9jWjg4Mm5jc3V2YWdOL2FVSDNHZFc4eU5GUW85OWNzTmlWUCtvbnJSOXVkRVdqZkJ3ZUtudHp1aDI2ckRiYUNkVU5UZjZNWmxyazlJR2syU2pSaFJWR1pkQUZPRkxwU0lJS1lwdUcrbGtKeXRrSGZXMEpabHpSZ29GOTlCa09FSURFWFpEMGMwOGNXSk4vMGZoTU9rWHdBVEZsMXg4QkwvWGQ4RDdiRTZ4QkJHemdFNDZFNG5LaUV1S1psSnI1RExPcFlmRFVZWUxkeXZtblc2THRwS0wyVHFRTkdDUmp0Q3Y2MTBrUFlNM2dKMVF0ZURPekVqSEQ1bU5RdWVEZnNHLzlOK1FSSTFWUHl6dHBnc3hXYkNPTkRjUTFuUG5wTUZKOE1JaGZIVGJ0WlI0SGpMRXVQMU1VL0tXaDAzZWJiaTZFS0NoWFNudnNoOVptOUt4bkU2bVQyNGwwbkc1UjFhRjBpaVQ0Yi81RnJjZ3dwY0tEU2d0aW00YjZWQmlLekoyZGs0MXY4RVRoS2dheWFUZy9oUTdWcGRiVG54REFwTGJ2c3g0S3Y0ZXdoL2pTNmhkYmlUZU9NUEtwL3NKVUpjNnFjYUJTSzhwY29iMXZObzdFUzc3R0lTQ0xxd0o3amdaRXI0VWtjNXNIYmdBNjg0czBsRW82eDVGa3A3Qkc5RHdocEhPMDZzYlladmtPOWE5RDh1aE1kdEZZbWN4d3JWU2hsYVQwaWxzMCtFMXNjaFp1SGxKRWlLUS9JbDVMdndWVGp4cWhjZnJ0eThFSEFLcUtaaC9PVjAvTFBwUlhWOWpuWGYzamVTa0lQbVRkUFJoQVpQU2REdGxpOVF5QmFOQU82R3F1ZEdQQ2ZUYVZKdDBiOUlBMlNndTE0aWhMOFBLcHJGZHBBbWxoVGtPUkRvMGhBV2pZY295bTNBRXFpYlBpbnFTcW9tR2UyenlFRms4S1dPT1hNcnhKbmZvZDRlNW0vaHZ4QjgyNmowaU8rN1V6Z0xHUUp3bVlXaDI2dWtIZEpaVERuVUNKV1dqRGpKTGJvS2I4bjBGSFZqWTlpY01XVTFBWDlMKzc0OEFhSHprQUdibWRNcnl3RGhRdGFKeVRmOUVZN2Erckp1aHlCRVBqRVBGUWpicjZmZW1DRy90azc0SldRN0x0SU9BNTlxdEJ5aVhuSHl0NEg5QWdKMklicWh6aTMyQmd3bG9aay83Ui9Vc09iNUpqaU4xcFlWb2hKMWlRbzV1eTM3SE1tMjBFNnFhRy8yWVRMZEpOMkNjMDNkN05ZSm95L0RncVZWeUtDMXNCM3FrTkVaNDlyR0JIRE9rcjlWSWgvdEN0T2RzTlJoV2M2UlJUMUlWMUVRNm5OMlZFeUdPcmFxYzVwaVllTytiRkIrQjVLUGNXMjdPVnVvVDRBbWRXdVZ4d2pXOVgxN1BBYkdYdWd4SXJ1Y3ZpUEdOTk5EaGxjRkx1YVR4bXIvdTFJR2tEY2EyQlpLRWhOM1lEQUhRMW90aVVTdjNFdWs4UGVuTjFtMFdFMk0zdWlMcGlBb2daL2ZqT0VjWmVVRVhXaVFqcTJiNm1MWWVCQ3JwUTgyZGdJQ0xYaUorczBUY0NseUxGM09SWlBaenN0azJORGZKY2FRTTMwdWswNC9KZEp0MFNicERrbXJVZElPNkRMQU5SM25zbElTZ3FJZzhvTGRMWThSNHBFTWphRHovSUhZemcyYklKNWJKRFlUcjNQUGtSdGJsZ0d2YlhnaTV6NTIvZlpJQmtmRDVLSTVyT2QrUjJ0OUNWRHRUOUJXZ0d3K2l5LzJENEQvSFY0di9qQ0lkZnYzOWtJdVcxcVBkNlRvUXNNMm5qR21PdTZTbzNkZ2RBZWlkdTQxMDRIc09TclAxRzBsQ3Z3YTJFZnUrUFBya0dhVExnb0k4ZW9RRTRhWmJVa3RjTmxsc1FpTGYzT1Z1RUtoY2JyYWNCUVRjQ29aR1l1ZGVXdGp0SDlVcjRsaWtzNEF6T3Z2Z3ViSTJDRm1hYlR0cGMvUlFXZ3g3QTVFT1RVV3E4UU94RnZrNVZaNFZLK2EyMTYxenovNUIxaTFraDl0Z0hpLzkrLzVNdG9YQ2xYV0NKM2psQWpnaFNoeGRoVGtNaktxZFJIVS95TnY2enhESlNJZXorT0diKzVmbXJxQURsOGJkR2VKWlF6U3BZRGQyUkFDNkp2SUFvMTVWeHp4TWJ6U2o3am94bmRtNnJ6b0Z5Vy8wUktxVURvY0xVVWdEQ1NYVTZuTmt1bTdGUXJod0VLRkFZazI0SUZCWks1cC9IaER3c1VpK1lIalhsNHhFQzRzazU3Nk9kT3hKc2JZYkR4THB0R01DZWpYWEpqbk1iUm1XMm5xS1MvUG9xWjNTZ3BEQ1RBWWlIUkt2UEdUVGowSkFjeEZubWp3ckdkQ1NZUWhBVVhCUFE3WnNNN3VJRmxEZDhmU2RnOTlZMFFJT1hDSXdKejJWd3NnbEtMNTJDc05Lc25qNi9wWlpiK0lmMERpUmNvU1J6aHRQRnlXaVM2dFgwSUdsYlg4Q1NnRkhUUkY5U2Z1L1B3TFFOWE85cWxLRWFaRU90cmR1dGk0d0NXSWJUSGRtN0N4bHZ6QVI0N2xIVk53dGJrZDM4MS9laVF1bDE4N1hORGtVUVNVZzRJT2VWWkg5UzIwRmp5TG9MeGNXNlN4UUxDZjltTXkyU2VZa2lkVVhUaWVkWEMzU0lmbHErc3BtR2FrK0Q1eDEyY21BY3NCQkY2M0ZhVituOHpFS0xyT3pvem9IMnoxbFppcHh1SXVGQ2pNZTllSS9Td0NSU0JMb3dLNzBxRSs0N0J2NzFzK2ZMeC9wZlB6d3F5Mm5ZaGh4QlIySXU4YTVXS0VYY1JtN3Zob0NzNzJxVnBDcGtZN1BzRlRNMXFuaE1ndEJINVp6WVNuL25NV043M01RRVZQZ3NzbTZqMmI2R0RjQTEwR2drbm1xdUJVU2NFNmpOaUFRUmVmZllzbnFyYmxWdTJ5aXYxNno4dlRPY3pyOW1FeTJTZDUzVlp5YlYzcWc3UkdOVCtvRkRVV3M0SnQzcWdzMThqdVNTY0FvcVBCMTZUL3BkTHpqaE1oNU5mK09wbnV1T3ZWaGpqSlVGaU5hSlNNVmNFSjhMQzRvZUxEOTZZZGdsOXFqclMySnI3cXc0aFRZUTNSNTRHczNTQUx1UHYwdzhsZHhEdmYxSGZZNTlSU3NJdjRVZ2k3azV3bzZFQUhpTXZkU0wrSXlkbjAxQkVDTElpTy9nOVdyRHJQMVB3bmhSM3FVTWp1aFNIcUNiQzV4Q0J5OGVOUHpQeHhCemlNR05Ickw0LzFWMSs3a1NNZWxtd3ArYTVHYUUreXRJVXYvcUw0MG5KNVlwTE5nTW1LVDlCR1Q3TGJhaGZ5Y0V4NmNWQ3ZDMEdCRHJCQ09lamxXYVJaVFUyeUt3YUpRajFYVzVRaCtDMk11WlFweWVZUUc3Z09Pb1ZiaWJvUEgyNTJpVlNlN2dTazRxRXdPM1dzYytYZ0dKMUhhcnFiZngwb0RIZmpWck1TdFhpRDRmZjkrOVIxL1BIMys1SHJoVXByRGpIMTFJR2lkVHQyODBvOEo4V083dmk0Q3FlbU5lRlc5TEFNNW5UNnpkWHJvWm5ib0hLTUlyOEE3SjRNU0c1S0xWeTh1a2tmc1VnOGdTZml5aGZhQzIyRktKcml0UHcwSnVQT0tiMEc2dWxJSkJ6N1NXYUdlMUt2ZWVKQklweDJUVkRjSGJKSi9PM3JUbi9aMHZjalp3TVJTQ24wTVFvbzBReVVyNGdjOHRLMHNOWHhRczJiU3BJZ3hzYUwxVmdqdHFWQnU2SUlHdGR4Zk9PWW1jK1F1WlRZNTQ0WVRSVVRZSWxSRTgxd3RuNlZUTC80alJYQVBTZU53Ty9pbGVkSHU1Y0wxdkdacWlNTHNxd01YTnZuTStjNHI5Ry9NaVYxbkVFajFZOENyWnVpWGJ2VkhPcDFtNjc3RjdqYU1vWkFhKy9HdlU4VXpDbDRSOEpNYTBIR1drek05Y2JxYjkwa3MwOGU4dDg0QXhZMjBiZndUWkFRQnpqZkZlNmhGK1NlM1NTZGRVWmZGa2l1TGRCSkkvSHQ0V1IrZmxnN3ZUTFZKSGl6MmNMK0ZoR1lvV1hBT1FtcGpoZFZJQjZjZHVhSFVOd2VQay9lRXhJcldaeUUvUVRNWFR5WDhEL1MwM0YrcVVjQlZHNDB2UmFlZXVTRTQ4VHVJU3V6WVJNTllJUDhtT3BLc0JVbUNETGloYk9yb3BZRDZwWEpEcExPL0Rselk1RFBuYmVQYmRuMGJDSURHUnJaMzQ1Rk90OWs2UlNTYjA2ZDBZT0tCUnh3VnljV3JaMi9KSElYRjNvUDhwZmN6cGVsalJoMThvQkx2TU1nVXpkOFNCQnh3VVcrTGlqei96NnlvaTFLWkM5OVFiYmpKVkt2ZnV2T2NUajhtTTIyU3c0OVlJK3ZBZHo1bG00Z1dpWXEwUUVodHJMQWE2V0RVa2w5azRlYmhjZkxxRmQzenpCNGxMd3ZUU0RocmZYQmZ5LzFDREhQUlZUYVhrcE5QcU9GVUVIUUlOZFQ0aDRHZ1VFWjc5RE5GeUJQRGI3cm5KQUlubktFc1NqWkVPdnZyZ09BVUx0amc2NGpHZGV4Nk53UkFrYU94NzhZam5XNno5VDlhaDlOYmRNckthUzRaVytMdGFQRnFHZGVQL2cxV1ZuYmhBNkUxR3JKOTRkZlZpY3pTOS8xanBTTWhDWERBVmJGRUYraGszZExDVlBiRWg1OEpUdG5TeXB0M0h1bjBZekxSSmpuMGpwT015ZzVvTE1adGFiVUhoQlIyQXIxZFluTTEwcUdXNDhsSXdEMXBraHhWT2MvcWtyTEZyYkZZTVhLUFRMYUJlODhINllQaWl6SysvTHovYlBpSjMwRUlmRmIxSE9qREFBQWdBRWxFUVZRNjM1aFQ0YlJMRzJhS1QrQlZmRUFwVzRGZXEvUVpsVzJJZFBiWEFTbU56LzVQZFlGeEUzYmRqMEJxeWpjZTZYU2JyVjlPQUxORFE4MWJYd29rRkUyOUhic0E3NWsvTGxNakt1MTNQVHRpekxGM21BZHRpT1VuQ1lYVWI4cHBlc2RIT3V5cVhDRGpHVW1LOHhkSTg1NDlLU3h2SUtCNFREWHpPNDkwK2pFQklLTk82clZKSHMvVnl3eXlVMXV2ZUE3aUkvcTEyaURrdEVpSDlGeFFrNjNUZ0NtdGtxWXFmb0x5WFBBRzFJV3luaVBjd0wxbmhaaW9NT25MemYvUGViMmtZNENodGUxYnRNU1htUlNpUHE1RktWNk9sL1BoNXkwOGZ1RDRmdjVFUEh5WjBuL0NUTmZVL2pvUU04MzZuNGFGY1RtN3Znb0NvRzZUdkdvYis2QVdsZXhDaFZhLzJWNStFcUlocGNNN1VHSnZ4M2U5clo4dVV5UGl6a2RBTElWTFFyblowM3VEMkg3M1M3ZnhSQVRjRkUxT2JoZW92OWo1UythWHB5c25vRVo0OUhWcGdYYUJJZ1ZBcVk5azdoTlNWRG9Gc0VaN2xoRFVSZzhtVUhHT1RYS2ttMHFmb0RUbEJvZFZXdlJBU0RIc1EwZVZWTStOZDRSbm5sTjhWS29OTldoZFRhUXYySXQ0RGc2RlpSVENMNXY3YmVEZWNVenpuWUxwNVlXYWRoZkZQd3J4a1RSMlYrelg0aWFkQTRtMGtXYUs4YjI0cXI5MndSSTBsaDVKOE9VcitmOXMxTHE1SVpMZlZRYzhrLzQvYVZsc3VmNmgvYjgyQXFBZWtjNzJ6aC9iSk9tT2RQck45dktURUNDME5xWEQ2dXRqR2k4amV3QjNGUVl2NUJzRmJmYi9peEcrNmpmeWtTOUMreFgwUEF1YS83NXRUOENOUlZuZnpjLzhaOWcxMU1NeXlDWWU0YjNCYzVjVFNhaHdRM0dQNEZ2TGNDU2kwZDNFb3piU1RuaFEzYUNtNFkrcWNGZ0k2a3l4eWQzZUwyZm1PYTdTaWd0Q3pvdDBjRGoxU2g0aTZjNkpzekRnK3prZktRUm1MUW9OV05UR1NVbytjbXZnbmluaTRrcnlucmRvYkxzTEVEK3hDM3JMTXRLeURBY3UxSWllb0ZOTUtVYUYrTktGbEZBaGMxUzZqR3U3T3FvQWNYY2RpT1ZsVVhkS29FTGpQd2VKMzlzaFZQR1l1NUhydDZPcUIzSk5mQjBxMGVlbHdnNnlnQzVGK243amtjNkEyZnFmaEdnd1ZON2NreXpLVUhiRWo1L0hjQ3BCODg5TEQrS1MyUTlONTNqNkJFT3Mwa1VBRFpjTmlqc29vTDV5bWhBb2hqcS9QUFhxTmxQdnhsWVlhbm5NTWVZbFhlYnEwbnA4K3VLSHV5MXQzMzlSTXBteTEybEhCdEhDZEZpMkc1TkpOc21ybFdzTEZDSEhnK2NzY0JLRDVxbEM0WHFrODNId2h3Y1MvL3Q3OG1jZXNUL3pJUWszVHRwOVlRenM0b3NVaG0yeCtBNFFqbDJ4UmpGQmVGRG5QaElhTGJINWpjYUlSdi9sS1gzSjRBTWlQWVdlT3c4aVJ5dWNKK1JoU1ZoMGhnWVZja2VTWjVMMS9hZnZ6OGUxM0JQVzIxMEhKTFB1cTJuaFdCQVhtSHdOUFhoUmFhQU5TdDRka0ZSWis5VDhZRm1Kd2pHL0hUMHF2b01zb0lDUnd0OTRwQU1kbW55RVNtbTIvaWNoUUdaMTlFc0dHaUVFdllRelFtZnN5NHRYMUhrVUExME1FenpGZC9qOVRsazQ2dTc0MG8zZWNRZkZ4Y3JYS1FGRUNnYUZDNE5VK1pjZDBra2ZoTVZ0RWxtZ0xFd3ZMcVM5L3ZqOC9EeDVpdWZEQ1M2UnM2LzBObzQydXR1dnI1L2tCdHBvYXpuT2x2TVNOR01DT0VZYTEyV1RITHlLQVRuTDU3U2JMTEN5UVJCU2xJVEtjanoxUzY5UU1IZUl3bFMyb3Ixa2xjdmdESjc3Z3o4MVIwUytpOXZMVUNEUnpnSVZQS2h6djVTa0V3d1kxQzVIVnAxeEJUR3ZuSlgvb2tLcHBqVlFEZzQ1MVVPM1VnRTc0TmdubFlsSStpYy9NSDg4UDM5K3ZwN0NOVXY0aU1BSkxQajVPZDhiMU9MdU9oRElTYWVjLzhyTEZKZWRjUTE0Q2gyRTlpTy9QcU9WSi93OGkyaW5qU3JvWGpKZXB4UjJrQVdhbU9GVlU5NVg3b0R0MXlaaGxkb0RadXNXTFdKWUs0MXhSajdWWGpSMnp1bUFueFJER1JyM01vOEdKVUhieERHSC9HdzJJVlZzM2djcUtwZVVvNUloNEpJMy9BTjZYT2VEY2s3bmwxVEtITTM4UFpmbG5oUHBaUHdqOHBZWit0Q3l1WXNBNGN1Qm1LZWxhUWJaUmpzdnJQSnVOeVlneUFTYjVGNGQ2VlNsbkVzeEhwdVUzaGFFRlA1ektOS2h0Y3Rhd3hUaHYrTHcvUHQ5NENrcUtnaWFMaGlKWUdRUmh6VkxHUGZ5YkpYN3BTU2VZS0RUYmNTQ1V1Y0ZXdjNMdHhQejl3MXpWUzhGb2FNV1hGSkdxQkYwMVJJMVJzV2pTeG10UUt2eXlJZExpRmJwcUlXTFdHZFBIWWhrZGV2bk9samp1ajNYSUs1b0xMR2dIcUpwbmRGVUVheWh5eEV5YmFMcGkrbTU2cHA3QU5jRXI2cHBTWmJwajNTZStzM1dmUnluWVg3RlZwZnhkbWpEb0djZnB5U3poMk1wemFDK25xR1B5VVhRT2dLY3ZSMlN4UmlKaXJ6eXFkK1ZKSytzRkY1bENYeXcrems4djcxL2Ziei92UEtBL0NxTUppU2lPdmN1TGUrN1ZDUXVoUUJCV0tRNEhsL2dPQjdobE5PeU1EVEZ0MTJrRTk5MmtZNi9mVVFpN28zYU50b1huanJPdWpHWllwTWM1VmJtd0IwU3JWVEJBWFR0eGVXRkJKUVVLcGY0YWVwdTZEclVndkJ3dlNrbHc2YXJvKzh2TVhjZ1pYZjI5QTVObnZHR0dNWVhCbm5wMHk5UkI3ZnhkSlg3c0R3NmtWSWJZYmt0ei9tWHdNR29VR2h3Z0xXUUlPVER2Y1VRUmhpb1dhTHJ3dkx5M0FmNzFHYjZSeGIyVnpnME9Pc1ArcDBkUWNpSEwrLy83NjBEdmwzMzMwMmpNMk5GVkhEV1pkd05pUVZOYVFpOG1EUzFacW93RlYwTmRYYVFCWnE0dDBnSElnWWFSTnJObGxQV01hcTFycVBNUUc0NlJxOWtvOXRJZjhXS2Y0RTM5S2tVbklINXFvY0Jab2xuNVkyVlFta0tCTjc1aDRFQkIzZWNma2J0azFkSzFCNHdaUEpoejdzeGdWNFp0a25PWFVWa05vYWFBMnRsbXlDa0dDN0gvRFRhNlVxTytBdCtSd25TT2Fmdmk2Ny9uR0JaNS9OeUhlR0RIVmp3OGkzY3c4aDluRElEaU5ocnZBVDUwVjhkWGs2ZjJqQUhXM0JhSEFnQVJHb0JSeU5iODRydnJRTVI1NXhiWGxIQ3FNN1E1YW9PdXJuQ0VpNmUvQm5QL0FxcUxYbUM4REUzL01sQ0sxZmdpd29UaHFYaXFpeEx5ZTRUYUNKeVRUZzhkcE5UVjhUQVhWMDRMZGhwdHU0bklkWndEOXA3UGh3S1BmMEdXMGtPcjltNTJzY24rZFF3Zm5pSDcwY2NHeE1uTkEyRjNtaHhUQUhydE1JSzFYTUVQc0R0Zzk4N0hGOWV2N01pQ0RyckY1N1ZHYlRXVzd1UEV0MllRSStOMmlTNzNaMEhKTXhkcUVkQktEa3gwcUdOYzVPVmp5YnBoVENvZ1h0SWdad0NLaiswNSt3K05CaTVwTGxlcUpEWXk2TG5ia1lXQ01GbTU4NXFPaERKelhPTEhVMHU3b2RrcnVDNkRzcGxEMDJrQTVPWENSSUJsV3JDdFRGSEdnR3Z2QVFNUnIycXNpVlpiRERTa2NUMFZ6d0NUSGFKK3ViYlNuWVBsYjZaWVFLZTBPcC8zMUozVUxiYXd2MFY2TVprM0NiNTk4dmtQdEx0QVdUalVyWUtRb3J4TXZIVGJmeGlQbW5GbTdZUjVNV3J5RGN1SlBUY1E2QWorRG9xTi9NdVRWMzd4SzFBTGNIYXJhWjArTzByZ2ZVNGRMaFNWOUtCaURvV25aQUFpYWhXTHFHMXVnV05SenBJWWVuNENpdHJqMENINmxzd1ZtVlphMkg5T1RRUjllUmQ1SFRXQlN1VXdHUnNRMHFuUUdXZjI5M0xINTY5WVFLZTBPcC9YcmpJWlk5V3F6NXNnVzVNL2ptZi81V28vSHMrLzVlOFU3K2kwV25aRjE4dk8vRXAyQlljT29KUXNPNm5kV1I4S1pwOCs0czUveEZFd1dKQU5uNVVqTk5nL0pNNVlTMCtRV1BYUGVWTTNUSlM0ZVdOemhSMzFvR29XOWpjZDV6cXJlcGd5M2NhSW1INEVpZE1tc3hQdG5KNEUzZDdsVXlKeXNYUFp6VWNNREh1VlFOaURhZFh5dW5RK3hSVnpCdGsyTHBvOTVaV3o5Z3dBVTlvOVQ5UGFDYlp4V3ByOTFHZ0d4T3d5ZjlJRWY5elB2OGo3MVN2T01MZFg4MTUrcTlyZDdadnd3emExR0VHdlhOeFRxVGxIblJBRGhVZlpaclZMcjNpUXhoMTRQQjdEYUNQaTZoY2tVbHFlbDhkaUtSbG93djJNMFhQcDE5cWRSQWE5Z01CZG1RREgxQnRVbCtESFZSenZRMnlOUEF2aWc1N1ZVRk5md0dSVGxWMFBhWEdrdDhuNlhvYXErOVpuQWVPSnQyVTdBMFRrT1FxVjd4SXZaYWpyQkI0d0VmZG1JRFp5endBdlRPb1I0ZzNvazhkOW5XTnR6UTgyN2RWQXhNZCs3SVVDbE5NWGlpNUJ3Y2ZrU2o5eEpacys2YXVYRzZTOVFtVk9oTHBkcGpkVndjaXVUa2dqRzV1ZWFuVVFXU2hMOUxCOU4yc3lBM1FpWHlhZ0taQkZsR3Y0UUthaURoQXhXNGcwRmtVVmdBbmhZdWRETnhCTmJhZGdkNFlKcUFHeVM4SlJ5dWg2dnFQV0xBYkV6REFDTWVtRldYT0pkWFh4YmZCRzExajRrOEtUVUZCa2Z3QlhSMmJnaUJHZ21LaFllVnRYQW9wYjhhTTI4cHoveDEvZ3VJWGRPSWFIYU9VT1YrTUZvVzh1NGJKMDNWbXFIbmVvcnU3Nm9Cc0c2TXNENUo4c3RXVlRnZXA5YTVJQi9zOThrUDlvcUJycUZobi9EUnZULzNOUTgxVW1pYXYydC8yUy95aDNuNVNqMW9UK2dZUG56ZHVGNVByRHhCUU44bDJIbTIrVk5kK3pJTGRtRUMzUlI2bXhTWTV3SW9JN0lOd3l4dGZJS1R3Zk1PK3JSNmFOQU9BRXo3Qm9LQVFQOHh5anlFbmZOUEpIM0NGeDgxbVJJU0E0WVhiV28vVGUwenBYQ0ZaR0hKVE85OVZCeVFqbk1HZHZDRmFOaEZkUVZjSUJjM3FJTmZwaW5TdzIyZHNSMllXNnF1ZURiSkVLS2d2b1luSUtiWjRWWFV6VnJBZEFUZVg2czk5RFJQUTg3eGpVM3Ftcmx5eUc1TWhtMnlKTnFZREJKeHJJM01vcVBYVFNqYnJzWW1TaUMrR25WY1p0alRjdTFVZktDcU9XZXNCbnRQdC83TkswVGdCUStZTnAzVDQ5U3VoVmlQb3JPaUFKTTI5dldmQ0RyUktpRG81MHNGZWowSURLWEhiVlQxR2JwQ2xyZGxMNlZRY2kzUXU2Rnoxek9jRXlqbjBGZmFHQ2F6UUR4K0RIdUZ4MDI0dzVIZVBjNGFrSFJPb0Y3a1l2VTI2OTh2bnpjV2FnT0s1bzZweEVGTHJwN1Vzd0xTeEVweG9xWEE1SExncWNpaTRMd1E2Tyt3TWFKTlVVZHFsQkg3cDR6cGphNHlLMW9hSzdLZ0Rray9HU0tpMExERDlTcUdEdmszWGdWQkR2eGNDZDFoWExNQ1RWditIbmltdlRrQmJBcnBLMUtadU1Db0lUWFI3MVlpVVhjNUZ3Ty96NlBiZXd3UWE1QUU5cHFPaHlzTVg3Y1ZreENhcHpjUHN2TUh2czI2eWloR1pjbmtEeXMzMmJhanZrOWFHY0pKUUc5TFh1WGVKRUNnb2ozdWNDL0QrSzloaEJDTm1lYlM2Q1h2ZVVRZWt2TlRMdTRJRExXb3RxQ1BTbVp6UzRjOVRGYjFJZ3l3U2R2MFZOR0dSamg2dVBVdnl5cTkyaDJlR3MyRUNHWnFsVzk2V1NzLy80djFlVEFac2NxUDN5N1Z2REhGc0hiM2lrTy82TFh3YkJGcVR4aHJvdXVvTEUrdmNlK09Ea3VMb25yZmtZZHpuTGt5eDRUaGc5OWJpdjMyWXFiZXludzRJUGpoL3Ztdm5RbWRzR09tZ0p4SGtoYmdkRjdnV1dMVE91REhMNlhRZ2ZMZFYrQjJhQWQ4eVRLQUJPcmRyY1dxK3M2SDVteXphaXdtWWZlZnNveUduMG9JWU9DbGxyZ1JZWDRrUmZMdFFUampTS2I0Tk1sb1JjcjY1dHYrUXhLaC9kM0VUN3R0NDNMTzBXNG1EUGlxT1ZYdXlVMjFyTngwUVhIQmd1MnNZMktDRGZzNEZWWlNycHhpWFRFNC9vanNzN1dhSFIvTzlnZWlnNjcxN0pkbXdxeFFCdjlDdkhHUTJJSkNTTE43aE1UYlMxMkxwdi9HZ0Z4TXcrMmk4UmtvS3pIaVZvWmdpVmxESUYzbFdPejNPS2VXcHlMdWIrRGFjV1F1UEtkdlVYcUdicjF0ZDNNNlVPRTNMM3Y3bEVCQSs1aXZYYkdsMjB3SEJPTnY2ekgwdGduenVBanBFNkhwRkI5c2pIWndscTNLek9jN3k5ekFqV0VxVU5zaVNKNzUrRjVybzg2cnJwSzNFR0FJK0pkQzk2V0tZUUFQL1BuOVVIeUFhQ0txTGhsWU0yc3pINFhqNkRIOWdWVTF0WnNGZVRFQ0VMcHZrdGFQNUdYUVlPN1FESEl1c1VRSVFVdXVuRy9vRXB0Ykg4ZUVHNHJVVmdiZmh2a0hRbll0NlYzTDdLUjE2RTM0WEhSQmRRRjVvY2hKRU5KQmVOT2hnNkNOVFFyazd1Tit2ZStESkVZUjdRTEpFczBHV0F2SFYyOUJFbDFkZEpXd0ZSaEhnK2JGcU1wOXZhcGhBbm16MnJ0K1dzR3YrbGppaFBiaG9ST2x4M0orYkVKeGVURUNRSHB2a3JRS2xXVlBJV09NNUlLeU5IcGlIbFRDQm1nY2hONGgwbmlEVUdrWUE1dWNSL2dsZ0czR2Z0SE1yTi96K2FrM1BYcDNublhRZ2xKT1RYbXRhRTlZWVAyL1F3ZVpJQi90NzJJNWlFWEU4S3VTSkdtU0pxV3F2b1ltb2Y1U1pjbTBEVnE0WEFhZWUvZE9vWVFJTm5GL1RGZjUrbkp4WndqdldMKzlmdjEvdnVQSUgyZHp6NFpxdXVSZVRQcHZjN1AxeWNBajZEeDFRM0tueGtTRGtGcEVPL25ER1lGWUxCc3BWZWJmaXZzSGk5aTNxZklrMjR0Mlh1YmkxZlhRZ2JKWFhqVFc1ekxEVzJIbUREalpIT2hnRUZJS1NmcVlScEVMYXEwR1czdmFoQ1l0MGVzSGJ0aDZPMUhCb2hvMDhJOE1FOG1UemQ1blpXSm55WmFmZmhTa1YwWHhmZGt6K3ZweGZmdDlnM0QxZDBUbDNZZ0xWT215U3ZObjA5OHY1N2REU1JzSzBJOUZGcWxKQVVHcVRTQWREblNFZkRabTQ5VkJwTSs1VFJHL2pEdWNuaDREZFVaQmRkQ0NVaDlQbjRaM3R6eHQwc0RuU0Fkb3JPOVU2NUtPRXJ6RDZoVWlETEV1ZHhoTm9vc09yTmpaaXhYc1FRRzJEWTkzdGxvaHovUUVDSmNLNSt5NnNXcDBONStxTzMzT0Q2MCtnekFkOElmYm5NR1BmUmk5L25aaEF2N1hiSk8ra3lQdVJYdjZ4SHMxVzlRUjRyNUFpTWdJaHhUNEFDRW9WdFRTTVFFNW1ZTlVTRW5FUitMazJ0K00rMTlvdDNDTmR2dUtzb1EyRFBYUWc1SWhjYmIrbkRrbXB6NkZOWWU3UVF5VzliNDEweUlyVmpLZ0xZc0kzbjJSdmtFWGRXbFFRbW9nTTIxYXZJb2l1ZE1sYkhnWW1xTU1FbWdSM3hsVElUamFSNmloODRKMGszNEV5LzFBMjdQZTR2aFRSMFo2dVNpY21QVFlKczFnNEpzVUtnWFF3WkNRZUluaWNudEtJcVBENTRQWEV1QW16WXVHM1U4cnFPNUIvNkNZRjJjRzhMNWF0YjhpOWJPaG1ybEFSN2lXbEE2RHRvQU5CMTNER2E5L0ZLOXpnSzlSOFlxU0QzcVIvTFNFQVJwN2liQ3cvRlc2UVJaTFVYMEVURnVubzRkcXhKTStPeTNINktpdkRCRlpiQ0F2d3NzWEEvdW1RV09iODdmbno5SEpjamhlcHRVdWtFemhqSGtwaCs4cjg4VC9EWCs1V0p5WWROc243QkFMaGMreDAzR3ZQRkhISXRkN1UrNnVjZ0g2OGFpS01kYnBZNHV0VHBJdDBsYmpVNzZ1cTZwYmN0N0M3WDFrSUFmT0QxSDRzTkxXMHZRNEU3SkNaOUcrb0RDZzFuRFpFQjYwNUhTeGZjeVkvcDhQNThOb2MyWlh6d3cyeU5DQWtpblo0VlZIZkxyWkNnQWV2Z2VYU1lRSk5rdEhrSDdSSk5WQTBVWWJDUC80MU1takFIOExPY3BIT0M2ODBjMjZudGNVcDVUc3hBUWxsSFBlMGxtZmxvRmFSU1drVDZ3UFR6Y1ZkaEhsYW5Fa1VuWk12YUhjTmdVZEJnQktaa2MxdUxodFk1bFk1SGJUNjh2endBd0toQTRxY2NUaXdYZUJGNUdwREdPZ1ZEY0d6ZjlvZ2k2L1MraCthaUhwb3phdTJ0bURsK3hEZ3lYR1U0MjhoTlV5Z3BURk1GOU94d1JnSDFwTWUwcDV5a2M2clc3YmVLUHBTb05PSkNRamJacE1jWFV4UE4zc0Zha3UyMFB3eDRsK0JsUlV4Qk80VkFaNW9aSWZ3RFVVQ055R2FuTGQ2UmZJSTJxRVk4QlJ6cGppUlRzeWNQRjV5ZDZtTmJseW1jdDJqQmxrV1lvMG5LYnNXNlRSQ3VGRnhYamhZWGlacWIyV1lRRk9UZmxkUVZwR2JLRVdGT2JGd2VQMzVxS1NMY3BIT3M5dHhjWnIvRmtIRVl1bXlFNU5XbTRTOVNIQk0rRnFha0FOZlhPT2pPRWNUNWYwRnBSTDN6dVQ3eHUyL0liQS9BclJLdmZzT1JUQk9FWTNNaTNSb2lsT0NFUkl6bk81QjV5QVlnQm8wemNta2Vod3hkQ25acHpHcGlpd2x2dGJ1UXhOUkNHYVJ6aHBtK3p4M0EwMy80dmd3Z1RZNVFaUHdxQzN2dGhIazBqUnd2cXhsaXZLUkR2UHltWjlHOUREVFdvY2hhY1VFYWpYWkpMbVh5ZStYWCtLYzV1MFpKSFE1OTkyS29aVTNCRzRjQWNvNVQ1L2lyUWtOZGlZQ2pVcDBRQjdDT2FNMXN2QWM5d3FVQWpmWTkrZ2t4ZkVsR3AzNEE0cGxKSER5blowRXdYMnRMQXIrczBXZ2lTYXZtaVZpTnpkQUFIb0dqNmgzR2hyaStnTUVHdHFDb21UdWllNjMwVWhMWTl4OUZFYVFscUhHS2ZId0hRWVYvdUpUOVRaTmx1em96VDVNMGw2dnpqNDRkN2NXQzdhSTh2dnRHQ2NWYWcxYWlKL3BTMmt0L0Z0WlEyQkhCSGhENUk0TmNsTmduTUl4em90MDBQcWpHR2FSN25WNWdzNGhDbHQ0dVY1d3RWVEVFMHAraVR2dW9rR1dYSFhOUFdnaUdrdXJYbFZEMHNyTVFJREQ0OEt5cHFhQllRS2FSb0l5YnROd2FTNFFsR3c0UldXTTlETmJPNS9UNFEwbUp6OEp5ZGJjOUdZZkpxbk1OWnZrM1RUbGVWU3JnTC9SOXUvSW1hMlQ0elc3eWxMak9na3JZUWpjRHdLVVBKK2R5MTRYdnlFNmFNenBBT1dTMTRXMUsyZlpiT1p5WlpzaW1jcHZFZE1yR2puUDBDRExPakQ1RXFsTU5hK2FwMkYzTjBDQTlxbkhDdERTempDQmxzYWdyTisvMmxpdFdoeG5TNm94UEIvcGNOWGoxZmJwZEdMU1pKTThvWnprWjcvZVB0MmFKL0RnRGsyZ0tUdVJranFUT0pLVTdjb1F1RGtFMk5IS0lYOFBKc0UrUmZaa1drNkhZcGpDYXdpbkpXdk8rUnNwS0RtUFNqcVg2dVN5encyeXlCYjFWOUJFNU1vczB0R2p0MkZKVnFTQlY2K0dDVFFLeHk4ZzlERDg5dm9DbjJkNFNiL1BnQ1FMRmhjeGw0dDBUcnh6RHV3MktyemZaUjhtTFRiSkxXUjMrYldJK2Z2eC92MFp6dnlBQjNjSWI2cWlTYTYvT1JXa0ltMkZESUZiUTRBQysyRUxiSmNLN0ZQWTVyUkloM3hLZm9JSnB1MURPc3JmU0N2blpZVEtISWM4UTQ1eWd5enRRSEVOYU1JaW5WN3d0cXpuVWlSU2xWb2FIQ2JRMGhpVTlhdGx1WkM5UmdyNVBKNWVUekFmT0VSYlF1Qld4V3hDb3JsSTU4aU80SlRmN1IvVzN1eThENU1HbS96Q0pmWHo0YVA5ZUg5L2UvdjUrZjUrL3NRNHMzejByRWJTb2wzVWw1dGhiSVFOZ1dzaXdEWXVZbzU5MkFHYkZhMU9pM1FvVFp4MzQ1L0xMaDNlbHlsMzgvRGtPbCtUTUtGc1VjNmxOOGpTQ3k0MFlaRk9MM2hiMXVOOXBoZkZhbTVybUVCcmkyNjgxQ1ZoUEhGOFEvcVRwd2xmTUVzUVZnSVdweDFuTTVFT3pCK3dFUWlrY2d2RHZ2Mk4vM2Rob3JkSmZyOGN5bTkzdEhVbncwbFROMjNYYmR3RFJ0NFEyQlFCbWxIS0VYL1Q5aGJpWVBQYlJEb2trU0FkdE9rbk1KeE05bGRjZ0NwV00ram9wM0xwTDcwczc1ODRNVHUrUEl1aFltR3dmQUpOV0tSVGh1ZDZUMmpKVTd0NGsyTnptRUNPYU8yZTIzNmJVK1JpTlJ5cUw5YnlMQ01iMEdpdE9tY2luUk1xOWkvRWU3bHNhWkdoeVE5Nk1NRWZ0RkhhWkg2OUNlclBPM3l5dWdrWTR1dlNyMDExcmJBaGNFOEkwR1FtSHhkc0t3Yll1R2dXR0NtNXV0QlByRE5GNjFMWjZhR2JQU0lKbmtoTFl0Uk1aWnZPRTdxMjdBOXFhV1VKUHlKN2VHN3lUZENFMHF0S29leHFZd1JRSitEUUR2VXBOMXgvZ0VCS3NuN0gvZlpCMDF3ZTdPV1NOUGlDdUNBd01FanBxS2RLU2FTREljN1hPNXBqeWZycndreDYyb09KUHRKaGIrTTZlcHQvVFhIckFocE4rSm9VWWFscUo0YkFQU0ZBU3oxOVZqSW9KaGo4TnBFT3VaVnNGUEY4Q1JiSTNVU2hBOTNMTFU0dGttS0pYQ2dFdHhXeWZNRzgrUGo5L3ZYMS9zenorQmJmRGsxRTdOcU81S1Zmcm5oQ0N3RFFPVm1GMC9BMVRFRFRpQ2pEK2N5bS9iOVE1VElld2plcGhMNUQzS05PQ3l5Unp1ZnYxOWZIKzg4U0E1eUMwRWx3dTg5RkJ5WTA4VkhaSkNlTEFiUU5qODVJMjVJNisraVh0WEp0QkNpbGN4VW5BMWF2aUE0SW43YWNUam5TZVYvY2FXNUxEanU3cXNkQVQzWHgrSmUrVThrQ1E5cmwwMm84aDJ3SU1hRUpsVmU5TUdWbmV5QkFVNFc4VnVpYUh5YWdheVlvNWJmZkN2TUxubWRPd2FZdXVrckdFeFJLdmtzVlBJdFBsMGdIVFdrNVhwNVRYbjVmKzMvb09tNTEvYm9ERTNXazQxK3VXOFRkNEtSM1F6eHRQY3k1dEhYSXJJUWhjRDhJMEd3akdrRjM0aDdNWGJpM2FhdFh0T1MrTXNXbWFDanlEanp6cWxiRXVEQ3FSV2hwWklHM0wwNEJjWjdLWDRhUE5kU2hpYWlmTEtlemh0a2V6MTFTUXQrUk1WUERCR0tDNjljMHZXbGFMb0lhbDF3bXFtNmdpekJEMEVzZlJUckhsOVBoL0JxWXhZVjVuSGljcXZPT1M5a0paKzJZYUNNZEgwU0JQTnNkMVZSMERSN3lldXFVWEkyU1BUTUViaFlCaXVnUFdVZXpPYzlnOWR0RU9wUUJXbUdmWEU3Z3JiSDQrallkZW1Hck45SjVDY1lLYkk1VFNPb0ZMT0E0NHRjaUhZVHgyb2ZiVDZ6dXg0VGZZUUlKeGRVYmJ2dHRwRStWYWpSWVgvYnB2SCtHNGtKUzZ2S29Rb1FlTFpITzh4TXNndUVJQzNhUXp5blRMeDI4cUFmaDMyOEltdUJyUDIzYjN4WittekdCbWpxYjVCZk15ZU5zOXljUDRTSmQ1UVJEdkp4UHExU3hSNGJBblNGQTg4blFhKzNJUHhqWTFTS2QzT0lWYlRkZStTd0lqVW9aakJTeVFKTlJSTW1UK2VobWhqamZnaWFpa2NraW5TSllPejZBZnNGRHFISlQ4MXgvZ0VCVGExVFliYis5WkdsV1NSQ1RMOTlaS1NFcm9FKzlCSkhPMDl1WkpsbXYwUlRnd3N3UDJ0dEJGVWI5QWhlSHorOGYvS3FlZXhuK1FrZHoxbzZKTnRMUnRIN0ZNdVFMdTFOQ1YyVGNtallFdEFqUUNrcUR2OVBTVlpXTGh3ZVlXNVJpcnJaOU9vcWNEazNnb29rTTUxanFQcnMwLzFISVF1L1NDbUFvb2FhZURrTVRGdWtJL0c3aWdoY2htM2IzU3I2SENVaHlxcXYyTmhjTGZQbE1MTVF0djRHQ1pvOFhFY3VIa1E3OEZDOHVlMTErZERkbC9wMGFYay9UNEV2d3pudTh3MmVjT3pJYzdaZzhTS1JEUDRpOGE2Q2RkclBkTVFRMlJZRGNTSGFldG1telRCemNvbWg2V3FTenZrK0hWODZqd0lHMzZkUUZ4MGdudDMxdlhSWnM4aERObkFqK0hMa2NFMUEvWXRoeU9qbWNkcjduOWhQM1R4ZUdDZlFJRE1xRWh6NGdDRGZWeG1yczFuMllaT2F2Q0kxRXBBTkdnWXRUUUx6TXlRY0ZVcS9sQWlRL0JEcUxNNEhWb3A0RmVjZjVTa01DYmFqeUFEWkpNNjUrQlJhSTJJVWhjSU1JWERkdkNXNWljVTRJenJSSWgxeWptRWpHMlBQb0lscFhiZE9oZlRxNTBHUmRGcDR5eWtROHgxWlZUaStjUDRaWHZjanpJR2NZYnNJUnhiQU53ZzBUYUdocktlcUNrMUlPZFNsM09XRmRaV0hQUnhFT2dBU0hZL0Y0a2J1VlJhVHo5TU14eWFtNGZvVU1mRkhiMWMzSlVDSXdMVEJ2OWZkOUxoSzJZNkxjcDNOcDRrYlBhT0d1UVJkdVZBeGp5eERJSTBDZnhjaU4yL25pcysrQzF4U3h4bzZSRGptMWFQRktzMDJIeXVSbVArdXk4TnFZck1zQmx4ZzF5aUJERXc4d2Z5ekxkNmRQM0xLT3lGczBpVEpNb0trMVY5Z2xrbVFRVWljVWZ2UlM1a3dnek5DTEx5TWR4Zm9WY3ZWTG01T1B4YzNKbUpVSUp3emdTdlFjZWJFN01Ia1VtMFIvMkpNRzg5RFpmMFBnbGhHZzhWNDV6bTRnQjFqWE5wRU96WktyY2tIVFNkeWcyYVpEa1U1dXVyZ3VDMi9La1hWNVNVRHBrMU9PVWM0TitzVkl0aUFBZllCSFN4VlpsdXNQRUpEa2RGZXNqWTJ2M0x3LzQ4dE5mSVE1TEFnUndzczZCMUdrQTR5Zy9nT0pxc0hDQ2hkdlRnN2ptVXRERUd1SmVRdDRObWxwbDZMbHN3NU1BSXVIbUgzUW5MY2RzVEtXOXNRUXVCMEVycDJ6QkRleFRhUkR5ZTVhL01BclNkRU1rV3F0RERpMHZ5YzNFVmJJZ3A0NitwUXN6eUlGQ0dYMWdOb1A0VlhMRXQ3akU0NlBPOFpWTCt3d0FVK283YjhMV1ZiQ2k1VG0xdy9OajBSZ0FlYWtIeVdqU0FmWHI3Q1Y4dnRYQ3cvdjFISjJjekpJSTdLbGZYT0Fka3dleGliSkl3YnJmd3ZvZG1JSTNEc0NwTng2RHpWZlhIQVRZcEFIUjFOYUszWVpmcWlobVQxVHFpU0tZd1Q3L0VKcE5EMmtOb1MvRkhYb2dxWjl1Zm1yUWhiNHJhQmpKQi96b1J4dG9BbUxkTkl1dWZJZGpwTTJzbWNBQUJYeFNVUkJWSS9EVFNLTkRBMFRhR3pQRlhmdlMwVUtxYUwxUVRGN1dCUXNOekttOEtrOGp5TWQrSW9WcWZWUmtSZjY0czNKd21zZ2RUUkxZUnRvV0RVSElGbnlWKzJZeE8wK1BmWEZXSjZENi8yblNWY0M3UFg0c1pZTmdWa0lvTCs2M2lZZGtBTGFGNlkxTGRLaEdLN213Mmx5R01zTzdGeXk4Ti9DY1M2UTB3UThSN2xCbG9YWUU3L2VLZEx1d2NQNEZKcUltTHBYcnhwTGRzL1hMZ1lYaXR3a3p6Q0JwdGFXd3J4d3F2dTI4UWQ4OHpLTVpDaXp1VkNDRTFCRWRUNGdpWFRjK2hVWWJTME42NXI3ZmNiRVM3dzVHWVVSRENRM1FtNkw1eTJZTUpFSHNrbDBKckZMTENKbER3eUJ1MEVBTmJ2bnN4UHpCQVFHeEFBeExkSWhUNXpMdkhqZWFWSWFMVUtKYlRxL0lqdnZxOUhyc0htSDNDRExoUnJ2Z1k3Q2wrQ3hQSVVtb3FJVzZVaUVybkVGdllKSGY5TmNmNEJBWDlOa0k5SHVsZ0lsU21RSzFZUGtoeGdVSVVyUnh1dnc5aUlGVGQrWEZNNDNFL3RXdWlQNm1xRE1qbUplTElsMEl2c3VDQmZlYnNERVZZTjJCVEQzbTlQaFYwK3ZtZUlQZThMT0RZRlpDTkQ4UlRHSm10VmVoZzY0aVcwaUhZb2dJZzhrMnNkNTRjWFQ4aU94b3ZWVzJIaEFoWEtyVFEyeVhEaHBXcnhDb1NLWkxOSzVZSG1scytGZE5zTUVlZ1duYUg5MUh6QlM1eVdqc0IyNEkxVVJrcVMxbVVWWU40MTBZUDJLS3NQcWJsaXdmUDZHZWJCRGtGcEZReENSRHFMYU1XcnJNWEhNUFpKTjRyY1gxYjFZN2h4N1lnamNFZ0xrWUFOZmNRM2V3TEEyaW5UUVptczdidUJ4c2lkSXJHaDlTc2U1b0lNdU5UdjlodHRhV1JaaTlIR2VhTWk0UEV6T29BazV2Tnp0bm9CRXRQdTk0WGJaOUZ2U01JRmU3RWlWRXl2SVVhUHhYMGdJTXdXaDdiUlJSdDdKRWFKN1M2UnpVV1pJR21GbEdHcTFlUmlhcDEwVzFEQVdFd3lpZTZzNWdBSjNla3djZ1lleVNYb0JTOEJZZ01sdUd3TDNnZ0FscE1VczZBcWNnNXNRM25IYTZoWHRmNm1sMDZIbFpNY2kzZk9lOWlnNVc4REJjQ2c3OFlUN1dsa1dZclFKc01ibVVwSk9vSW5MNEVCMzBESExNbmExTXdKdWw4MWwwRzF0ZjVoQWE0TytQRzFtVS8wSU9VWTZRdk1nRitrTnhWTURWVlF1aGJ2Tnk5OGhTYmQrQmQ4MlZtV0d2aWdpQ1ZoQ3N4UkRORVk2V1R2MS9PYi82ekZ4OVdOazdubjFDaloyWTY3N3VubitmTC9ZWFVPZ0R3R0szbFZPcFkrK3JoYVlsVFk2Y09NQjFGQ043YlFzVkJsOWFQVkttalR2Um5UQjMxZHAyd0ZXRER6c1JVNjRyNVhGVjZKb1V6azhZSjIwYVl0MFBKYlgrdTkyZG5Ta0R4ekh3d1Q2SlNjaktDbDZTUGJ6ZkJTNmpidHlFdU1DQzAxdmhsUXVBdE9aWEI5MkwxNEI1YXgxQ1RvZmxIMzlETmVRWjBVNm5HWFZZT0k0ZWpDYi9MQlFSNmlhWGR3NUFyUWl1KzVTdHBheUlUcG9qSFJvYmlhOHM1U0Z5TW0zVUNsRjc5OU1mVTdtckZ5ZnhpVlp6eEZ1a01XelFreFVtUFRsL1A4SDg2cGVyTHYrNzk3VzZjK09EaFBvaDgrdG02MXJJRmhUT0NzQ2xnOXBKZlFwQnpsNXlMRDJDejlpeFdFaHhQay9YMHU4QkUwUVNhRDlVaWZDZTNTK2w1clVDSzVlaVQ3b1hMMTZVbVBpWkhzMG02U3NUdHE1bVo2MFc0YkE3U09BWTJ6b3U2N0VNWEFoakFvbUZDSUZIYkRWR09uUWx1UVNMU0JMRGsyNFJ0cDF1ZkJ6S09Sd0tZSUtKNU1MaXcyeXVEcVVnYTk3OVlVNm5UeWFWNVhTM2VjVmRhSnFXMjlCdm1FQ0JicUsyNlRNS2tjQXk2eEwvSUdmNzN2Sm1RQU5rbld2RWxveGFETWUzZ2hkaUVIM0trUXk3MTJocElpaXAwU1NZd0RaazJqVFk4SUFRelBSakJGWjRXZDMrWmNtd2JudXZVdHBqT20valVBeUE3b1NIT0FUdG9wME1KMGRieVVJcENTSEZyNmI4WE0rVWpLZnA0cnZwZncxN3F6SmI2eHBrSVg1d0FXMnpOUTRZREkraFFxUDVWVmpBZS93bWpPQkhUdEN2S3pEQkR5aGp2KzhmS1ZoL2gzWmZEbTluakJXQ1Y5NkNsdjlSYU03WkQ5aDdJcWxrYzVoaVUrQ1o2VklKLzh0SGFTTmNkSkNDVzlncEJQYU45NVRIWHBNaU53LzUvTy9rdTYvNS9OL3lUdjNkZlVMSGRFeS83b3Y2WXpiUDRYQThYeklyc0RzRFFKNG8zcWs4M0h3QnhSZERuK3ZKZ1M2dm54SXdrS2lVdzQrNndvUnpCZnQ3ZUhaekl0MG14ZGNNRWJNQjFEd29DN0xoUWlkWWN4MGxDbjRxRVJ5K1hoZU5SSHgzbTYwcGdBUytZWUpKQlFiYnJnOGltb0cvL0Y4ZWptY0R5K25aNkhtc2pVbWVQcXVGSkVWV3E1NEcvSnJsalphazRpUGtodmFsbG93QVpwZ2svK1JwUDl6UHY4ajc5aVZJV0FJL0drRVZxTURlaFVlU2hXT3l2SVUxYXk0Y05vTnZNUXNuNWhkb1QwNFJOSzlDWkxwRzV6eDVWdUZCOElIUThsOFFhYUtucmgxem1sZU5kTWoxNzNseGtYUjgwMGNEUk5vYWkwcTdNSXNrUXlKaWpSZThxODFvTGtlanN2eEVtVWlHMmx5OGNwdlhrRUJsR1N4WnF5QXVIYk41aG94Z1daRWhNVXRNOHYyMXhBd0JBd0JRQURjaEJnamt1aWdQOUtoalRvMVYwZHZHYnhpTFBUN0RYTlZQTUhXTU0wQ3lSM0IxcVd2eUEzbUV6R3JzbHlvd0ZuWGxOTzhxc0R3Rmk1NDdhbVdQRnpoY3BqQUN2MzZZMjY5Wno5TGtlN1hKNi8vZ0xKZWp1SFZFTGNOdWRncXZqTWxWdUV3K1pvMzFESU5mdEtHQ1RRVHhYRjN2azluRFI1N2JnZ1lBcTBJZ0pzUUlVVXUwam5nNVBBbE91RFdJU2tzV3krdk03bHl2MWdDcHA3NDE4MXEzOUZKNDQyU1o4WUZyc0s0QUUvcXNvVHNZYUJUYWlNc0o4K2hrbmxWQ2NtVnJ5Z3ptTXpxRzVnYUp0RFFWcWFveXlqMWhRUVplbnpyNC92MWhlTUYwRmc4eEc5bUZhdVZIL3lRWGRibUxjazNOR0d6U1d2SzFMWGZoZ2xJWnpaWjdqbDdZZ2dZQW9xY3pnQkltS0JabVd0L2dVZUdkTTRwZUdQMTUzUThIeitMbmg5Mzl4VFdwT0NKT3RLQlFPZFlXVmtyU1cxZXRZVE10ZTY3VWJHakx4M0h3d1RHSkhkTE5RV1ZIcU05cTNaNUczTFlBa29TMkIrdVJGY2pvN0N1UEcvRHhHeFNvbWRYaG9BaGtDQWd2ZE1UcHFEbk9WMmNCN2JuVFJJZXd4dTBrNmNRQmpYSUFwbWhVMERsUjN3RExXd3ZPamV2R2dGeTljdTJsWTRNdThNRU1qUmJibkg3bmRtUGxvWjZ5N3B0eU91eEpDd2FCY2tWTkxIZUpwc3dNWnZzaGRucUdRSi9Cb0dHNktBZEU1d3VpMDJLN1NUaUdyaDRGYmhUOFZndkMxQVJmQjNQNjM2Y21rcGJ0ejBCb2cvMnZuQnJULzNSK1RDQlVZbFJvK0VJNHU1UmlsUHIwOWVRcSsrdEw4M2hkMkNXaVEza1pScStQYjdRNEpNbVRBQzh5Q09ZVFVaNDJxVWg4TmNSQURjUlpKd241M1FvQVRNWFlaenRDWVlEOHZHalluNEtIS2w4VzBQOW9USHpxZ0hldDNEcXhzUitWb1lKOURmTk5jbElabVpTUnhrUzlYRWg2YWlOSXpIVWNmdnQ4Q1BPeXRtRGFLOERFN1BKRElKMnl4QXdCRUlFMU5GQldFbDlqanVPTzlmcTgyM2dETHl3SDFtLzV3Z0dOK203UDhvMEl6Yk1xMGFBWFB1U1AzWW5FblJ0TEEwVGFHc3VVeG96RUJXdHp0VFk4ZGJ2OGFYQmdIOUJsc1Buejg4emhEejBVbVV2cHkyWW1FMzJvbXoxRElFL2d3QzRDWkVpS2VaQnVoQ3BCaVk5Rk5FRExnbnltSUJTRmdoMEloS2xuOWlLRzdCZitFd1J1ZTRkdC9ZVTlXY0RUOE1FR3RvcUZIVXNDRE1zRkwzOTI3L2ZKM0FoaDVmbi9vUU9DdG1DaVVVNnQ2OFd4cUVoY0dVRWxORkJMNWNZbVV4MDRaanBMMjl6ak52S1IyM2ZjVnI5Rjk0UjAzNjVEWnF3UFFHOXlyQkJQWDV4U256R3BhMlZZUUp0eldWTGMxb3AwcXRzeWI5enN3RVRzOG0vb3hZbXFTSFFpWUF1T3Vna0RwOEVCUHJsMEtTWkxJNUw1Y0FwZnBpTmRIQmZ4dkpiRnZoRklEcTBTUUVvSEkxSUdNczF5MkVWSmlIQS9hZU5Vek9ORGhQSTBHeTloVDhRQlVyWld1Mmh5emRnQXRpWlRUNjBNcGh3aHNBd0F1QW1ST2lRalE0R1dxbkhKbzJFTVc2cWJNblF5TUp6ZUNncEQyMnVIV3FaVjIzc3RRMkw4M2c0OE43U01JRXB3bkc0MWJBZlprcXJ0MDFFajRuWjVHMzNwSEZuQ053QUF1QW1ObzEwbm5CdjRpdzVNVXlwdkkycmtLVVE2S2l6TXVaVlovWGxGRG9OYXh6NTlvWUo1TWsyM3VYM3Z5Ym1QaHZidjhYaWVrek1KbSt4LzR3blErQ21FRkJFQjJQODRvZVN0V3RES3kzaE5rWDUwcFNzc0M2TCsvZ3FGSlNIZXFNSFZMT2Nqa1Q5aWxkdTM2bzJJWmR5T2t3Z0pkbHp4NzFvM2k5SFQ2TTNYa2VQaWRua2pYZWxzV2NJWEI4QmNCUGI1blR3NTNBbWJVR0FDWGp4RFhORWNsMFd0MWdCQmVXaHpqcEJOWXQwcnErMWpnUGNJelcwRDJ5WXdDUW82UGZmb204OFRTSjl0MlRVbUpoTjNtMGZHK09Hd0Y0SWdKdllPTkxCOWFzb091Z1REbjZxNmxCWnU5SkVPbjBOQjdYYXZPcjdKL3lvMS9uNDhqd3BxUlV3WXFlQUFQUUdIRUovMjNBWkp0RFdYTEUwNXhvblRRaUtyWFE5K0hxdkhSdW1vZFNZUUNkRy9tWDRMWUczMCtId0V1OXovM3JiVU5xdXZyRktob0Fob0VRZ0hpbG03MGdHTm5DSllHQTA4b0pnT3JzZU1jVHRiQ0FMTktIMnF2VHp6MUFCRDkzbjlMMm85bCtGQVA0Yy9VcWFyMDVubUVDZGZNTlQvTjNhK3RKc0E3R1pSWEh4dVhaVXB4NWpqR2d4QWZiVU5xbmk2QmRhZm9FRXN2d0pZTXdIVDNCaktnNnNrQ0ZnQ014RklEYmZEYUtESi9BUngzR1BDTzRubm1WRlVPd2dpOTZyZmtFcTYvajkvdlgxamgrTWhhTzJ3eWdTeEM1VkNQQjI0b0ZYbG9ZSnFOalVGT0lFaG5xN21JYmtuREtveHBXanVwbzh5SUVXRTJCdmFxUUR2Mm54Q3U0S0JCZlNnV2RjYzBDREFsdDFROEFRMkFvQk1GOHhVZGtpMG5tQzl5aUUwK2dSQmpMU2tUOUxxT3dnaTlxcmdwcytMc0R5ZXlUcXpVQ0pZSFlqaDRCMkpNelZwWHZEQklxVTJ4L3dycFNCcUsyOXladXZvY1JFYlpOS2dVKzhZUXBiRC9xRGxLV2VVMWJTdDJLR2dDR3dPd0k3UkFjZ0U3emNQVGpPUTdDdytoYnVEckpvdmVyWDRYd0swbGc4cGc1Q3NMdHUzSGlEUEJBT3BNcUdDVXdFaU44Q3U4R2t6a1FaVzBrcE1kSGFwTEw1SHpjcnc4V3o0SGVBYWJZU21MU1NtaFV6QkF5QlcwQmdoK2dBeFlSUUovQWE3WUxEQXRoNm5MQ0RMRnF2K2hJbHNYaTd3OENvM0E3Wm85ZFFqb05sR0lZSmxFbDNQT0d3eTVJR0lYUTZUTFEyR1ZLdW5CL1B2UEVZbCsyQ0xESUdQaGFJVm5DelI0YkFMU01BOWl2ZUtBRDdEbEsyOHppSEtkSEFPQTg1a2NEcGxMamFRUmJwL1pDUjdIc2VFSmhGMHo5MjJ0SE5raUIyWDRHQWJoaXNFQm9tVUtIZC9vampydUZGM3ZhR2I3aUdEaE9sVFNybC9IRzVZMm83Y0ZuUWlzWUhLVnV4WW9hQUliQXJBaERaaU9FWHBpN0w5cEtwak1EZzMwMFlYcnRhMll4TXJPNGdTK3J1c3BIT0tYR0s3TFExVWt4Ri9YR0o2VWJCaXZ6REJDcTBleDZoSWczWVNFK1ROMTlIaFluU0pwWENIdDBMbnZRMTlZdHJwUFhuSVBCUlVyTmlob0FoY0JNSXZMOUs4LzE0M1dvMC92b1V5YU1XNlg5ZlZWVjNrRVhuVmZHRitFTzBXa2Z2K1ZqNnU2WGJxMlU1STlNZFBEODlEUk9vc3RmK2tEOEt2TG9aclozd0hkZFFZYUt6U1NVS3YvNHpwL2lxVmRBWnRFMUg1WVdVRFZreFE4QVFNQVJ1RlFHZFYrVU55REprNUYvY3Vrd1NiMVhDTytHTE16THJlN2VLNGd3VEtGTHVmY0FhWWp0MVF2dzBtT2hzTXFSYU9mODZzdG5HT1J6Y3BuT1RYM2FzeUdLUERBRkR3QkRvUWtEblZYbi9zZHh6d1YrcHMxbGhGK3hwSmM3SURNQTVUQ0RsYWZRT3BoRnMxNnRFVVlHSnppWWwyZFVyV2pjTDVpWEl4MEJjdmRxZUZUQUVEQUZENEdZUTBIbFZ6aGNFdVcvZ0gvWXB3V0V6OWpsZHlRZ3JkcW1YbWhzbVVDSThjSjlWUks0bUQ1QjdpS29LVEhRMjJZaEd0SGhGNm1JOTB3aWlGVGNFRElIN1JFRHBWZkVOMWVnZE5zN3BET3dydVUvQU51SWFGeE5XZmdXdDN2SXdnVHI1dnFmTVZGL2RSNjIxamdsb1FoVHladDhTYUFLSUFxemdKVlN5M29FTVlsUGpWdGdRTUFRTWdhc2lvUFNxWDZmek1ab0IwcFpHK1ViL1ZTVzU2OFlWTS8yNmZNTUU2dVE3bi9JRzNHZ3JleWV0UjZtMmpvblNKcHNBb2JYTm9BWmUyemFkQUJBN05RUU1nUWRHb04rcnJzOU5IeGkyMmFMUjdnMjVPdGpXeERDQnR1YTBwUzBjVHBGYXhhVGZKdFBHL0oxNFcwNTg3Y3ZaZjBQQUVEQUVIZytCZnE4S05aTXMrK1BoczQ5RS9FYk93R0xDTUlHdDVLUmxUOXY1S3VCZHd5UzFxK0hWcS9qTks5dW1JM3JFTGd3QlErQ3hFZWoycXFzejA4ZkdiYXAwdkpzNFdoMXNhV0dZUUV0alRXWDUrd1MybXlzRWJRMlRicHNNRzVIblpLMUJKRzNiZENRK2RtVUlHQUlQalVDM1Y2WGxrbWpqNUVNanRhRnd0QkFvMytGdmEyMllRRnR6TGFYcDdXYjd3S1NBYkFXVGJwc1VqWWdMYkRIY2xuUFp0dk4rc05jbkJWUjJZUWdZQW8rSFFLOVhwVWxoNkRzZkQ1cmRKT0t2RlFVejd0YVdod20wTnRoU250WnFiRk95Z0t5T1NhOU5paWJrQlliQ1lTaU44eFRlRnZacUg0cVFVTm1WSVdBSVBCNENuVjZWbGtzT0E0UHo0eUhaTHhHTmUvSUQxRzNFaGdtME5kZFdlbTJ0cG8zYVk1U3VZOUpwa3pWb01OSUpka3VSK2JMR0hjNjFldmJNRURBRURJRUhRS0RUcTlLUFh0bnVpeWtLUUdzWjRZUzdsZW93Z2RZRzI4clRIaEZidnhLZ1ZUSHB0RW5SUUhTQnExWEJVak50WUtkVnE0L3d0N0NpU25acENCZ0Noc0JqSUNBOUlNcUU0K2FhYkRTMjJ2citHa3lxNThOTFQ4TUVWR3dPRktKZFJMWitKUkNzWWRKbms0SjhmSUdoelNXbnd5a2x5c2grUnQ4RGpTdmF0U0ZnQ0JnQzk0OUFsMWZGR2VuQk1qcHplcCsyZGdkZnIyMm1Pa3lndWNYR0NyL0VvZWxMQ0ZzTmt5NmJESW1uNXhnTkw3dnF1TzB6L1FqV1libWJWckk3aG9BaFlBZzhCZ0k5WGhWM0l4K0RId3Q4RENTdUpBV2x4NEtGaFdZMmhnazB0OWhjZ2JKT3RuNGxjS3RnMG1PVGduYm1BcmR5dVZqejYzaCt4dGdUY3pyZlo4dTFaZEN5VzRhQUlmQllDSFI0VlF4MFJqN24rMWdBRGtwREE5N0lKcDFoQW9NQ3FLclR2aEFiVXdWV1pVdzZiRkpRemwzZ0h1UWpyVmRCUXZhYmZwNFgrdVA5a3VqSlZiSjdob0FoWUFnOEJBTHRYaFVESFJ1MEpuVStMeVFNdk1NMlRHQ1NJQ3RrYUFmN3lCTGRDdjE3ZkZ6RXBOMG1GZUovWUZibjVSWDJCOUc2TTAxWFRyWUdyVURPaWhnQ2hzRGRJOURzVmRGRjJsN2tXZjFPWDNBYmlRQ0dDY3lTcEU3blRnS3l1aENUbnhZeGFiWkpIV052bnkrSDgvSGt0TzNyODNnK3ZBN0UyTHBHclpRaFlBZ1lBdGRIb05XclFxRERTZkRycy80QUhOREx4aU5mMGhrbXNCZUlYN2d6eExicUNMaExtTFRhcENCcUY0YUFJV0FJR0FJUkFvMWVGVWJXVTdBWCtlZlRKb1VSb0MyWHRNZm04dkp2UzFVdU8weWd2Y25lR25mRWFxK0l6ZlVLbURUYVpIT3pWc0VRTUFRTWdiK0ZRSnRYaFVCSERNeEhlb0hqYnlFMlQxcGF2aGpaalR4TVlKNHM2NVRlUU5YT0E3OWl1dDdDL1pYSVk5Sm1rL2NudFhGc0NCZ0Noc0MrQ0RSNVZRaDA1RjdrOVc4TTdpdk5mYldHVzFJUFFZYXNtZnRoQXMwdGpsU2dsVGI3cW82QU1JdEprMDBLY25aaENCZ0Nob0Foa0NMUTRsWEJMY3M1K1lmNDFjQ1V1TjJwSVlBZndobjY2YkJoQWpYdU5uaEcvSTVFZGh2d2RHMlNPVXhhYlBMYS9Gdjdob0FoWUFqY1BnSU5YaFVDbmVpbHEyZTVsblg3MHQ0U2g3UnlNWkxpR0Nhd094cjRFd2dqSDBuY25lRWRHc3hna3FLRThkQU92RmdUaG9BaFlBZzhKQUo2ci9vZEp5QitZVVBseUh0REQ0bW5YaWhBUG80YzlaV3g1RENCdHVabWxINCtuV1JXY0FiUk82ZVJZZ0t2cVVWMkJaTU0rOVdHTys5blk5OFFNQVN1aDREYXErS09nc1Bsd0dFV2ppakpjejA1N3EvbDE5UHJHSHJEQk80UHM3L0JNV3kvaWo2eEJPbTdrWjNyZndNMms5SVFNQVFNZ1FJQ1dxOUszNjduNkNiOGF5K1pGM0MxMjRaQUx3SWZyM0xmUDlCNWZoMVo1K3hseE9vWkFvYUFJZkFRQ0NpOWFpSFFzYzBERDZFRUpvUWhZQWdZQW9hQUlmREhFZmdJOHpqQnVYMzA5bzhyaG9sdkNCZ0Nob0FoWUFnOEJBTDBtazhRNGZoVDhSbkJoNUQwUVlYNGZ5VzBBVWZZNnJndEFBQUFBRWxGVGtTdVFtQ0MiCn0K"/>
    </extobj>
    <extobj name="334E55B0-647D-440b-865C-3EC943EB4CBC-2">
      <extobjdata type="334E55B0-647D-440b-865C-3EC943EB4CBC" data="ewoJIkltZ1NldHRpbmdKc29uIiA6ICJ7XCJkcGlcIjpcIjYwMFwiLFwiZm9ybWF0XCI6XCJQTkdcIixcInRyYW5zcGFyZW50XCI6dHJ1ZSxcImF1dG9cIjp0cnVlfSIsCgkiTGF0ZXgiIDogIlhGdGNkR2xzWkdWN1QzMWNiR1ZtZENnZ0lGeHRhVzVmZTNNZ1hHbHVJRnh0WVhSb1ltSjdVbjFmZTF4blpYRWdNSDE5WEd4bFpuUW9JRnh6Y1hKMGUxeHpkVzFmZFNCY2JXRjBhR0ppZTBsOUtITWdYSE54Y25SN1hGQm9hU2gxS1M4eWZUeGNiMjFsWjJFb1hHMWhkR2hpWm50SmZTa3BmVnh2YldWbllTaGNiV0YwYUdKbWUwbDlLU0FyYzF4emNYSjBlMjVrZlZ4eWFXZG9kQ2tnWEhKcFoyaDBLVnhkIiwKCSJMYXRleEltZ0Jhc2U2NCIgOiAiaVZCT1J3MEtHZ29BQUFBTlNVaEVVZ0FBQjY4QUFBRXFDQU1BQUFCOWZlVWJBQUFBUDFCTVZFWC8vLzhBQUFBQUFBQUFBQUFBQUFBQUFBQUFBQUFBQUFBQUFBQUFBQUFBQUFBQUFBQUFBQUFBQUFBQUFBQUFBQUFBQUFBQUFBQUFBQUFBQUFBQUFBREZCZDRlQUFBQUZIUlNUbE1BaWMzdjNhdFVSREtadXlKMlpoRDFiT3RnOHo5YzNKZ0FBQUFKY0VoWmN3QUFEc1FBQUE3RUFaVXJEaHNBQUNBQVNVUkJWSGdCN1YzblF2T3d6aTV0ZWFFRitvM0QvVi9ya2VRUjc2bU1VdlVISkI2eS9OaldzcE9jVGdmNlBhNi92KzhINHVjNHJBZ3l4eGtMNFVRUUVBUmVISUhQeSsvbGh3TUROa0ljekhUU0FIWDkrOTFaNXpXS0N6S3ZNYzdTUzBGQUVIZ0dCQzZncS81eE1NcEdpSU9aTGhwM2dPRGNWZU5WQ2dzeXJ6TFMwazlCUUJCNEFnVCtnYkw2L1dSZ2xJMFFBeTlkSk40UWdhK3VLaTlTV0pCNWtZR1diZ29DZ3NCeklJQSsxT1hCd0NzYklRWmVPa2g4b0xxV2FIZ0NNVUVtQVlva0NRS0NnQ0N3R3dJUERHUnpoSVBaQ0cwS3hYTnl2UVZFZ3N3V0tFc2Jnb0FnSUFpMEkwQ0I3TGYyOHRtU2JJU3lMYXlRY1ViM1dxTGhDV1FGbVFRb2tpUUlDQUtDd0o0SXZLUEsrbURnZ0kwUUF5K05KRzdZZDRtR0o5QVNaQktnU0pJZ0lBZ0lBcnNpUUlIUEM0T1B5VVpvTXpnb0pNQ3hHYkFaeDFzMUpNaHNoYlMwSXdnSUFvSkFPd0pzc3BtTlVEdnZVeVhKd0pCb2VBSkRRU1lCaWlRSkFvS0FJTEE3QWhUSTV0akNaaU8wRFNSNHBGMmk0U21zQlprVUtwSW1DQWdDZ3NEZUNDaHZpdUVwYkRaQ215QkM0WURySmswOVdTT0N6Sk1ObUxBckNBZ0NMNFBBRHpxYUhKcUxqZEFHMEN2amd1T2czUWJNYnRxRUlMTXAzTktZSUNBSUNBSWRDT0NMb245dkhSVnlSZGtJNVJyZ1M2ZVk3NTJQM3QraEpNajhuYkdVbmdnQ2dzQmZRK0FUOVRYSFExMXNoRlpIbUVJQmN0Z3NnYk1na3dCRmtnUUJRVUFRT0FnQ2RGTHN3c0FNR3lFR1hrb2tIbVNoY0J5eUs3WHlqSG1DekRPT212QXNDQWdDTDRPQUV0SU1FWEUyUWl0RFR6RmZEZ05sWlQ2M0p5L0liSSs1dENnSUNBS0NRRHNDMytSdk1wd1JaeVBVenZ0QVNSWHpaZm1TNkVEclI2NGl5Qng1ZElRM1FVQVFFQVJPSnpvcHhuRkduSTNRaXFPaVRrRExtODFpaUFXWkdCTkpFUVFFQVVIZ1VBalE1eE01M2g3Q1JtaEZlT2p0MkJ6bjYxYmtjUi9TZ3N3K3VFdXJnb0FnSUFpMEkwQWZaUHBsK0JRMkc2RjIzanRMcWxQczRsN0hzQWt5TVNhU0lnZ0lBb0xBd1JCUWZ2SDdQRmRzaE9aWnlWQlFGZ1hEWm4yRy92TW1DekxQTzNiQ3VTQWdDTHdPQWtwV003endpNDNRU3RpckkxWHlxcFFZWGtFbXhrUlNCQUZCUUJBNEhBSXFGc3B3NUl5TjBFb1FYYmpPd3EvRTMzNWtCWm45c0plV0JRRkJRQkJvUjRDZXZQMzlhYStRSzhsR0tOZkFWUG9icVd1R3dQOFVGMGVzTE1nY2NWU0VKMEZBRUJBRUlnU1VYOHp3RWhFMlFoR0xEQW5xalM3eUp0SVlTa0VteGtSU0JBRkJRQkE0SkFMS0wvNmU1NDJOMER3ckVRWDF4SkxzWGtmQW5BU1pHQk5KRVFRRUFVSGdrQWdvdjVqaG1TNDJRdnd3ZlZFMC9GY09oMGZRQ2pJUkpKSWdDQWdDZ3NCUkVWQW51eGxlSTg1R2lCMHAraURKcnp4N0hRTXJ5TVNZU0lvZ0lBZ0lBZ2RGUUQwNnpiQzN5MGFJR3lqdFJNcWJ3eU5nQlprSUVra1FCQVFCUWVDNENOREx2Mzhaems2ekVXTEdTdTNSTWp5MHhzelgvdVFFbWYzSFFEZ1FCQVFCUWFBWkFmWENEQVlIbTQxUU0rdE5CZlVSYUlabjFwcWFlNkpDZ3N3VERaYXdLZ2dJQW9MQTZhVGVtTUd3ZzgxR2lIVlUxQlBHREkrc3NYSjFCR0tDekJGR1FYZ1FCQVFCUWFBWkFTVzJHWTZJc3hGcVpyMmhvSFlpM3hxS3ZsZ1JRZWJGQmx5Nkt3Z0lBaytQQUp2Y1ppUEVDZWtoalFqT0RnN1RFbVNHb1pPS2dvQWdJQWpzZzRBNmRzVGdZTE1SWXNSQkJlbmxYU2t4cElKTWpJbWtDQUtDZ0NCd2FBVDBxMDdtUThac2hQamcrbGJ2U3BHSHVTSklCWmtJRWtrUUJBUUJRZURvQ0tnbnNYN24yV1FqTk0rS3BxQ2NTRGx0RmdNcXlNU1lTSW9nSUFnSUFnZEhRTHRhODQ4OHNSSGlBdXlmY3EvblF3ZGNEQjJHamlCem1LRVFSZ1FCUVVBUWFFWkFIeFNiZjZVSUc2Rm0xaXNGMVZkSUdCNHVyN1R6Zk5tQ3pQT05tWEFzQ0FnQ2dzQkp2VWY2OTJNYUNqWkMwNXdRQWYzQ1RUbHRGc0VweUVTUVNJSWdJQWdJQWsrQWdINzM5N3hlWXlQRUE1cCtaRWxPbTBWd0NqSVJKSklnQ0FnQ2dzQXpJS0FPSHpIRWpka0lzYUNtdVdHaDliZUlDREovYXp5bE40S0FJUEF5Q0doM2EvNWNGaHNoRHVqMW1TcUdiNWx3Y0hNa0dvTE1rVVpEZUJFRUJBRkJvQjBCdlowNS85d1RHNkYyM3ZNbDFTZTVHYmJsODAwOGFZNGc4NlFESjJ3TEFvS0FJS0Nmbko3ZjZXVWpORDhtaDdJZDVydkRTR0VYWk5TamRmSlhFQkFFMWtXQVVWSUlxV01pb0orY25qOXh4a1pvSGljZG0yZjQ4dGc4TDhlaXNBTXluM3JIZkYxSkpkUUZBVUhnV01KR3VGa0JBZTF4emI5RW5JM1FmQ2UxaHBoL1NtMmVsWU5SMkFFWi9XNTVFYWFDZ0NDd01nSUhremJDemdvSTZEajI5elJwTmtLem5PaG55K2IzNUdjWk9WejlQWkFSOTNwbElTM2tCUUdOd09FRWpqREVqb0NPWTgrLzQ0eU4wR3dYdFVjbjRmQUl5QjJRd1RmZmZVYU1TSUlnSUFnSUFvSkFOd0ltamowdFZOa0lkWGNocUxCRDBEZmc0S2kzT3lDREx2MVI0UkMrQkFGQlFCQjRMZ1IwSEh2ZUhXVWpOSWVmZnNSWXRFUUU0eDdJUU5SbFBuUVQ5VVFTQkFGQlFCQjRSUVIwSEh0K3U1ZU4wTndvNkZlWnk4dFNJaGozUUFiYWxKR0lSa0lTQkFGQlFCQVlRZUJUSDFhWURvaXpFUnJweFZKSGQyZitJNkVMeVQ5eXRRY3lFSFNaUDhyNFIvQ1hiZ2dDZ29BZ01JbUEzdFdjRDRpekVacnBrQW42UG1hSS9NbTZ1eUFETm9JOFYvY25wNU4wU2hBUUJIWkFRSWRKNXdQaWJJUm1RTkRmZDVaTjB3akVQWkRCbUl0WVR0RlFTSUlnSUFnSUFrTUlHTDlyT2lET1JtaW9HN3FTRHZyT2Y4Rmtob2xEMXQwRG1aL2YzM2s3OEpCb0NsT0NnQ0FnQ0d5UEFENGlpNzlwRmNkR2FBSUQvVW9RZWVZM3duQVhaT0NKNy9sWDNVWmRrUVJCUUJBUUJGNFVBZjNScHZrUU1odWg4WUV3cjc4Y3AvQlhhKzZDRE15SWFUUHdydzZJOUVzUUVBUUVnVzRFOUZjZ2ZyKzZhd1lWMkFnRmREdHU5WmszZVlZb3dtd1haQ0JzTS8vcHQ2Z3JraUFJQ0FLQ3dJc2lZQjdFbW40RWlvM1E4RUNZbDZ4TmQyV1lnNk5XM0FVWmJIVGFDandxb3NLWElDQUlDQUxiSTRDNzEvQ2IzMmxVZEJnSWpXS2czOWtpU2lJQ2NCZGs4QVJpeElra0NBS0NnQ0FnQ0l3aW9KLzBtUmV0YklSR2U2SjMwT1ZNY2dUZ0xzakFCc2s1NGtRU0JBRkJRQkFRQkVZUk1MN1g5SnN0MkFnTjlzU2NVSitQRkF3eWNOaHEreUFEOXR2OGEzZ09pNmt3SmdnSUFvTEE1Z2lZZmVmcG83eHNoQVloTUUrQXl5c3dRd0QzUVFiT3VNbEpnbkFvNUY0UUVBUUVnUWtFOUw3ei9CTmRiSVRHT21PZVdacCs5Y3RZOHdldXRRc3k2TlRMVUJ4NFZnaHJnb0FnOEh3STZNM04rVmRIc2hFYXcxQi8wbk4rSTM2cytRUFgyZ1VaK2ZqMWdXZUVzQ1lJQ0FMUGlZQjVjSG82ZU1sR2FBakhmVFpwaDFqZHVOSSt5TUJ4aHZtUXpjWklTWE9DZ0NBZ0NCd2FBZk91eXVuWGpMQVJHb0xMYk5KTzc4TVB0WDdrU3ZzZ0l4Ky9QdktjRU40RUFVSGdLUkV3N3RmMGMxQnNoSVpnTkp1MDArZmNoMW8vY3FWOWtKR1BYeDk1VGdodmdvQWc4SndJbU8zTjZaZFJzUkVhd2RFMExsOXdETkhiQnhrNGJpYW1VemdVY2k4SUNBS0N3QlFDK3RQVjh5OTdaaU0wMEoxOW5mc0JoamVyc2c4eStIU2ZtRTZiRGJJMEpBZ0lBcStCQUh5bm1IN1RiN2RnSXpTQXU5bWtsYmVsaE9EdGc0eDgvRG9jQjdrWEJBUUJRV0FhQWZPaWsrbmp2R3lFQnJwa05tbmx1RmtJM2o3SVFLdGlPb1ZESWZlQ2dDQWdDRXdpb1AzcitmZ2xHNkgrRHBsTld0a3pEYkhiQnhsNEdGOU1wM0FvNUY0UUVBUUVnVWtFakVTZi9sb3hHNkgrRHUxb0t2UXp1Mm1OZlpDQlZxZW4wNll3U1dPQ2dDQWdDRHdCQXVhYzJMUkR4RWFvR3pUejdQZjBRMm5kTFIrOXdqN0l5TWV2ano0dmhEOUJRQkI0U2dUTWw3V21OeHpaQ0hYRHVGL0wzYXh1WEdFZlpQQ1EyOFlkbGVZRUFVRkFFUGo3Q0xDNVlHeUV1akhmejdQdlpuWGpDdnNnSXgrLzNuaVlwVGxCUUJCNERRVE1FN3EvczI5TVlTUFVqZnVPTytmZHZHNWJZUjlrNU9QWDI0Nnl0Q1lJQ0FLdmdnQjhxcGgrMHllRTJBaDFJbThOQmZtQ1k0RGNUc2pJeDYrRGNaQmJRVUFRRUFSWUVBQnZpSDdUQjg3WUNIVjJ5d1RpWmM4MEJHNGZaTkJLRU5NcEhBdTVGd1FFQVVGZ0dnSHpTbzNwQTJkc2hEcTdaQTVWeWZId0VMaDlrRUVySWVSRTdnVUJRVUFRRUFTbUVUQXZFcDFXZDJ5RU9ydGtEbFZOR3h5ZDdSNi8rRDdJZ0pVdy9iYTg0Mk1ySEFvQ2dvQWdzRGtDTm1nNis0VUdOa0tkRUpoRFZkT3ZRTzlzOS9qRjkwRUdySVRwejZrZkgxdmhVQkFRQkFTQnpSR3doNUptMytiSlJxZ1RBclg5L3Z2NzAxbnY3eGZmQnhtd0VyNy9QcmJTUTBGQUVCQUV0a2ZBU1BWcEljdEdxQXNEZkpzVy9lU01VNERiVHNqQVlNeWFma0ZINUZZUUVBUUVBVUVBRVlDdk05QnZPb2pKUnFoclhNd25JK2UvV05MVjdCTVUzZ2NaK2ZqMUUwd05ZVkVRRUFTZUV3RnpLdWs4eXo0Ym9TNUc0RzFhNnRkVjZ4VUs3NE9NZlB6NkZlYVc5RkVRRUFSMlFjQTg5VFA5RUE0Ym9TNFlqSlVnWjVKRDJQWkJSajUrSFk2RDNBc0Nnb0Fnd0lRQVc5aVVqVkJYeDh3aGFIbWNLNFJ0SDJUazQ5ZmhPTWk5SUNBSUNBSk1DT0NHSS8xbVR3bXhFZXJxbU9GZUh1Y0tZZHNIR1dqVmViWHRsM2xMcldGbWpmOS85S1RoR2xBOUU4MXdQc3U5SUhBQUJOWmRRdlVPMnVld1poK0lZaU5VNTNrcFlROUJUeDl2WDJqK2phdDlrTUZXblUvSDJJZnkxNXpsMHljbGp6amduMXRZT211T3lqVHRJNDZLOFBUaUNEek1xZXJwNlowbTBBQ3ZxVGp0b2JJUmFtRGFGTEVLd1hIcVRONXIvOThIR2R3VWNYQzNleVJtYnF6eWYvWlZQdzdEaDdsY1dTNnNNZzY4UkE4ekZNS0lJR0FRTUllQ2VLZjZRczIwVS9qUHRzL1pUdWp0ZkxtKyt4cjJZOHhMc29mYy9taFF0REJ1bGF4OWtBaytmbTMzU0pZWnVjTFZINHl0V0d0ckJiaWVoR1JsZmt1MklMQTVBcXZMczRZZW1ROXJUWit3YmlYMG9VTjlWMGRqZ3lNMnBISE5WMGJrOGV0d3BQZEJCdWFBRjZleEQ1V1JrdWkyeVI2UHI2K3ZqMzgvMzIrM3V6RUhZM1V6L2U3N0VMdjk3OEc5bmw2UCsvZENPQkFFL2hRQzZGN3ZIYzJ6Z24wVzJVWkNUb3owYk02NFFWVkhlWGN3WW13RU53amJVZjBQRjkwSG1lamoxMzVjZCs2TXhPUHozOXM5dGE4N05uY09QUGpvWHYrNVRoMFliMkZORUdoQUFFL25lTzVJUXgzMkl0WUZjczRKRFRYU1JvalU5ZG1JOGZ1L3I5UFhkeVRsbTlzM1RwYzRJeUZrdXlDRFp3NzlPTW5EMTYremN3eDYrZmgzTTMyRDF1ZzMvYTZmRUx5OTc4VzkzbnNFcEgxQklFTGdDTzcxeVh3SWM5cWdieUlFNmxyRndmOFpsVTBTZDNRTFVndnNYM244T3B4Y3V5Q0RmbUhBaUJOT2dVd211K3J4N2F0czMwWUlPSGkrVzl3bW13dEZQRitmaFdOQjRPQUlITUs5UHRtakxhTTYwNkRjUWdqS3ZKbnkveGFaT3lxYzdETmszVHVqaG9tLytuOGZaT0NRVzZTUjdUWUpXUkJzNGFUUE44ZHovMlBERDNzWmYzQlAvcTh1TmVuWGl5Q0Frb3doUURpSmxuMVExeXJTUVlJdGhLNmUzNkExOXRWc1kzYzNiTS9yemZMZTNmTFJLK3lEREFTTVl0VzVtR1dvc1JtM1pYRWZSZi8yUGdUQ09oM0V2V2FGVTRnSkFod0lvQXNVU3pjT3lsMDAyRHl4RmtKZmdiaitlSHQvQzVKNm1MZkIxdG5ZUUUralQxRjJIMlJBTmNjalllMDRwVnM1TFZSN1pPSlAyV3RnOVloNy9SU3JUSmg4SVFTTzRWNmZUc1pIbVQ2MXcwYW9lUkxZaDR3bmRINXpZMDlWY0I5a1lBWWtZaVgyWUFOTmtPbHA1bzdEUTBmYi81SitRL3NtdG5yY1hzdTFJQ0FJYkl6QVFkenIwOGxFRmFkbEhodWg1cEd3ZTZNSkxkRk01RThXM0FVWkRPU21JdE40cm5MNThmckMrbW4rUDJTd2lYdjlKMWVrZE9xNUVjQlkzaUhPdGRxRDJyTjRzaEZxWnNRK1pNd1paRzF1L2NnRmQwRW0rL0ZyZnd1YjE3aFNyL1JsOWRwM0hWaHhyM2VGWHhvWEJGSUlvSHQ5aktlUXJHaFB1VVlwMW5OcGJJUnlEVVRwMjFzSUVRc0hUZGdGR1hEcTAxUGFubjRqTC9zeU85RUN6TWw5UDRUcEd6QTJkSXVSRVdhQWh2aVFTb0tBSUdBUk9JeDdmYktoMDFtUngwYklnbFM3TUJINDhLSGZXcjIvbjc4TE1tQWtaSUxkZGp1ZEZIWmFxWThQQ3E2bEE1emNITytBVXhQdCtBeUlUaW01RkFRRWdTMFJBSUhLTGJZRzJiZUhiR2YzQU5rSU5YZUVwRC84bWQ1NmIyN3hXUXJ1Z2d3MG1wdEROdlpDakhFZnAwSVArNC80cE9KZVA4c1NFejVmQ0FGME9IajM4WWJCczhkM1I5OWFZbHBtSTJRSTF2N2JKOGlpbDNUVWF2NzEvRjJRd1ozWDNFR0M0TDJrczZHY2NQekFIR0IyU3YrTnZ4VWdaSzduSGdlTzdaMHljY01UdmZxNlRNaUh4L2x5RUdrWFk3SktTaWZRTlhCcitheDlZT2FkbGJlOWlJRjdmWlFqTXZaUjNWbUp4MGFvZFZEc2s3MUhnYktWOGRYTDdZSU1qbisyWi9idGQxQUlBaUxjM3ZDVk9jWnkrNzNrVEk5c0Z6a3lNRWJGamMzQzExU3ZyaE1CUWVqV1M2M1JicUJyNE5ieWx6R2V2bUxuZlpxai9RbWdLM29VZzlOSzB0a3RRRFpDcmVOamp6RWRaR2VobGUvMXkrMkNURmtvMjkwUzFOZnMyODFnb0V5NGY5R0FRSUNkT3dRUXRaRktXTmU5bnV2VjQvcDdIalVsd0QxWk1XcVFRbkxYdEg2Z2ErRFc4dm02eTg4N0gyKzdVVHFRZTMyeXNuM1dBbVlqMURvczFxR2Z0VFJhRzN5YWNyc2dBMEhwa2xDMlI5WkpZWE5xVnh5V3Qvak41ZU9qQlQzWng1cEdvMlkxdjM2MlYxK1gzK3VZd2taTGZoOUF4K2ZBUk0wUm9HdmcxdkluMlBXcXJzRzcxOEF6M3FCN25UdVpzM2wvYk94MGRoZTRuZEFYZk1qNENqYkw1WHkvL1JzVEFRaVQzVEF2cVluTjhUeENnN3NnQXdOYTBzSjJlcEMrWmxkTEZ6NlBHQ3lMVWtkV0hHQ0FjRFhiYzc1WFlKQ1BLV3c0UlBkQ1IwTEhnSzZCVzh2bm1aWHI4TTdEMjM1VTRQMFJzOG94eS96ajgrUGY5OXY3L1h3cGVqdExmWHMyS2IvNXVCUXVYVFVTK256elg1L3hleDQ5TG15ZkVwcmRlUy8xNmluejlrQUdoNzhZUkxaT1B5bHM3Z1h3bmRaMGp6dm93UFR2Y2syekN4SEJuU1lVRGx2R3ZmNzV2Vnl1MTdQKzNjM0Y5WHE1dE8wcmMvUUtSbkFvQ0FmZDJnblJIVmF2RHpTRUZ0eUJPL3NqNTlxRk5YQnIrUnhkWFl0M0R0NzJvNEdDYXkzMzJqNEVEVzAwbXVwUVV2MW1FVEYwU29yL2g1VDE1ZjM3NCt2eDlmbnZuYVRwWlV4ajI3Nk9WWi90N29Icjc0RU1CajNMa0ZpdWFLSndCMFUra2hGWGU2akNUazduSXFsRUlDYTkxM21JZ250dEl5WU8rK2F5aFYyZVhnR1ZScUhpemdTVWR4a3p4QzMyTjY0RG9Jdnp6NC9qMU1DdDVjL2p0eDd2ODd6dFNHRk45OXIxSmhxRGVtYlpUeDlNclJOU24wQjhkeVdyK3FqbVpjUitBV3RRL1JvN3V0MlEvenYvWHBQS1lDTVc5a0FHbk1PYXord0hWa2FHdkIrL2Q5eDRvZC9GL1BUOTlaNVNJaWhneDdkbyt2bHphcUJPVHJ2OHA5UG43WFo3aDZpWjVsMzl1NTd2NzVEZU1QMjVlZ1VqMkc4Y3c1NW9lbVk4ZnQ0aERIaTVudDhuZHNVY0FBOXdHUUxkb2E5UE5YQnIrYlBkWDVQM1dkNTJySS9tWnNNU0crUHc0L3Z0VFRtdHpUYXRGUUVwOGRYRFJZM1FEMG5PV3lnTmxldlFMd1pPSUFmVWJ4dkozdzZGY2lUVE1xcWR5a1RKUFpBQkc2SG1lNjI4aFowSDdBUDBuR1VPREl2TFR6Z0pUVjE4VUh5MXhXa2F5ZnlIcHV1dThvY1oyM3dmWXZKc3ZjSVJ6SmtVY2JNcUJUZEtVcXZiOW9RVzhYVXYxSE5zRDZWSFFIOGFJOUZZamRSWm0raEpyaHE0dGZ3aGpwZEtxL0srTlBOMFZ5QTcxajU5UVpPanRSRTdrM29YWW9oOG1kQVgrUWJuaEZId1NSV3RQQTNKWnUrdHUrYjY2OW5TMjJVWW0zby9EM3NQWkZxc2Z6K3FPN1FYT2phTW9EUHNjZ0NGNTRsSmp5Sk0wZzNaOHBvdXVkZHVRWkw0cFQ2NGhkVTFYNjhhb2loaDg3Z3JINXRIWHhRRE9yL2ZiTXhnY0Zjc2JHN1grd0xRSlA3MDJHVjRySUZieTgrUWJVeGVsL2RHSm81WERLWDUyclprbHdKa0UrNUZRcmhxMDNiMjZhVDhycnB2RVF4bTJUNElDbTk0YS9acDkzT3dkMEFHdmFpNjNXUUQ5VFFiTmpSb1FCZ1pTeEhBeVU0RzFKbW1YTGJRU2htd2ZKcVdnRjVtSFd4eTlnclE2eHcyZ0Q3dUY5cm8xcVgrMGJyc0hxdjFsYkJlaVd3SmFOMUhtdmk1NW12ZzF2SnpkRnZTMSthOWhZY2psb0Z4czZiK1N2eWg3R3czQ3V4RXluc2RiWHdXQ0Qwb2luZkplZkM0UlpCVDV2bTJxUkwrNlJCZGVXcDhPU1ppbVZjTGZHMmxLZTJBREQ1OVh4ZTNHSE56Zm5VRm4rNWZmeXFNaVpsOGhmV0hDNGY3SEZ3cnI3Z0dtdkRReTZ3T3RtbVp0VmNvMWcyU3BvSGlmelRHSThrUzdna3FhLzQzS3lDS0xSd21zd2kwbFk2QVI0N2pHcmkxL0J6ZGh2VFZlVy9nNFloRjBMMU83ZVp3OHFyVVg2c1dzK3BsMXV2UEUvb2luNkR3OEtaeVNadkUxUUlVSUtsKzdhSnJxYnppbGZHdjl3cXNuazRHbUFZTnlvVURpSklXTXhUVit2SmpmeTlwdGpmZzJKdlpWV0FVM2YrOUpoTXNrYllKMDYydmVYdlZ6S2NlQ3poMEhPa25tQVdCYXRaN1NQdThCVFk3YXpvemlrQzM2R3M4Y2xhY0JMWDhUb2FkNHV2ejdqVDJSSmVnMUZyazJsU1BTR0UwdDRJalJiOVpNeUpMU0MzRzBrUlVFZkZtbGdrZHRBalZid29zL3NxcU0rMEJEbllPOWtBRzVsd2M5VXowVEh0U2V1U2FxaVNvZENmQjNGejBkVzZqQW8ySnc3dlhwMTU5emR3cmRBWWlmN2t3SGhCUkNUR0ZLRXVrbUpXUHdmOW0rUUpuM0ZsbG9KdjBkUTNjV3Y1d2x6Ymd2WW0zbjF1cm05bEVicm9RNGpLckY2dE1nQlhtbklldEZUZnVZTysrVkVRM1IwaXA2NEozRFpSVTNTNWtqRnFNemZlSXM0MFRNR3pWTVFEczNPMkJETXk1dG4xTlYyNXRzQlkwdUUzNkdnTkVlN25YQUV2T2pBam1SNisrNXU0VmpIU0hZWTJMMzFoS3BpUE9ZSmlrMDBsYisvM0hUaGNTTzErVmdYYm5mWjdSR3JpMS9EemxjczRXdkpjNW9GeFFqNXVaOEEzc25PZ1pwS2FDRTRXVWU5VWMzY2FBRmYxQ003aVhoUXdoWlRtWDFiVitpM21ISERDbjFKRHpYa1pYTC85NXU3LzMrQ0RNRE8yaHIyRVkybm9jYkdGMzdZV080K1NvaUt4aUxQc1k0MjIzMUVTMTFvWmZyMy9OM2l1TWtMUWIxZ0I4dUtxQm80U29NVUdoVUxtM29IZUlNaFdnMi9SMURkeGEvaUFTbS9EZXdCdm9pa2FydFlFWVF4SEVwYzBObVdoTUtjam11SUtOVU02YXRtbEMyR1g0MWRoUkI1SGE1UUM4UWtJUmp1WEJCSFIvbytvT3lHQ1R0U0hXNEtwd2l4bThqWlpuaTc1R0gyTWo4eUdhWjQzdTlTZThlVjhqZDc3Qk93SWpPbkVDZTY5UXNZWXFPRzdXcEVEaFVPQUJSNmtvaGc3UGxiYk5ETkZEL3E4QTNhYXZhK0RXOGdlUjJZVDNCdDRhVDhFMFVPSXBna0dmMUZ6bG9hNnAwTVJ2WDFFcWVndU16VVlpa29UZ3d6TDRxM3I3aUV5UEhEaWRyTnpmU09Temp0R3F4SFpBQnNlK3RVOTIzNFNHZk5aS2JHdTFRVitqS054cktxRzVVMXNpangrVXF2N3ZjcXU1b3l2MENwZHFZeXpnaEw1RGFGVmt0b3FNbFJrV2J4dmdZcW5QVzJnekZJc1BaZGFBYnRQWHRDMVFBcmNIL09aK2JNUjduWitENldzTVZLNC9jMkNQSTdNa2tvQXBkeHlxekZxMktVSTYrbGtYeWxyWmR5eldWSFBKRHI1YzRnN0lnQTV1bno2dTZLcnJLWmJoYTlEWEdCNWFmM0dtZXdPYXVHSmc2N2VCM2I4L2FIbURGdno0VnZxN2ZFSm5oVjZoT2RnNjJNQmlXSlJtWitvalAvcFp2NTRZV3hyTklKV2dZNmNhTkhLcUFlMU8rckN1YzE4RHQ1YnZrR3EvM0lqM09rTUgwOWRvSEszdVhxT3gxQ01GMmJ5eEZDRWxVaHFlMjlHVmEwNkdNK1JhdzgvSEJSeWFmK055QjJSQUdpWDJKRE53THZ2ck5GVTdiTFFNd1hweWc3NUdQYmdGS3dsbXErNDF2SkFlZmxkeXZMVGdSem55K0ZhMmVTR0t2MGF2a0pjMnBGQVdoVXM2Ry9kV3NpTFM3d204ZXBJVWRNMEJnUjdTWHRrYTBJMzZtcDdGTElIYkRyN0hYdkZtSzk2TFRHRG1zZlExeXFsMnFWYnRYS2FBOHE1S1ErNVhOSEdvbW9YdjEwcmNKUWloNFFhL2NNbm1LM2ZFNURWdDBkY1JtanNnMHpiSWhsTnJVTkRzMkNJSVhkZlhPSHREVjlEd3UvWi8wRlFsOTFxOXl2ZXFROStPdmdhK0ZKUlpxYkpLcjFDeHRrVWljQ2FHRG9wV3k3RlFNT2RWT2RGVzN3T0VGOFp6RWszUnFnTGRxcTlyNE5ieVU4eFYwamJqdmNMSDBmUTFXcGJoN0sxMm9ic0EyYStsNVI5UXhORlN2eUNqOXpZbXBGTmFCTEx4dWRvYk5jdDcrWkpEZTkyL1hYSjdaSEQwQ2s1ZUJEY0dtcFpmVnR0RTlZWVQ2dm9hbDAyYkVocG1JbGNSMFN2RWE1VktQaHZKNGV2cmszNFhVV1lmZTVWZUlVTXRhL3FFNy8rSUxIQ2p1S0lNWThXWmp1YmdhazlYM3dQY1FGdXJCMUtMMDhkMEc2ZDlxUWMxY0d2NUpkcVp2T29rNGVJOTAvNlNESjNyMEZ4THZWV3VNRGkwZ1dqQzRFYVBEb3ZWN0dEdlkwTEVTdno4WlpJK2NnMi9aRjR5Y1h1dGxHVGpnSW5iSTRNeG5TNGc5TXlnSVc4L3ZkVFZoRmU0cnErUmxZelM4eWl0Y0FQTUZhU1VzbTJXRXlDQnZqNDlGSlpwRDNLVlhwRnQzV0tlb1VTSURrOFo0UjhGTTh5eGkvYlFZSEVzSG5vWnFGMkVZbEdHekNyUXB0dFlzTlJlRGR4YWZvbDJKbTh6M2pQdEw4bUgwdGRveGpETnhhV0gwWlhhdmk2WTYyRU5tZ0E0Wk1WcEZOWkszRWVFZEZ3MldwaUp1dllkbXUwQUlaejBXMFJaa3ZEckpXNlBESWpHTm9mTERNWmkyK0VRTnB4dk1CVUgvMWYxTloyZkdDUStXUTNYVFg2OUtuWHRvQnZxNjFQaEVZeVZlb1VXUXA3akJRNllGckVob2pxVWNDbU12bTZ4QkpZMk1sZGZlaEdjdDdIQjZrQzM2bXVNU1JUQnJlVm5BTWtuYjhoN25nbVZjeVI5allwMEE5V2labjNIbkkvVWJBM1VYSDVJU0ZrT0NRczdSY0JVYm1mY3JQc3RZaFlwam8rYnRqMHlzS25XT2JYdEhqdXNpZzAyamdFU0k3alRwZ1U2WTIyR0pmdTRvMmJKeG9EMVdEcG1iS1N2OVI1MnZDRjhPcTNVSzJRcUNtY25jRW04aTNSNUR0T01oNjJIa1Y3OFpiR3dKYXNYNm11ZHdHUzdPS25TTEJhb0E5MnNyMnZnMXZLTGZLWXlOK1E5MWJ5YnRxRytma1NCSDVjUnVFWlluR1VYNUxMZEtydXlnNXpSbE96K3RiWndIZGVnd0pWeHVLSlZuSzJqSlJuZkhzUFg1OGZQOXh0OGtQZDZNV1A1NzNhRmR4MWZ6MjgrV3grM015YmYzMkp4OFBqOCtQZnpkbnUvWHkrdUJzdlRUaEhKOXJrdGd4Mlphck1nbUZ2OExaZU9PWFpFSW5yMW5XT0F4QXhoV2wrak9DM3VQeHJlSHo4d3R1QTNuaE9EYjhwMC9VZXpOdHV5Tm12Y2JiUllYNU5MQmxUaTJWanIxYzhkNXZHN1FhYVpiZEtzOWRMb3VNVThaZDg5akFJU2YzWENsUktmZW02OTk0dmJyKzlxbmEvYk5UWURha0Nmekd2cDZqMnNnWnZOZndMZUt3UEhkajY4dmtnQnhmUU9rbUd4N0Y3L3UxOHU1NXM3dVIvL2xGSjRMNU5GOHYvZVFhdWM5YkxEY0VtVDhXc1lXL1QxcEdFYkVETHVkWjEvNmdOTjVFWm5uRmpuMWtvbUhJZU1LSDFOeDFVdTZyRlFaeGVNenB6cVpLdlpEWnI2SVZJazR1anJadHFHek5SL2JtU3F6T0JROXdyOTRMMmt2ZFdyUFBrRnF2b2FCOHhZYVg1VjcwNnJnaXV0TW5OaTJ5dlJmVk55cjgyU2NwVklRbCtUQ0UvWkllVmVmUUlwbXNmT1REWHMvNEJFeWNvRE1xNWRZV1ZxK2Y4QjlLU3gvdmwyZjNON3BHdHBMUnRIUnhxWFJnQUFJQUJKUkVGVTBIMnF0YnNQRFZENXVmUTBGY0M3MWp4Rmo2UFBsWlNCeHNZMFYxaXdiSkhVd00zbFB3UHZhZFNYVkpqSU5meVh3dG1yaGtXS0lyTGNFbHFQMlNrTzFVblFXenY2b1p4VEVndGwxK1dodEFxV3hPKzlLeTNaNCt3WXZUb2RpQW9JYWZlNk1ieWxSVTZIMkVmSTZXZEJ5dzVnVTBhb1UrRXBtb3Z5b2Y3Uk1HaWhocC95Vm9hVkVneEJYTEJOWDJkb04vRlpMOFNOVExWRmxHRlo0WjZyVFlKUER5Rk0vKzc2T2JySmRJREVXQVJKSlVMTVpKZW5KWW1MK1A2UFdQMUNzeTNyRjlzYTFRdGNOZGtacklXOEY2alhhUzVlWnVXRjdKUjdCYm1vMDNEbFJRelFZb2hTYldkdzJPcDJPQlFLT2JJVUVoZDY2ZVJiVGRTSmt0UmFoWVpkZktKU3VRVEExc002THFlaER2cFZCcHFvTk90cmVnSzdCRzRHL0tmZ1BRYlVTMkhSMS9WRnFwNnBLTTlnbUkyQmFGODRmZis5Z3F5Z2RsUWloTUV1V2luZ0xNNVdQTkZyZFdqWm5lREZSL0JSRGFWMTZwSm5hZHdzOWdHUnV4REJLNStRdVN2dzdsWTMrNW50bk51QWFyQjJYS285MTE4UXhUYUxDand0T01WenMydWUwa21RZU1uRWd1K2NZRUFkRnhUOG5JdzIyajNjbHNvYUJycWtaWWxnTFErbmE2MU1uSS96ZmZrMXpwT1lURk5LVFY4VEx6VktENWdHdUZETkQ3cmRZeGliYXY1L2JObk9Nei9MdmlMZm0rRjZqbnAxOUlpSGcxRHNGZmhwS3FDQVkrRDBpbmlnUnB3SkhEQ0dCbXcrVnhkR1F5RGhSZ2VrN0MzNWpWQ2xJY3BoNjRRWEVCWEEzMlZ3V0ZCNGhrZ0VUV2kvSWtDNkNMU2lvSWVOK0F0b0JyYzFjTlA1ejhGNzBOWHdsa0ZmTnl4U1BZYnA0STltQ2ZWUmJpcjhhTzhDSnh2Tk5KQXVkc1pSU0N4bmM2S3p0NGlRT3hpSHlxc05jU2pkRzhYYXRiaFNCSDFDQnBURzVXZDh3dllGdm9wV1VxK21BSmtCNFZxSGM5VTE4TkFnMlRGOWJiSVB4ME4xSmhSb1JkcTV1ZUZUYnJ0YkJabFMwOURmRVhYcmlqQm54cGRhR3MwRERvditOYTJqR25IZzE0OFJ3eHozMUdhTlFDSWZwMUJ1ZGV2RnZMQk85VFZxWHNPa0w0Q1NNMld4YktsWHkweEcrUjhNbjVyWXprd1BPTWNKSHFpc29JUnF2ZUtzZW5WMEg2cGt2VXJ1allvMGdqek04KzBXVDF3REVwNXBsQ2hpeEpxZlZRSmFsM1FudTE4NXZLdUJtODUvRHQ3RHZnYjNnTzc0K0N0YTlVVUtLaEtuUFB5TVNBaTR3TnVTZTIxVUE4bFpLQXQ2MTFGYk9Ed1pWZitCR3Q1WkU5ZGY5VDZmWVBVbDJIR1RrRDc5bkViZC9PWnJRNGVzYWcxSmVhOW1JZDFaSENvU1d0aGtiWWt0alRSY0tTdi9IMnczZVlOSmd3Q2JjV2RmSkZKeVBNT1V1QXYxdFhhWHNyUWJ1R3Nyc2c0eWhiWWJaRVdxdHRtZDFmT0cwMlFKbTRPQk11TUpxelhNcGVVWjZxeW9FTkFJby9ibnhhNk9pcmNsb0piS3Jqc05qRjhncGErTkZna1dQb3FISU1seTlXNXpzSlZnRHRlaWRPUVZXRkxwQzF3RVBab1RtZTJzNGpac0hyYytCemFMVzZaeURUNVZZbXI0bGRUU0R1MjBFdEM2ZnJ1K3JvR2J6SDhTM24wd283dDVmVjFkcEJBTHYzenFXRTV1YmFpd2RVNGUvVE96aEFZQ3hibEhoOVpPSlB1eHE3UnI0cWhyKzhrcTY1eEhnS1FTMURxQnYxbTVrYXFWU0hNSkdWbnNzcGVvWXBOMDNlcDZzUldXQXh4OXZWMElwSytJa1gvL0FrRk1VUDkrL1FUR1FVNnVrZXlKeDZ4SU84M09TS29WRGJ6STVGbUJmZzFKU1FXZkhucXpDdkxOVE9UVTlEWHlrSFZ6VmJzNEJYeEEzMkNZdmFVNndDQVFqZWVKcG1OMGcrL0VwL1MxbXA2UnVpbjBDaVNXWHU1cXBYcnVlalZLaDlGQ1V6L1hhU3pqVTgyVnBIUTlGem9FZ0V1TzQzRnJQQUZwakRxWHRuK3QrZlI3VmdEYTFMYUxFc3FhdFBUL0dyaXAvR2ZoUGQxam16cXRyNnVMRkFyZ01TODlHam1Wak81MVZuUGRqUmdBb1FKU1l6RjhWVGZJRmdqc1g4cWhETml5ZG43YVM4Mnk0UlJkTHJGVit2VlZXd2lZSzBNSG93RTBxU0NoMGZrMUFxZEQvTmtGNEF0Unc4em9mK3JFenlXUUcwcDB2bVdTbzdab0hHSTVYS0xOMkl1VmtJbDZhUkp3SW83WmVtU2hFaXI0SndiTXRERDl2Nkt2U1dkVlJnQlI5UlliaFRHeXE3cU5aVndtV2Vob2dTTXdIaTA5dWg0cjZaS2xYdDN0eWxRS3lHdENQU0JXNkJyVnFlZzJXQU05QXpva3VqVFhueVE1UVJKUFNUQUlkVlJNTm1wT3hUSTh2RXBBbTRKMlVZYmphUXJZL3pWd1UvblB3cnZ0WlBwaVdsOVhGK2xWS1ZzMTZiTVRGTWM0TjcxQkZlaTFwNGMwV0NkS1ZYakxrenFyMXFoUFZXdkpOQmk1VkpRSTlKdWE3VURkMEVGOWJhWm5JMDI5ZVdXRlNJNVhKOTIwWUt3ZEoydm1rbHpqYStRdjZyNkZiaVFseDJLSmVJdVRTN1JiUkVWanYxWkNKdHM2enU1c1pqbERTMm1OYmsvNHRFdzN6SzNvYXpJWHk2M2pjdk9NT0dWaXhvT3NtMjZiK0RBanNoVDAyZEVRWEQyNm5rQlFQaktVOUZJTHZZTGVtS0prTS9uK2dMWk9ReENYZTVJOWRieDg0YlJVVDF3cExUaTBsdlduUm44SEhyZjJHSUZIMFEwbVhucDRnd1BnNDFVQTJsYTJpekljVDF2Q1hOVEFUZVUvQysrbWo1bi9zL29hb1NrdjBrODl4RnJ3Wkd4bHlBMjA4TUx3ajQycGtUaVA3RzIxRm1QQzFHS3cyR2tvTGIybGplSVY5Rkg5MmtSTW5wYWhnL3JhWE9kTGV6bG1ObmV3WUVWOXhTL3kycW5mcUVId0JoMHJxV1IvbVpya2VHaXBPOEhZbU5MK2hMSzBPeUlMV0tmMFd3bVpiSk1nOFdNSXNxVzlES3RvMUh5Slo3bFhldnltb3E5Slc1UzFDNm8xYjR5VWlabFRXdTlXSDVhWVJ2czZQK1hWYW9ZaUhnbTlWRHpWa2k1WjZOVnQ2UXZOYks5bjJsQW80RUhEVmc2ZEFWN1Jhdkg2NGQxZ1BCZCs4Wkx4U3FWdTlQY3luWWM1VXFVYTBzRGx5ZzJtWHh2Qjl1ZDdBV2hiMVVnNDdLWk5URjdVd0Uza1B3M3Z5UTR2aWJQNnVuMlIwcERsQWlyb2ZXZG4vOWxNRXkyN3drbWoxbUlreVpDMXlDQlVobkduQWtOQzlNdXl1QUJhdkRKMG9LOUdnRVI2TDAxQThRMzEwOW5KVkt1VlFzQ1NwWnNUbGVDSVpKRnFMWEtDS1RudVpGRmZwMm43RXFDWjNWVEJsWkJKTlVWcDBOc0ltR3poSUVPdkd6MTFZaVNENHFPM0ZYMU51amV2T0xGVkJOVWJJd3FwWlJqR0J6eWpZVTd3RHBQTjE1UmVtZlNxS09sclgwTVdlclVjT0ZCaEFqOXVwRXdSajVmZ0JzZXJyRnloYXgyVFFnVzBQWHlERnRPMzVudVpZNDliZXpUdnpmWUZkTTN2ZXdGbzIwUzd2aVpmeDIvQVVxR0xHUHpuNGQzdlNYZzNxNjg3RnFtUzgybXJHc2hrRmpZd2JCMXFFZ0MrVE1EK0tJa1c5a3d0czFBbXFOU3k0QWtwV1ZjNGIxSkVWZElKT0kvbzkyRmVhUnpNNjNRMVNEVlN1elJMdzhvNE52UmJRMTlIcG90cXpSZHJ3Qkd0UWw5S0lwK1VISGRHelpFMDdmd0VDVHRldlY4Sm1XeTdNQXJqWTZBa3RSN0tIaEdmWlNlVlVkSFhaUHhHSnJGSGlEajBpcnhkTHNzVCtsNVpXc254clBESzRBMU8rOUppTmFoNHZuUktYeXZSRVNyL2ZLL0FuRGJNS1B6Tm5mcFBUUlNWSjNKV0xJQ1NxTlExdjBFbHQveXpPSDZKNUozNVhtYW5nNUtrQmNaUjZ5UUd5UHdXODBBdlRlbGhveUZkVXBOWE5YQ2ovQ2ZpUGRsaG16aXJyd25kdGtXcWJOSmdJQlVqdUpvaVNXOTQvTEJtSFkxNlBNa3BPWkxtU3ZSN3JBSEZ1bUZzbW5YK2EwdWp3S05UdUhUcEVGSjlhWE15Z0tSNUFpbUxVcUxabGJTUzZvUW5JYkZ4MVZxSTk1QytUdE9PUmpqUjVjYWtsWkRKdFk1eG9YYlJIRkxSa1ZCYWFmQW5NbWJDOG1QM0ZYMU5TaXNhRjY4cFlyQ29vbXh4TFFycWt4a0dxdUJlcTQ4cVk3c2VLQ2w5YlU1Mytob24zNnUzeFRDaWZnV2VNS1dGdm9EdEhsNWdpU0lZMEhiN2pGYWZCTzFVMStZQnJ2SEhyYjBlZlZzNTdDWS9VaE1ieHRjYmtWTWU2SVhXbXZyNmlYaGZBRWxkc2VqcjRyeTByZXJnVmNxcWhtV1puN3R2Tm5CR1lqWnVqQVk2WE5acWdZYXBTbjFFcVpiSDlJV2padE1GV2xNZFFuMEsyQVQrVXVCbEc3ZGFxUzRYc3pRU0dhb1RVWVpxTFVxbXdZblpwdVNjZngwUklkcjVHUktWcnlXc2hFeXVXVFJIYzNrTjZXYnJoSlJFdE1QVFFLQ2xDRWhVSTJKVGk3RkI0S3A1Y2ZrdWEzWGdCVit3Ukw5NEtRZWNJbkNHcXlCTDNScG9QRzlPay9mNE1Ndk5wNUx2MWNmZFdKN0tNL2U1VU42dW4rWlRKbjFkbXJHNG9qMnVnL3IrclRwcDcvWElMeERmMlFlNHVGYi8xY3BocHpIUUg0bGVRS3BUQmk3elFDL2x6S3pBcWJHa0pxK3dTQW5jS1ArSmVFOTIyQ2JPNnV2bVJRb3RhcGZTTjNHUkU1eisrVmxsbDQ1U1dyRlZpNk1UelNYRldFU1Z5aVptbUFVa2RhRm9RZFdJWEtwMEljMGhaR2FuRVF1RldwQUZ3MFMvdVBPRmVpdHBKZXBFcklINTlIV0dkbW1CRmxCSVphMkVUS29wVEFOM1k0cDU0eHlxT1ZEVmNqazJpdWtWZlUwS282d3Z6SXorRFQvV0ZyUUw3ekE2YS9XWjhzM2MwakJPbGQ3cVJyMVNPczNqVnErZndFMXU2SlZTTmNHVVZQRUJyd0dYYmJ6R1ZSTFU4b3JnaWk0U2NFdFRlLzZiNDl6c3hMVitnK0R2dldoVUpDcG1rMEQ2eHJJS1JYTEMrM2tMNTNzTDBIYitBTTBzRnlxakJtNlkvMHk4VXcvaEk0YnBIK2pRU3pybjR5TWVuaGhHQzNKbGtXSk5mVndzRmwxQUpFNk0yMHBadWxBcWFleHFCUmNTVVdWcllpS3NSUm9LWmhHbnZqWXFJMndyZlc5S3R3eUpwZkEveURMKy90Y21jVndRR3ZGNEVZdXhoRklUSkdxWGtqUCtkVFB0aUdwcndrckk1Sm9IYVJWM05WYzRsYTdWbXhyTnNzZVpxdDZTVnRIWE5GNWxPcDVWa2YrWUpoUjdNNmN0SzZoVTNldVRJZVNwUGpYbHZDUWxPcUxZUkVPdjFPR1ZRTTlUUGM5R2lLQUpWVVpZQUVna0ZGMVlTdDBUOTgybHFZNFNXZSs5a2k3ZFBxWCtTNWxPT09hSlFid3R1d21LWWd2UVZFWlA4UUlmbUZVRE44eC9KdDZ4ZjhFV21BYWwrcS9CRDIxY3BNaUVqb3JFRVM1VW9ySFRyYXE0ZjVWLzdxYlFkVEpaS2Job1NTbkRPQ0pSU2ZpUFFXcFc4VG1FMUlLcVdwS0tNMlZtSkpkR2dmWC9NMnovZjZGUWZ4WngzcXhUMVNxTVdxSGtlS1gzMFk2b3RpYXNoRXl1ZWVoVncxTEsxWVowZi8zT1JubVNEYzNyYTU5SjhJeFRyaDI4ei8rQzZWbzRsejFNV01UeFBBdTQxd0xJVmFnSjJqb3A1SWlTQTRMQmJkSkpvSVZWam5XUkFBcG9PYmZvdTdUSVBLeENRZjk0clRqVW9rc1ZpblErY1J1VjZFNjRSU0ZNSUlHR1pBS0hlOWkzQnFETmxDQnNLOXhWd0ZWbmFSd2F6OFE3c20za1BXSFIvcWZCcEd0YXBBWTV2ZHNVa29YQmpQMHlVOGY1VDZNVXFlRGtxNFowUzVHVXBIa1R0dTgwa2I1a0UrOE9JYTJ2bXpwdVQ1dDF1ZGY2QkJnTU42K0E3OU9waEhnYzM2TGtXQWIxMFU2UFZrTXF6U1JjQjd6SVpGcEc0UmxxaWt6UlhMSzdnR1BVY3JWNjB1ZjFkU3hsb3VXSGUySXFyS3NkM29Tc1g1akdUdGNIU01jZUhNMnZwcHpyWDJ2NG90YW81TkpnNm9ySUI2dFVrU3NQS2M3a29KcExIczBNOTc1d0RSKzhTeXJGUWhXN2djWjAxQXlidXFibU1IQ1dUbmFHQXlzM0FOMmpyeXZnUnY3M00vR09jSjNlU1JBaXVoMi9wcS9OdTVLRWFDY1dLYkdBZi9SSzhxTTBxRnRiVEUxbE0wWnJUa1haZzFhMTFSM3BOK0l3SW1INXkxeFk4T3JTSTBOQkp6dUVOQlJWL3dGcjZvMkVWT1NwMU41S1dvazZFZk5OcmNVU1N2VXpZcE9TWTgzVFJ6dWkycHF3RWpLWjVuR0pCUElyVXpLZnJBSkRPSDFqZ3pWZnF5T25vcTlKYmRVNlFWL1hvU1dtL3lSV21sbnBhaW5FODhWaEdlWklQTTJjZkgycEZMWURpMTVhQzdmYXFZaTVxZmRLQ1IzWGU0ZFdXNkowMkw4Qzl6QUQ0OWtmOXcxU2lIbURXckpFTXRGOGkydjB5NWtoVVFBaVROS2VmNXo4RWZXOERyUlZEalIxWXBwZVNnVmMwdGNPK0UvRnU5ZlI2R2IydkJuNDdtcmxMY3MwWGhhMlZXMVYrek1WeHJLNGJFM3RaR1RLV0pLK0NhQU5nNGhzaTJGc21uUCsyeDR5Nm1zbFpkcWtMOGhTK2kwU3lHRXVmMm0xVXY5cXp4UFZMekp6Vm9NdSs1VDZtaGVaREdwZ1BFWXpNVk0wbjZ5VkVIN0JmWlZmUlYvVEZLdzNyWi8zdGNJZzc0TnFpN293QUxoWUM5a0xDbW9wTFRvMTB0Y3FJU0dYNnIxUzUyQlMwc1V4RUJaV2xxdXlTa0VmSlkvTlFnWFVOYTZyTWJsanZuWE44S3FVRTd6UkxUR0hVU1Fub3BWeCtMa085SnI2K3FsNGR3Yy92cDdYMS9EbENxdlBZUGpnVjVpSVdvVzRDeCtuYnVBZHgyeGlTbktmV2c5em9ENlVWUnhic0MyR2NhSngyNyt4ZGJOUWRBalJEQzZhNExhYUR1NjNDUzlieXp3UkRmQTJTVDJuWXZtU09oRUFEalZFWCtkZ2c2Rk9DTFZjNlV5NmpyRmNvcEJScG54dk1qQnAxbTFxVnJZSVhHcnkzMDJ2Y1pRRWtaKzFjS1dYYUR5UGJKRldPOTU4T3NkNkFZRytWbytQWFZKcnQ5NHJzZ1ZDVFVWZFM2aC95enBjWUptOFNzZGp2bTdwL0RWMDVoS1lDL25DWWM0L1BSYVp0OWFFeFV2MzBaRnZMSXhHVjBLNFhLSzNEZFNCN3RMWFpYQWo4SitLOTlJZ2tIZmFPSEZLZEZvWHFYa3V5WjNyTUpSdEhORGNpNWFBa21NdVFXQlVCK21qcVVRck9TSlI2aG5sT1dxMldyWll3Q0drQTV3dFhkZnlwNXR2S3pnakhJcE0xakpGWDljUUN2SmhISUw1R1JSb3VsVmVwTkdwVFZWNkNzRXlOTFJUYXBhTTVVWmI0ZkdCMzlGVVAwTXpaa1daMzdiUnFFRHJOaGxXL0tTcGZ0VjZ6ZGZYS3Y2SG53aU1mL1ZlVVM4VzE1MUlORVhwc0dMZVNnTjgycVlFR2kyTnNNZmRnNVFQRGNic3B6N2dzYlpFYjFDSXhjMyt4QUs5RG5TM3ZrNndZMWtKd0g4cTNtMG5raGNjL2pVUmJsdWt0TFBnRFRMcTJ5YjNXaG5rMFN4WGNiVmdTcXNvVm1UbFpVZ2tnWEVUY2ZqcGw1Yytidkg4dGFFRFVrcHZEU1NtZTFqZGxBejZHQmFMNy9WU2JjUTNycDlKK1FQNmVpVmtNb0RCcUtlY3UwenBUTEt5NzNndEw3ZXBpcjZtNWp1bXYva2tWS0RxbkJaMXdNQjZ4VTRXWGJhNzExaGN4WDdWNXlKZGZhMCtkbkhPNEYvdGxRcHRCYlhWVUlUOCt2Y2thcko5d3lYZDVEU0Rub3MyUUQ3K0pXMFB2LzNsN2xNWmVyK1R6M2FkNDJnbFBmQ1Q2R09pYUJWbzROY3VTZ0JuWVQ5MVZRWVg5aEJRempxTUpSZzZMTytwL2pwcGJQb2FhZFlYcWZucTg2S2hNVkxTTlArVTJvcEVocktzblI3aHBkNGNDMUxUVDJxSGhSTDNPUHowaTFwUEZDNGxHVHFncjVYdDBOQjNjd0kvRUJxbFpuU2VYUUFMMmcyMXFrVkVYMWNoOGdxZ3pPKzJ0VHdLY0tObWYyU3Roc1hHN3l2Nm10cnZtb0pxRFJhOElLMUhNdEFnYWwzelZzVityN2VmTDZPdlAzL1VNZHY4TzBPcXZWS2RDT1FUMGE5RXU4Z2F5UTRYZ0YzWUNGZ0dFZFJjcEs0aDBoN3dzNVJQWDMyaGpJVmZIb2QwUFMvMWt2S3ZBWWxZSkFLb1VXSVZhR2pMaWl0ZzFXczZ1aW1EcTgvbk91QS9FKzlSWi8wRVZuMXRGR1Zoa1dvMVpjUEFDTDJEck0rY2Q2ZmlaMTRTM0NnclBhU2d5a1pMcXNVd0RodkFlNXpzOUl2bVlhcDBJYzNRd1FtdHAyZFZCbXF4Rm5heDBJckpzZ3VnUys2WjJ0bi9vcSt6MENRek1OaVR6T2hJVkg2ZTR6SjAxRzByV3RIWHhFREJ1LytNM1VYU0V0RWFYTGpSbTFhWmlRMjFyWkJZNmhTdnZyN3RqTGNMN2ZmK2t6RUlrRlN0VitwQnlsQzFFbkhEOW5jNmdrQ2R5K0dGUXJCbFRjTE1pVjlxOXRXTkMwaEpKUkIvYzNHR0lxd3FNMlZoWUQvaXFwZUVMVklGR3NpNGd4ZFRkVk9LNEVMQk1QK1plSGY3bWJpZTB0Y0RpOVM4bE5Tb0taeEliZVlpRFdlMC9KVUtOa3ZTdkxwVUdaVFJTdkpJZkx5M3RRdWcwUUxGUDdGUVNrQmFTSElKNlJpQVdmZTVXaWp0NFZjd2dYSTE3VlBialFaUmxrNlE4UWYwdGJhQldrM0ZBSURPVzVqaTBiVHRKRUdQNEU1VEtUWmEwZGRrWjJmbktrN1M2RlFVeWVqU3ZGWG5LOUphR2Uzd0ZwVVc5T254OGYxdTVQNzFmdnVwR05qbFhnRnRZakV3azVTZG9Tay9NdHFUSE1wYzZ3aFhnL0FCR3JHNmhrakx5R3g2NkNNRnd3OWtBOHNCMWtyRFJpSVJKSEk4Y0ZXZ2diWVpOMmdwYnNwcnV3Z3VsQXp6VXdTeHRTUHk3blUwdnBuUTEyT0xWRG5FeGdURGNZelVhc3dscE5DSXg1ckhENGVmOVJBb2N6S2NOajRKVXpiWm1wOElUS3BmTk1CK3VlcWRvWU5zYWlBcWk2K3RWTHJobGJTUzZPczAzTGxVa0F4dFV6eEhRRDNURTcxTU0xdDhLS09pcjhsbXpYVkRtWjdSVE1iWm5sWHh3S1MyV0pOZUtGcmNEU290MlZVdCtGdXFJNHU1WGlGdG11dEJIN3dZK2IrTUpVMkZqQnNSY2drTWx1d1lYUnpzZ2doU3lISytIQmJTTGQvUGZWc1RnQXE3UTc1U0FBNzV0Z25rYTBBRDYzcllzR1JGWHhmQkJVcGhQaEI4R3Q3TFk0Z0h0dE1HYnFXZVdXM1JqRUswd3pIMGFDbmZWMjl4dEx2WG5sVnJDWklOYiswNVVHNHFSM25kb1NBZ3M4dnNyWUR5dGxScUY5Z24rbkhxYS9VaGdYZ21lY3pvemV0NEU4c3JsYmtSZlowQlpxM0lRN281bURuaFRFd1h6S1lxU1JhS25HenhvWXlhdmtiRE9GcnNxaVZ0VTBickNaZE16c1drbWxnZ0ZhdFV4bXhSaXBUNjJLR3ZDNzFhT0F4R2o1YVZpWkhmclBEeE9TS1B3VSt5ZDRpWGlTL2F4T2dDUkZ0U3FaOHpMVVlFNG9RZjhtNStMeU1QWklQbEV2Zy82SzlGbzRjQ0syVUExWUFHWnR2MWRRbGM3SFdZLzB5OHg2UG1wUXpyNitGRnFsU3Ntb3Z0N3JWK3AxQm91Zm5oOERjenc1VUpITW9LR2tZalZYS0dzWWVPdnFHSmlYOW1SYVpIU0NPWW10MkdDZlhaMjFSVXpKUW8vZGVXVWNWK0tsRkk1cEhQWWVUVlVvSmtRV3o3cVZXNEZOTlhsQndFR2lHcmozWkV0VFZoSldTU3plTXd6OWw1aXR0d05pY2JHMCtzNld2VVV2SG9VbnRLY0p1UW1XVUJPNTZwb2N1b0JablM2WmdUcm5WTHVIYlJvYThMdmFKV2dJMUl0MUthbWJyWHpOZ2k0WGlOS001UmFOWDZjSUl0a0tTNkJwRTVNUlBVY1hsUXFkMlNERUQxQjFPUHVtOTVrTUJLRFZ3TmFNQkREeHZCVzRhbkJDN1dEUE9maWZkeXo4Zjk2K0ZGYXNZRlp3ek8zTWFaUTZNWnJRQlNFdGJzdjVySm8yeUNVRXFTTWpDRjMwTnpzUUFVVFNIODA4aHJscFJQU0lrcmZ4VjRWYlc2VHE1YnIyRDZ4bXFsa2ttUXJscEs3ZE9wYWhWRzlDalpDTDBsdDQvMlVxL3phaVZra2x4Z1ZDZVowWnFvak0vQXlXdXQzRnpPMDllSk9VbGNwQ1N4ZVpGUnRKNnc0NEZMRm5DakxkWjRmbmZZOFFGSnZGVlRya25mRjNwRmhHaysrdnBSUmVsMHg3S0h2N0JpYnRtQjBJcG5mdEFQV1BycE1zQnhlaFFDQXJsYjh3eFA3d1BacUFQZERoRnltT2dLUlRwbmtSenpHdERBcmg0MkpGbFpNQ1Z3c2Q5aC9qUHhuaHMzblQ3c1gydmJPQnljK2lJMUx6T0I2WWpMTWowclk2NXBHTjBKZzBYVWdqZWk3SE94QUtsMEVITlNIQnNTRjNlZXhjMjVLY2ltK2szcTY0Q1FWc2VHSTdkSnVsWXZadkpXU1ZTbWxMQ1NWaUlaRmxsT1QvVitzNVdRU1E0RzJLUXhXTW1TNlVTbEg0YUR3Mm1pY1NySU5HUGZocDRVRlNZVDJKVHdxeXMwalNGczgwRCtYaXFxaGVTOUovRlY3U24zMmdqK1N0dTFYbEUrNlJCZmpwQ0xZQnlEdDR6OG9wWHUxN080SUpLK0NXQ3psb3Z6NytYbm4vdjdnZC8zMncwWldrb05YWDNxMmE4ZVZtOGxRZExUenNJdkdyazNrci9MUVVONkNENDkyUXZUeDNEUXJLOUw0Q0t4S1ArSmVEZGc1UDRQNit2eFJhb2tPNXFKSGU2MTJyNE9WNEJLTlF2enZwanp4SjNSNDZydk9pQ2dEWXlQUmJmbm9MSHBpNW8xTGRtc3ZvdVFrUFl2TW92M1Mwa0d2eGM5RFNvREJSWjQxaUxvb1diTGt1a1NlMkNreG1OWm9qcGhLNXNMS2gwN1ZpWGFjWk9HV1BmL2xaQko4Z0dTcmRVbVRkVlhvYUlZcVZUWm1UU1Fsc1lhaGJGSlVNS2hTYzlGWE1iWDBIQ25RN3JoZWczSnF2VWJ6VTljSnhOelZrMDUyNTJ3VWU4KzN5c3FobDFicEFvbWFXV25MWmRMUnZQU3FCazh2UVlwSEZHZHl0cVF3ZGFqWDJRWUJmVHJ0L2J4cm96a1NWRlFRM1hHZDdVOC9sbmhyNkIreDlSUHZUdWVvWW5kU0U4ZjAxcXp2aTZCaThTaS9DZmkzWUNSK3orc3I4Y1g2ZkpTVWhqQ1ZsRkdDeWVLQkttQjBIMXpWVEFObVVkYnVTbDJ6cnlYRDhWNWNJVnExc3ZzdVlrSUthYlNMeHhVZWVZZGl6M05tTEpXSzNsQW1OelIvN29UVVhVbFZ5S0xSaVZIb291U0k4blRTVHZpb1RWaEhXVFNyWVAyaTNSWnVtUXFkWU1udWFoWlJONjBEOG9pNFVpakNrbFBKRmhzMGZoUzZLdXVjN1ZxTlMzci83allZNHBCb2Z3dHphMEdIeFlwNUh0RjlFbU91TWJTeisrVlRFMDF6MTJSNC9HRHprRk9LVU45NjZkNmxaWWJiUlRvamdULzBvT3dWRzY1ZWloNSt0dnhoZXlBQytnZkRKRW00K1RsdWxZQkdwaHUxdGNsY0xIemNiN0RuN284TE8rMXdSdlcxeE9MMUx5VXRHZFowbUJHb1JaeVVJM1V2N3IyRzVWM09nK2EvWWVrdERMNVFUeTFDd1N0UldDa0kyM2t0TkJ3R1JQS0t1d0h6dS82d2k0MnVvNVcwa3MwMUVHMFFSVXpySk5ER2FPVFExdThUTHN1L290d09KbnJJT00wc0Z6aW1JZmRYSEpyVjJyTHBCWldybEdwNStOTEsrMFl3ZUFrSHRQRnNjbW9vSHQ4SXZJVHRGTERlS0ZvaFovdmVDRmtscGs2NzBFSnMwSGJwb3NLdlNLNnRBeVhaUS84ZnRIY1ZkSWplMVliRlc2bUM3amtLN0pITHdNb21QcUZLeS9vZitPdCtkNW1ZcVRURkVLbXlNdFlKSnJtMUxWdFBEbzVvRDh2NXVmMjFhUmx2OUtTQVplYWpNRi9IdDQ5ekJJM3cvb2FMTlBvWWY3R1JXb2V2SVFCeWc1dnlDb05aaXdBME5iVlEyY1BoMU5WMHVSTE9BNjYrZTIremNndkhEWVczT3V3TlRRVlpQVGVKZ2doWkNBSEYwNkpwalovNzVWMVhXbmZ6dExTNUs3UWNMTS9iN2ZibmZnbG51OXdpd3greGNub25yVWx2Ny9mU0p2MTBYYTVHcm5tUnFiQUE0YUFGbmxmS0pqTVVsWmJ3dHRObGg1S2ZGY09JODVDODhQaGhkdXJOLzhvbHBXZWtHQlZYRDJiNUlFR1VjN1Q4cmlrbG9JTmZsU0k2WWE4cXY3TjU5dmI3ZlorZDUwMGVBRHREdlByN2MwM0I3eDZoVjVST1ZxeWR2M2M4SzB3cEtPSTVIZkErRUlaVjBtbVZSaFM0MkVzNWIwclpjUXJaQkovUGFTOWlwMDM1dkd1TmdQQXZCZFpjNlNEZ3RyZ01tem01WGtPYUVvMzFlUC9LUkFMNEJJQ2NmN3o4RjRid25GOVBiRklGNnVzVlJKUlhDcmhwK0RTVnJNZjFvNG5GbkhTVzc4RUxDNGNlSlIrdFBhU3dZRXNWQWsxbXkxYnpFZ1IwbzYwZS9qalU3bC81OW1GYWJWU2ZoVVYyUTB6RTNJRVdVeXNPRFEvMUpCNUt4REhJQzVONHFLUGRzaFo3ejAzTW9YMllZWm12TkpDSlpPbEpzTHNQRERVa3YvajhYQ0d6Rk81bUI3WWxZWWlUdUx6dDE3TWFudnozTGEwOVVoNFhRUjVheldrYWFINlAxQWNUaWZLWGtHaFY5UW1HZFIwbUJvOVV0SlNDQmtLR3hqYVRDZHA3bnZpeVBLUHNxK2lJSDJidytzSjNuU2JNcmJ0Nk1KOGI3UHBnV3h2cHB3TkYzWXBJV3V4UTdVMGlmbUo2ZU5SeFRMK0w2R3ZDK0JTYTZsOHI1VUQ4NzdBbGJrYTE5ZW44VVZxdHoyYUZZbGFqWWtWZ0hNYkZnM0U4N1RCWi91SkdvQ3MvaTk0Rlo4eS95bTZDS0xoMzZXMlpDd1Z2RWlwV2E5QTYwMmEwS2RhbjVlM2Z4OWZueDgvNy9vTVIwWVV0TFlGNWRDWW9WOHp6R1hpZ0NoNFlOZnJHWDdYSzF5cVNDK3NoVEJaNitzd1dldHJrM3hGSWxwNjlkRXU4MW5QNVVhbTBDS1lpc1B3S3pZVElxdlFYbS9XWTRtWW1PbGkvL3VISitJd285T1dlckFYSmdjNk45RGxoR1IyU2krWGVrbTRFR0d2K3ljL0NqSTlOM0YrNnArYXBpNzFwV2wxVmV3VkZubGdDUWcyNEYrdGFPbHFRaFZHQUFBZ0FFbEVRVlFUblpqZ21Sa09aZXhDeG9sR1NaYVFZMDVsY3g0WENpWi9idEhwYS9POXpaWXZaS3RZSVBKMGNTd085V1UwVFBWakxDRnJHYUJKZW9Ba01DTm0vbXZoa0pqOEJYQ3B6V1Qray9BZWdoYmRUK2hyMEh1a2Fmb1hxWDY1YU1leUpQdklzL1oxVCtpWkp4UVM4ZHZBMVhkNjNIVkdKZ1lzYTd2d0lqaVNDZFpUSEhlVUZOMGNvUS8xSFNHYzgrcDMvNmtzNlNTZllTSk9YUHFWNUZWWTZTWHVXWkF4SGtZWk1aaC9xWGxicnFSeVZjeWg1TE8wVUdFcmcydXdzQUsrdmlteWZqbmZiNjNLR2xsVEVYL1hhWVRsdWVHRXJmUUtXWVNlbmNHMXZuOHZpL0xuRGxzQWVSMkhuVXBvR2lRR0luUEQzbUdMbFovKzNtYm83aVJyWWJjdjEzZC9mQi9mWVBKZHJtcGZLMW1ORWh1QXpsZDJjd3JnVXJGTS9sUHc3dll6ZVQybHIya3FvN0xzWGFUNnFZaU1DWnBpOU8xeXlZaTlmemhiM3BPVzd1ZU4xcG1yL0Q3Z0NjWnI1NmRnclpxTnpydWxPQzJrRlFoOWdrd0FKQy9YOC90M3NpOEZzcmtzTk9YcDE0RnpqdGJmU21kQnBrM3N3Z0Q0NHEwWlNUVmIybHBwSmpwVEVCWjYxcU1jcGt1V3VCdEp4YkhwZDYrSDI2ZkRyMXdyVG5OQiszMkxjbmQ1dzNqQzRIeHd5YkJlcSs5dE9pNHpLM1ZMakduNkZNQ2xwbXI1bHArZWk0MTRyN00wcWEvckRhUkxLRm5FdkV6U1RjMm5hcEdTRFhFMXQ4QkdxSzFGNVorQmdCQjlIUURHZ2N4MzArbERuT2h0am5qQTRrbWRrWmsxRVVPcU0vZTRWZG0vc1Z4cmtRSmdUb3dZUk9PbU5zb0t2Y0x3VFNZc2dxM1ZFTmsrSDc3ZTFlUmZUM0hHQkhRQlhHS3Zsai9VaDQxNHIvTzJrNzZtTU5penFCRXIzV2ZsQ0J1aCtyaGlDV3NlSEVub3Q3RytjaWtPWk5wZWtJZmU0bGhuU0kvWkU1TmpOSGhya2VmQ1N4S29JVUx3TSs0ZDNtNXF4Ni9RS3h5NlRJZ0FySkdNSm1jSDltZ0VtWUF1Z0VzOXJ1VVB3YklSNzNYZTl0TFg2SGRrcG5TZDZZMUxhSWt5NzF5d0VXb0RRQVV4QU9qQ3JtTWJwYjlXaWdFWk1PTmI0cHB3d252TUxGWDd1c2RhSW5oa3FLWFRmZE1GWTQzTEhBVnhPd1pZWDZOT2FmWmVZY3c3MHdjMEZJODFwZzRRYTEreUFGMEFsL2l2NVE5MmNoUGVHM2dERmJLUDkvVjl6eHpJYUdCNjR5SVlZYUhmYkRDUWpWQWJBRGgxMWErdC9PdVVZa0FHdEV6bVFJVUhJeHd2R3ZLbjFKTmMvTXJSWTY3M1poMVppTEZHK0ttK1lnaHFVL2RhUGY2UlVhKzlBS255T0hhWlBrRFdQdUoyckNlOHRWaW1Ud0ZjNHJhV1A5aWxUWGh2NEEwTVB0YTUydERrMHhXeGFuWkk4anJkWlNQazBDeGNVaEFIUmVGZ1JMWkErc216NXBIQm9XelpIb0ZpSTNhcG1pa21SbndZdEZFWXNydUhlakNVR0FMM2VuT0Z4dHdyN0U5dWFrQldpNVYzbUFIblpZUUI2Qks0eUd3dGY3aERHL0RleE5zNWZMZFdVNjJYS3FRZGdQbWx4a2FvRVg2UUR1clhXUDUxaWhsZ2hpMFpET0kyS0JZMHl3Y1VuTnBmbnpVUCtZZHpIV21Jc1ViNDRiRThkSzgzRHlvdzl3cFhlV2JNc1h0anB3LzV4M0lIaWd4QUY4Q2xEdFh5aDN1OUFlL0R2RWxGRHdFMHJlZzM2Kyt3RWZMWXk5K29uVUZnUGYxc1NiN2luOCtaUlViNXYzV1lVRURYUzRVbDFQWjZ6a2NMUzI5NXY0bzQxS2NKMER5QjdZTUdLNGk3eDZ5OVFzR2UyemlEUXdrdkhjMmNCcm9FTHM2S1d2N0V6Rm1kOXduZXBLcUxnTGIveHlLYnF4QnlpUmF1OGFnay9WN1lway9ETTR1TTB2Y1pMOHBwRWhaNXYvN1JUM0lkMHNnQzRITEt5T2wyNXlXOWRnbXRTb3dyakd3ZmRMWVhGZWZzRmNyMXpOQ2hOdG1qZTFGL2QwdVlCYm9BTHZXcGxqL1Q4YlY1bitGTjZqb0lXSDA5RzZsakkrUXdWN3JVY2pBYm5pdlYvZHQ1azhpZ1dHaVN2ZUJROWFzM0VBeHdYcHJieG5xOHpZYUhjRXFnUnMyY3BScWZNZnE1aVc5MHIzZDVsb0d4VjdnRGt0UEpHSlhKcVBKeDhKNnE1aVRRSlhBUmgxcitGRllyOHo3Rm0xUjJFRkNQMWpBSUtqWkNEbk9sUzl0ZTNSRXNrZm1EZVhQSW9KK0V2L3JSSWZERHU3V2s0bzE5eU40R0xJZkV5TU9lRHI5S1ZlR0tDMHJFbks1THNNS1l4TmNyTURteUlXL0k2N2ZlR0h0NUFGSnpRSmZBeGM3Vjh1Y0FXSmYzT2Q2azlvSUF6QUwxbTNWNTJBZ3R2Qld2ckQvUDdoRVZtMzJDekRsa3RIdWRQUVZzQVVERjNvczlTQVg0ellaeUxBdm1BbGpwNWNSVTlmK0Q5ODkrRUU0RENtcWIzeGJ3dWMvZGNmVUtRZ1haZDl5Zzk4YytycmtPSFRWOUJ1Z1N1TmpmV3Y0c0ptdnlQc3ViMUxjSXdEQ3AzMndzaTQyUVphMThvVVMvU0lrWXBTbGtIci9LSDZ3ckYzUVlPeWVOaWcxM08rVnhGNE9VdDRHTjlJQ0V1a1d0dyszOG00REZRRFFpeVdOL0lsT3ZpZ1lhV0NWN21TUDlnS3hWWXdMb0lyakFieTEvdWtzcjhqN05teEN3Q0dqcFBITFMxOUtnQ3paQ1B0bnNuZkVEKzJPeVdaTHRHVGFZb0d3ZDlmZHl2ZC9jejYrMGsrTXRPWVhNMisrUDdseE5GOE9HWmFlRVJnMi9SdFFVUkEyWERRQm4zdjFQelRNTWpZbDNkS0xGMExJaHdkTXIyTXZJd3d6TG56MHlZZGgvbnYvalFCZkJCUUJxK2ZNWXJjZjdQRzlDd1NDZ1ZFMjM2RFhWbC85c2hCYVN4U3YxMUJHMFd0OW9MZElaeXJUQkJOUHI1ZjkxbjAxS3B4c3p5SUI3cmI4dlYvVXpRUTMxUFpXRkZueGhBOVRwUWVjbGpFYk51R2ltQ09CbHQyaWJpZmdGelF0aTg4ck9MNy9DSFVldklHeVQxOGhvaW5FSEpsYkFZWFdTbzBBWHdRV3VhL2tjSFZ1TGR3N2VoSVpDd0FicitwL004U0ZrSStTVHpkK3AyQ3FJaWJ3UXlWZWV6M25BcDNXVllJY25sTTRmWDQrdkQvUnJNY3JnZnZCK3ZxRitDalBJZ0h0OWduV0x2NXJkQVZxeXkxUmE3VWt1a0dWOWhrTVJVaGhGN25OVGpRR0xJbHVUbWZPOWdsbFJRQm1NdDFrSk10bkRnMVFmQTdvTTdnbVhaQUY4cnE2dnd6c1hkMElIRUZBK0Qwam5XYWVDalZEcnNLamdLbkRPTFYxYkdRQUxoWXArMkxEdzQveDdmdndEUFhabmMvZGFtWEhMVFNEelFLbXI2OWZzSUlDKzY0QVJhUzMySjdsSWx2VXg0bUtWdUFhcDFXV0hKRWdFU1JCcGhCOHowYUNOMnUxc3I2QVBwWVVHL2RzeGZGRHIvSmI1STBCWHdNVTM0NVhBWit2ZUdyeXpNU2VFQUFFVHE1dWVEMnlFV29mRkdnZ2JHSjVwbm5RVTlzZng4Qy9vbGY1YytQZEEweHlrVXllUXVhSG0wNkdTaWdXSEE5N3pUSUhheGVXUG1WSTBJUTNFWUNvNE03WFlRaWRsT3R1eHF3MUhaczFFcjJDMFMvWWJtbmc5azZFVHY2Y3Ezajk5S3VDaWtDNkJ6NGdPUCsrTXpBa3A5VTVqV0d2ekUwTDVFQXlFV2tkbDh3Qjh4TmhGN1pwK080dnBoK0lVaitzVzBhdUlINU13amd5NTE2Y1RUUWdiTlRCa2cvK29KNE9rMGkyWTd2RHJjc2hMNUd3ZVNKajV5V3VwcVF1WXk3eDJCVEs1cjNzTkhadnBGVXlwb3ZzTXRIY3ptNFBCMi8rMkYrZ2F1TFY4emg1ejg4N0ptOUNpcC9wUTRNMkxFN3RwdXBsY1Vud3puSlRMejROL2I3ZjcrV3AvWjkvS3RmcmE2Ykx5dVdHcmxsOHo1ZGtNYzRhUklmZWEzc3lBSk1vT0lld2FWenh3bHkwMVBSeWczTXlKNjNXODlxOGJyN01JRXZjQTZteWlWNC8zQ2lCdjkwcUJpVEYrdXFxZFFOZkFyZVd6NHNQTU95dHZRc3ljTFpxUEFKS2ZnMUorSXVqV054NzJqSFpmdGViU1ArcGRYTmduKy9QZXlwSFMxMmYxNGc3bFp6YzN4Vnh3RkJudFh1TmhWUHg1blkxWWhPMW8zM3lKU2pnSmFrdWNmUS91VS9WVVRqbzVVTXVsSUNBSS9GVUV0R2llajFTeUVXcEcycXJUNWhvOUJXRVRPdjZkUFpjenBhL2Z0YjJ5NjNiZUtESTNyYUoxcktRWUFjV2dlYk5wcG5iVU85enh0cEZTTWZaS3FMYU5sSlFTQkFRQlFlRG9DS2g0SXNqZTJRMDdOa0xOaU5rV1Y0akVLY2Z0OHY3eldTQ2UwdGR2ZXAvdlh2Rk9tM3M1VW5BVW1SK3RVVnNPaUtNS2JwMHpzSjhQUCs3M2tPQkJmUFh6cktnUndLU09JQ0FJQ0FMSFI4QzZZck15ajQxUU0yYkd1MnBXRzgyVThWMjlzRHRiamdlZlRtbDlyZlpvYiszT1p6dGJyU1dIa2RHVEFMWmJDWUJTZTNBd3BmbTQyUnBQY2kzYStnaGJ3eVdrSkU4UUVBUUVBUllFOUtzYzJtVnZybFUyUXJrR29uUjd3bzM5YUJmRzlxOTE1ekdscjcvMU9lQmIrVHh0MUJuV2hHbGs5RjVBaVNtd0NWcTNqWlc3WDdOK1NvMkZlWTl2ZDdlQ2ZmekQ1dVJlRUJBRUJJRURJR0RrM3ZTN2pka0lOWU9pbzdiODI1ZW9ybHVPVXFYMDlSSVBiOTdjYmU1d2M4RnBaSFN3cExBWGdPOHpiancrcHJ4OVBqZ2V3VUhBNmFuYmpLc1VGQVFFQVVGZ1J3UXc3b20vNmJOQWlnd0RvV1l3OElVZDlHTitTZ2k5MHlidGt0YlhxdXAxei8zcmFXVDA0Y0dTU3d6MldmazhtaGxINWV3empkSFh2NXZkdGRhajMyUmFHV2JrdnlBZ0NBZ0NUNHVBRVhxTnZsSytuMnlFOGswRU9YcVh0ZG5QODZ2L2V6OWZmaS9uOTBnbm9YUGFwb2xTK3ZxdUhyeUcwMWgrYzV2ZXpTRURyT3FBZWdFR2JDS0NMdFZKNWV0UFQ2L0g1OGYzemU2NW1NbEcvK3NiRnltK0pFMFFFQVFFZ2VkQ3dMNjZjdGIvWVNQVWdaK1IyZ094QVl6Ulh1L3ZkM0RXTHNIMkp5UTFncEhTMTFkMSt1M2VHaXp1Nkc1SDBRbGtxQlh0b0JlMExLcmhsaU9LWDdSUGN2bnMvMzE4L1B2MzgvUDkvWFpEeXlyL2E5MUY3NEJQaWdvQ2dvQWdjRHdFN0U1blV3QzR3RDhib1VJYllaYUpqSFpMYkh5KzZLYTB6UmVFZmowL0VWekxWbm9KZlEyS0Rya0VjNkMwOXh0MmhQMStHQm5EaVZLUEJTRGc5VGd0KzhicVNhNjhzbVhJS1FRQlRHL2t2eUFnQ0FnQ3o0K0FEbndHT211Z1gyeUVPdHEyajVCMTFNR2lxRVFXcC9yTjE4L2d5bm42dTBBN29hL3Z1SnY2Z0FQUnMvWlBvZG1HckZGa0xHbnQwTnI3NkFLNjJQS0d6WFFFbTBGTEx5UmF2UHlJZlVrUUJBUUJRZURaRUZCbmQwSDR6YnFEYklRNkVMUnRkdFRCb3FCckZxZnNDM1NiMDNtd08xcjBFTFVZNld0VTFGOGY4R2RuZFkzK3ZmcDFJbU9MYTRYdkFHT3oxQVdZUEEyN0JnakZ5cjlDekQ1Z1dXNEZBVUZBRUhobUJLeEFuZTBFRzZFT1JxeFBuMWNyS1dvUXVsOEN2ZkJsRHU4OVhhQ29GdGM3VmR0SnMvcjY5dmo2K3Z6NHNSanMvdTJEUVdTV3ZtbUZuNGNDVU10bkdqcldiRmhSWjdjR1F3eFA4bDhRRUFRRWdlZEV3TVFyVy9ZaWl6MWtJMVJzeGMrMGp5MzF5V3hRcTR0VGhxL3Bjbzl5dDIzTEtqNnN2dmJVMGZrdFByRDhlR2YrNEpNUFJIUTNpTXhDaDJBcHVORFlRTlZLMGtROGRMaHZwaWZ1MG1lNUVnUUVBVUhneUFpWWc3Zk5NZUJjWjlnSTVScElwTnZIbHBib2RxSlVsQVNzTGlmS1VmRTQ3MFlCMzN2UjVWSE5JQ0hRMTlmei9mTDdudHhPeGRONDl6NnJJbWlyNzNZUW1hVVJyZkN6V0tBRHY1Uk9YMWttdUhXMFM2OGhLSi9tVGxJRkFVRkFFSGd1Qkl6b2MxVFdXQWZZQ1BVMGI0eUVMdTVKalN3YS91UG1IZzBEUGJSazFWaXgrdnJ0cEQ5NERYbzU3WFhTK3pQUDlRaXlidkx4RGFvZm5nNS9TMnIvR2wrUVA0U01TMWVONTdKdjRPYkJOWnlxWDJ5ZUlNL2Nxa2U1ek1SWTZYOGFic09DL0JjRUJBRkI0SzhnWU9PbXJzNGE2Undib2E3R1RSQytMenBBbXVQOEhVZXRvVzNZY1cxM2d4MTlmZnIzZTBIZCtwNVZZei80ak5XbHlSaDRBQmVYMi9jUHZoOUVQM2JXQlFzVUhrUEdhVVUvRWVha2VKZkltWmNnTjRLQUlDQUlDQUpySW1CM0dKUEtxNk5sTmtJZGJkSkJiMUsrV1Rjd1NjM29zdC96TGRMTjlzaFkyaDBzZlA5YXZTRUYvT3lzNmZOQkRkZGRabnpjVEJQNWdGZXdEWG1RcGg5OXlEaHdhUUs1ZVFId1pQdnBVSkZMUVVBUUVBUUVBUjRFNEswWDZqY2FkelZzc0JFeUJKdisyMWFiU3B0QzFyYUFybCtDL1UvNzRMSUJKdmp2S1hqWHZ6NUJtQjNEM1VBOHIyQS9TUXUrNXdzUWk2Q3VyWnFFbURMNTdZYjMxdjlqeURqVTlkSHVqRkx1K2ZpMVExUXVCUUZCUUJBUUJBWVIwTjkxYUhwVlZiRUpOa0xGVnNKTXEzbjd6QTN2TWFPcnB6MmhINWRyOW5mMnoxOTUraHJldVUyYTlaNk5pQ1AzWDlSMjhlZ1psSENpNXJDaDNoZnRWeGdOSXJNQXJBa0U1b3pKeDF4ekxmOEZBVUZBRUJBRTFrZkF1SlBWczBNMVZ0Z0kxUnJ5OHUxTHl6MjMxeXVTdlBreHg3SFFlL2I4VjFDVzdiUjhmUTFmbUVSMVhvcUlJelBxMDgzWDdORXo3Sk5yZmdDcjdSelozbzRpRXhMSTJBb0EwM0NrM1RZaEY0S0FJQ0FJQ0FMTkNPaFRSZk5uaDlnSU5iTk9CVkhmNGk4VHRzMFQrM2pEQTlqcTUvcVE0TTY2dDNrQ21CUG9hOUNScUZtQmhPZXl4elQrSVZxWGIxY3JMNFZBRlhyUEZJTWxsRkdhUzUzRWxlbGNOektHbGlMZ3NXS3lUaDBmdjE3cXlKVWdJQWdJQW9MQU9BSkdxanNCMkRGaWJJVDZtamRtUXJ1T2RlaC8vYWlvZ0t1VDRKeDd1M1lNOURWR3hKRjgvb3k0YmZ5RFdrNGVQUU16d290MjRFNkRyZGQrTVlVTU5xTUpwSTBLWUhKNnlyVDNSVW9LQW9LQUlQRHlDTmczV2d4RVhEM3cyQWg1Vk9zM1p0dThYY2Y2TkQ5Sks3bHBvSW5TS3NvdHBLOURmUTFQVWRGRFR0Y0dILzFMSFQyekI4c01lUXhrZTA5SzRjbXhiUERjMUlyL3p5S0RMMW5IWDhRZ05vWERQVHRsWXBZbFJSQVFCQVFCUVNDSEFMNTJpMzdOS2lwRGlZMVFobjR1R1dMUDlITmQ1RnhaU3Y4OC8zclBaSkdoNGRZQVBkZnNPVWI2V2tmRXdVbHYwR2FQTjR6SWgwZlA4Q1NYeDBDVTRIS2J2KzVHSmlTbFQ1Z240K2s0M0xOVEpteFA3Z1VCUVVBUUVBVHlDSmluZnByVlhZNFVHNkZjQTVsMCs1cVdUSDZZVE1ld1BQY1YzRWp2NUJSUWJFWWowdGVuYjBYc3UvR3BhWHFIeXRWVGliQjlIZXRyLzFoNjJLbmtmUzh5RVJGdGdubGdtVUl3M00wZ21UcnlYeEFRQkFRQlFXQWNBUjN6N0hobGRxWXROa0laK3RsazBHNzBTNFp0NDFyRXA2ZjlJTVZYU2JDejNMb2JIdXRyaUloVDVidHZCTVNNbUpSLytBNlZpNk94TVk3dCtkZW9OMGZDL1FRTC9HbEV4akJrLzVOcEUreWxtMHdBYllRbFUxMytDd0tDZ0NBZ0NIUWlZTjcwNVNtSVRocFVuSTFRYitQbVdKV2o4VW9rcUxoWEZtTFN2a1pEUGVXblpBbGFmYjFvZktpTmxlRVZaWjVWa0NWQkwxaHhnOHRvVVhnTW9yNzJEcUFWYUxsWm5jaTRWZFUxdEF1L3BCOE50RnR0bXBpdXBBZ0Nnb0FnSUFoMEk2QkVjdE51YTVrMkc2RnlNM0V1T2N6UWVxUDZRQ1cyS0ZjZ0I1SGRVTEdDaDl2NERsQ3RaNzlka2pvaUR1OGxhMkxwaTg2Rk9Temh3ZkZJWDNzUit4aUVaRW9uTWpFTmJZT2w5cW1CeDRFamNIRVRraUlJQ0FLQ2dDRFFoSUFPZWJydVhWTzlxQkFib1loeUxjRnNuRGVHWjIrL1Y4OTN4dDNxU0NHQm9vb1RFNHpBV1RWSy9lY0ZoL1hoY0tEc2FPRkViVXo2cE1lNnZFOWpzK25yVG1SaURzbVNTTnB5dURkZWVjUThKaWNwZ29BZ0lBZ0lBc01JNkhkT3BtT2VQVlRaQ1BVMFNtWDFxYWpXTG9DbWNkMWU0UHZpNlcraWlkL2J1RlFQZUQvZ1plQXFUZzNXeXMrWDFmclFCSkVFMnVjeUViVjNIYncyQmQxaWIzdGlOQjdlaVV5TXZGYjRIak9xRko0OWo4dExpaUFnQ0FnQ2dzQmFDT0JaWlB5RkVlSHU5dGdJZGJkc0gveTIrckpNQWxTTjFhTDQwcEp6eWsra0R6ZTdlajJtYVRic0ZZRDAxeWcyQXdZbUZvZ2t6b1pqTTlGNU03U0ZSdmF2ZTVHSitxZ1ZmaUpLQUR5T2NCUzFJQW1DZ0NBZ0NBZ0NiUWhRTkJiVWdkRTBiYlVTcGRnSUpXaFhrc3l4cXJJcnV4RDV3QXJuKy9zZE5hNTdNSHNwQXNmRnNFT1g1T3ZIZExGWVh5K2Z0bmJ5Y3ZvNi9ldzEwazQrejlVWTdYZTdZRjlRMXZJb3VGOVIzMm1GbjlETTBNR0VGazhTa1VSQlFCQVFCQVFCQmdUd2ZSMzRhOVYxMlNiWkNHVmJ5R2JvWGRZT20rUHo3WDZHcjFTZTcyOXhLTncybzV6ayszZWhpQzNiZmFFT21iMG5hV09zMmRQeVVVSnJjLzNJQkpUMXFBYXBjQXNzZWtmaTRoS1NJZ2dJQW9LQUlNQ0lnSTJZenRKa0l6VEFpTms2SDNKQkMrMnA5NFdpTmVOOFgvUE00VllXM2gwTy9PQlpMbTkvQWkySG9jUFkwOGpvT0VHMFk0Q25DNU8yUmdGT3lSSUVCQUZCUUJBWVI4Q2NTRXBFUFB1SXNoSHFhNVpLbTZQcHllZUVCK2d0VmI1dUptd0Erc244cGtNUitwRFowa3g0QlkxNmoyL2hBYlRHelhtZjFEUXkya0dQdW95R2dOK1UzQWtDZ29BZ0lBaXNpWUI1NHNjTHY0NDB5RVpvcEhHalZJZDBXcVhCeisvM3M5a2dKNDN0dlh1OFVqbVZUUi9lem4vN0dxdWdsblNyZ3BjN0dEdVlSUVlqOGZDTFRqZUF4KzlaRkM2M2NpMElDQUtDZ0NEQWo0QjVvMGJrUVBVMnhVYW90MkVzYnhvZmlobVBORGhjSjMvSXpDV0pBWEVuMm94N0RZTmRtMFVHT1lHZkY1MUhUdUV3WHBUbTlrQ3VCUUZCUUJBUUJIZ1JNSjdqTkZVMlFpT2NhQy9RUDZRMVFtamxPdnFRV2JRYkhEVUxEcmF6VFE2eGkwSDNHajdIclg2ajhSTjlMQ0h5cGNGdmozenVxQmVTSUFnSUFvS0FJTUNGZ0RrbE5yMTl6VVpvcUdkbW0zWlVxdzAxMmwySjNtUldmRUxNa3NUWHRkaVFCL2k0alM5SHRmWHR4VFF5T3FCdUNhb0xIRzdMWDVBbnQ0S0FJQ0FJQ0FMOENKanp3NlB1bCtXSWpaQ2wySFZodG1tN0ttMWNHRVBML25jekN3eWd3dFlPTEVBN3JLNVBwMWxrOUdQMVFVZ0FUeGV1Y1ZpZ2dJaGtDUUtDZ0NEdzBnaVk1M09uZlNVMlFtUERZYlpwblUzZk1VSXIxbnBjengyYjBBOUE5SEw3K1hrRHhmMGVhTXNlSm1lUlVRK2hoOXZuRUtIblA0emYweTBwS3dnSUFvTEFpeUZnZHAybmZTVTJRbU1EWU56N3Y3U24rdmkrZzNOOE9iOU5hR3Y5cVU3d2hrZVIwUnZnUVFBR3JJQmo3ejJNVFNPcEpRZ0lBb0xBVVJGZzIzVm1JelNJbEdsZmxFZ0k0Q3d5NlFQaVlKNEZHanhzVis0RkFVRkFFQkFFR0JFd0x6bVpscjFzaEVZN3A5L0RKVUhhQ01CWlpNQTNoMTl3UUJ4U09tTDdFVStTSUFnSUFvS0FJTkNIZ042Y2RKLzE3U05nU3JNUk1nUjcvKy9PUUMvRG01V2ZSVWJ2ZEhqOG90TTlGYVgzcU1tTklDQUlDQUtDUUEyQldkL0wwbWNqWkNsMlh1aXc3ZkEyYldkelQxUjhGaGw5UU53N3lZZWIyazhFZ2JBcUNBZ0Nnc0RUSXdCaUYzL09xemtHdTZUb01CQWFiTjgrdHlRYjJCR0Mrb211VVdTMGYrNkZ2K0hzK3ZRVCt4R2ZraUFJQ0FLQ2dDQ1FROERzT251eU9GZTRsTTVHcU5SSU9VOC90eVFiMkJGTWs4am9vL2ZlRVFjSXA4emJlQkdqLys2WHl6azh4LzcxVHdMdkVWS1NJQWdJQWkrSGdObmFuTzQ0RzZGeFRzd1RYVjdjZHB6Y0dqVy9Qa3EvMWRUU0pETDZEV21lZXc3aEZQYVBYejhnOEg0R1ErRHFBWUhNSDNoSTE1Z21RbE1RRUFRRWdSZ0J2ZXZzaWVLNFZFTUtHNkdHdGpKRnpITkxvWCtXS2I1RHNnbEM2TDJENk4vME0vQ1pQczBpb3hoMUF4ZW93cm1WS0x6UTdSMFFnTk50WHFRZGcvbkhIZElNNHBJc0NBZ0NnZ0EzQWxwbHpMdEtiSVFtZXFqUFJYblNmb0ljZjlVdjgwNFpqVmJ3YnozR0o1R0pENGlqMDh1TnoxMDkwSTNCZTJkN2hnN0xUYjk4ajV0WG9TY0lDQUtDd01ZSW1FQ3BGNEFjNFlHTjBFampwbzc1RXRWYWJxcHA1L24rVHlLajk3OGRoeHEyUDRMbnNhZEIrZEZ1TmRvV3psWTVmVlZkUm5RYVhpRWdDQWdDVDQ2QUZzVHpqaDBib1JsQVRkaDNQbG93dzhVUjYwNGlRenJUMjdBR3Bjcjk4ZXVyZnA0Ym5Ybm5LQnVxYjI3VDRJaERKRHdKQW9LQUlGQkVBR1FoL3VhM0J4VWRCa0pGZG11Wk91ekxyVWxxelQ1Qi9od3lPbnJpYUZIWVZKNmZOQjV1UC9wMTVIUzR6Ykc0Y0dZNURYdDE1RVlRRUFRRWdWZEJ3SngvbWc0M3NoR2FROTZFZmVlby9NWGFjOGhFQjhUUlgyZmVVNzVxZ3ZTZ3dUSWhhZnZhVWQ5L2NYQ2tUNEtBSUNBSVZCSFFuOENjUHgzT1JxaktjckdBQ2ZzeXE1SmltOCtST1ltTUNwOHNCOFRSUGx0MEtnY0VEL04xVGp3TzdreElDc1ZQSDYvZzRGQm9DQUtDZ0NDd0l3TDZ2VmZ6N2dzYm9Va3dkTmhYNHFjUmpuUEk2S2YxcklybS8vajExMVhGMTBOL0d2bGU3SVNvVzVJZ0NBZ0Nnc0JMSUdEZUsyM0Y4R2l2MlFpTk1tRHE2WTFXRWZBR0VQdC9EaGw5bk5ER0xlRGU4WUZ0SXd3WEZLbHhKaVJhZ25JZWdRRllJU0VJQ0FKUGpZQitKOW04NUdVak5BMG5TSGY4T1U4ZVRaUDhJd1FVTUlQSWhBZkU0UXkzODhnVkowSkJPRHc4ZmNiWmxOQVNCQVFCUWVCcEVOQ3Z3WEJlVGpISU9odWh3ZmFYYW5valhRTGlDeVQ2YWdvWmZaN1F3Z3JLZjM3V1JDeENBb1VCSE5KMFRrNjJyMU5RU1pvZ0lBaThFQUw2MU8vOGU2cllDTTJEcnlQekVoQ1BvSnhDUmg5WE04L3BJNjExbENnRjNoM2U4VjRHMHdGRUxnVUJRZUFsRWRCQlR1czBEWVBBUm1pWWc2V2lkdlh0VHV1UzgrcFhVOGpvYUxyR0VMM2VkZUFNdDZ2RCszVmFGYXFDZ0NBZ0NCd2JBWDNvZDM2dmw0MFFBMTdhZHBBalNoR1dVOGpvSWRaT05jVFdqYXNkTlRPVlFFRUE1M0VGMmI2ZWdsTXFDd0tDd0I5QlFFZXg1d1V2R3lFT1lNMkR4aHkwL2hhTktXVDA3cmNPVzREMm5vL0twTkFsbThLSnRNdjJkUW9sU1JNRUJJRlhRMEFmNm5hOG1VRUUyQWdOdHU5WDA0OGVPV2VXL1B6WHZadEJScjhmVGIrREZNTGg4OU1tTlJCb0ZyamIxY3QyOXNkRnRqaFNpRW1hSUNBSXZBSUN1RFVJdi9tdXNoR2Fad1VvNkhOVjh3K3BzWEJ6SkNJenlPZ0Q0bXFiQVFNcTg3c29LV2p3N1NodXdBZW5saHJKZCs3M242YWFselJCUUJBUUJJNklRUHdOaDBFdTJRZ050aDlXMDF1dHpqczN3aEt2ZWorQmpBNm1xdzlsNFlpdmd5SHFhK2ZvQWUyMEtKLytzbEtMNi9SRHFBb0Nnb0Fnd0lpQWZrR2xzMWs0U0p5TjBHRDdZVFZ0UHpCL1BpcHM1Um52WjVCeGd5aXdBYkxTRnk0eC91M3NqTk5PQzhYQlA5ZDZuOW96anFQd0xBZ0lBcStGUVBCRTdYam4yUWlOc3hEVVZLckYzUVlOQ3J6czdRUXlybFVHMTQ0VHpJa21LdWlGdEFyZ2swVjVXK245TEp6TUN5MUJRQkFRQkZaQlFEL2RNMzhzaTQwUVd6ZjErYmY1cnJGeGRCUkNFOGpvQStJRUtxajlsYUlYdUUxdURhMkhNaTlvWStOaVU0K0NwZkFoQ0FnQ2dzQkdDS2kzWnpDRU5ka0lzWFZjZS94eTRpeENkQUlaZlVBYzN4cU9WTlk2ckkyelNSOWwrN3IrdnFIR1J2LzZlNjNYbFVjUVNZSWdJQWdJQWdkRFFKLzNuWDhxaDQwUUkwRGFqWnpmbW1mazZSaWt4cEhSaDhzeFdJMUR2dFpwUGp4aGRxV0JnN2pOTjcxT0hFeUVqOFhwUGdhT3dvVWdJQWdJQXBzaG9KN0ZaUWd5c2hGaTdMcDJJMWY2Z2hRam81dVRta0FHRkNucVVtQVpOQ25EeE1uMC9STTk3UE03YkpGZjBNOUd0LzUrVjllWkdwSXNDQWdDZ3NCZlJrREw3ZmxkU0RaQ3JHaXJ6ZGIxbEFvcnM1c1NHMGRHYlNialUxVmdvcTI1MS9EdmRyNzhYdS82K01IWDdmcDdlWmRReWFhelJCb1RCQVNCQXlHZ0Q0bk5SelhaQ0xHQ285K1FPaC90WitYcUNNVEdrZEVIeE1IcEJROVlRaGRIR0V6aFFSQVFCRjRCQWVVc01VaGROa0s4cUtzb1BjTnBPbDYyRGtCdEdKbmxiRG1FcU9Ycy9RR0dVbGdRQkFTQlYwQkFIL2FkZDYvWkNER2pydDFJVVNzUnJzUEk2SmV0dk5FTFh5VStIUUVyQ1lLQUlDQUlySUdBZWdiTGVaSFVhQ05zaEVZWnlOVlRicVQ3S3VwY3lWZExIMFZHSy9vN0hRRjdOZENrdjRLQUlDQUk3SU9BZHBYbTNXczJRdXc0NkhOd2F6MG16TTd2ZGdTSGtZRXdPUHd1SnppeUpuYlFkdU1sTFFrQ2dzQkxJNkM4WW9iZGF6WkMvTU9odHIrajZURUFBQVFlU1VSQlZGdlhQTWZNei9NMkZFZVJVWVA5ZTFydDQ5ZmJkRjlhRVFRRUFVSGdlUkRRcnppWmQ2L1pDSzJBblhZajEvbnM0d3I4YmtkeUZCa1ZTUC9GRjZmSXdmdnRoa3RhRWdRRWdWZEdRSDFXY2Y3WmEvUzA0TWRBYUkzUlVFK2FMUitQV0tPTjU2UTVpSXgrZEErZjRCWXI2RGxIWHJnV0JBU0JKME5BZWNVTUx4TmhJN1FPZ09wUk0xRXRNYnBqeU9qRENsZzVKaWtwZ29BZ0lBZ0lBdXdJcUJkZk1JUTAyUWl4ZDVFSXFtZk5aQWM3Um5jTUdYMUFITlMxUE5jZVl5b3Bnb0FnSUFpd0k2QSszTUFnY3RrSXNYZFJFMVRoZWpraUh1TTdoZ3hvYXZXVFRZWVlVa2tSQkFRQlFZQWRBZVVWTTJneE5rTHNYZFFFbFVFaHp4N0YrSTRobzdROHFPeURubGlJK3lrcGdvQWdJQWc4TVFKcTA1bkJRMklqdEI2WTZ1TVc4cEt6R09FaFpQUUI4ZlUrZmgzektTbUNnQ0FnQ0x3dUF1b3AydmxudWZDckQvQmpJTFRlV0R6b1lCVkQ2SDg5Rm5laVBJU01QaUIrOEVIZkNWRnBWaEFRQkFRQlpnVFVVU09HZ0NZYkllWU9ldVRVa1dhR28zVWUxYjl3TTRLTWlxaXMrZkhydjRDczlFRVFFQVFFQVJZRWh2eXFWTXRzaEZMRStkSm95NVhoMFRVK2pvNUNhUUFaL2FLVlZUOStmUlI0aEE5QlFCQVFCSFpHUU8xYk1qeVR6RVpvWFVEVU0wZ01iMTVkbDgwZHFJOGdRenNnOHZIckhVWkxtaFFFQklHWFEyQkVTQ2RCWWlPVXBNNllxUFpjNWZPUE1hUUR5T2dENG5LQUwwWlRVZ1FCUVVBUTRFV0FIc0hpT0gvRlJvaTNmd2xxcEdQa3BTa3N5S2lneXE5WVB3azBKVWtRRUFRRUFVNEUxSUVoaG1nNEd5SE8zcVZwcVVpQXVJUXhPdjNJcURPRzhqYlNHRXRKRVFRRUFVR0FGd0Y2Qkl2aGJMaDZsb3VERUcvL2t0Ukl5Y2lSc3dRMjNjZ29NMDFlUUpQQVVwSUVBVUZBRU9CRWdPUXpoN1JsSThUWnV5d3RpdDNmc3Rrdm5OR0xqRG9nTGxDKzhKU1JyZ3NDZ3NBbUNLajRKOFBtSXh1aFRicDlVbHFHb2QvYnNMdGhLOTNJMFB0bjVISDJEWWRJbWhJRUJJR1hSSUM4S1k0Z05odWhqWWFCM2czQ0VWZllpTi90bXVsRmhrYWU0ZnpEZGoyVWxnUUJRVUFRZUQ0RTJJTFliSVEydzVET05jdEQyQW04TzVHaDRna3lraVFJQ0FLQ2dDREFoZ0RGUGk4TXIvdG1JOFRXdFRvaGVxaEwvTUlFVUgzSW9Lbkc4VGhnZ2hGSkVnUUVBVUZBRUZBSVVDaVQ0U3VhSnpaQ0c0N01GMjY4aXFKSklONkhESDZIaytIVGJnaytKRWtRRUFRRUFVRkFJVUJCYkk2UU1CdWhUVWVHbmtUaTZQNm1YRy9SV0JjeUdGdVJSOW0zR0JacFF4QVFCRjRXQVFwaWM3emxpNDNReGtQeEJwcm1WeUxpQ2RTN2tIbS9jeHhZVEhBaFNZS0FJQ0FJQ0FLRUFBYXhPVGF2S1JyT1FtanJnVUVFSkNLZVFsMlFTYUVpYVlLQUlDQUk3SUlBQmJFNXZFczJRcHZEOE1DWHUwbEVQSUc3SUpNQVJaSUVBVUZBRU5nRkFmcFlOY2UrSXh1aEhXQjR3RkZvT1N1VkFsNlFTYUVpYVlLQUlDQUk3SURBNStYM3dyTHYyRW5vdjZlUjltSHhPQ3YwQUFBQUFFbEZUa1N1UW1DQyIKfQo="/>
    </extobj>
  </extobjs>
</s:customData>
</file>

<file path=customXml/itemProps1.xml><?xml version="1.0" encoding="utf-8"?>
<ds:datastoreItem xmlns:ds="http://schemas.openxmlformats.org/officeDocument/2006/customXml" ds:itemID="{578AB061-93D9-4820-B1A2-E83ECDCCD6DD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723</Words>
  <Application>Microsoft Office PowerPoint</Application>
  <PresentationFormat>自定义</PresentationFormat>
  <Paragraphs>106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DejaVu Math TeX Gyre</vt:lpstr>
      <vt:lpstr>Arial</vt:lpstr>
      <vt:lpstr>Calibri</vt:lpstr>
      <vt:lpstr>Calibri Light</vt:lpstr>
      <vt:lpstr>Cambria Math</vt:lpstr>
      <vt:lpstr>Wingdings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yuan</dc:creator>
  <cp:lastModifiedBy>Yuan QIU</cp:lastModifiedBy>
  <cp:revision>36</cp:revision>
  <dcterms:created xsi:type="dcterms:W3CDTF">2025-11-24T01:11:02Z</dcterms:created>
  <dcterms:modified xsi:type="dcterms:W3CDTF">2025-11-24T02:00:57Z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CF03EF06C1C44A75A50F1D4C4D098A92_12</vt:lpwstr>
  </property>
  <property fmtid="{D5CDD505-2E9C-101B-9397-08002B2CF9AE}" pid="3" name="KSOProductBuildVer">
    <vt:lpwstr>2052-12.1.0.23542</vt:lpwstr>
  </property>
</Properties>
</file>