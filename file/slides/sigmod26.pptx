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
  </p:notesMasterIdLst>
  <p:sldIdLst>
    <p:sldId id="256" r:id="rId2"/>
    <p:sldId id="258" r:id="rId3"/>
    <p:sldId id="259" r:id="rId4"/>
    <p:sldId id="260" r:id="rId5"/>
    <p:sldId id="261" r:id="rId6"/>
    <p:sldId id="263" r:id="rId7"/>
    <p:sldId id="266" r:id="rId8"/>
    <p:sldId id="267" r:id="rId9"/>
    <p:sldId id="262" r:id="rId1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C083E6E3-FA7D-4D7B-A595-EF9225AFEA82}" styleName="浅色样式 1 - 强调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0692" autoAdjust="0"/>
  </p:normalViewPr>
  <p:slideViewPr>
    <p:cSldViewPr snapToGrid="0">
      <p:cViewPr varScale="1">
        <p:scale>
          <a:sx n="130" d="100"/>
          <a:sy n="130" d="100"/>
        </p:scale>
        <p:origin x="712" y="68"/>
      </p:cViewPr>
      <p:guideLst/>
    </p:cSldViewPr>
  </p:slid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22" d="100"/>
          <a:sy n="122" d="100"/>
        </p:scale>
        <p:origin x="5004" y="6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EE5B5B-896F-408B-85E2-402B54E7F583}" type="datetimeFigureOut">
              <a:rPr lang="zh-CN" altLang="en-US" smtClean="0"/>
              <a:t>2026/5/24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B975B5-7681-438F-88D4-B672F054702F}" type="slidenum">
              <a:rPr lang="zh-CN" altLang="en-US" smtClean="0"/>
              <a:t>‹#›</a:t>
            </a:fld>
            <a:endParaRPr lang="zh-CN" altLang="en-US"/>
          </a:p>
        </p:txBody>
      </p:sp>
    </p:spTree>
    <p:extLst>
      <p:ext uri="{BB962C8B-B14F-4D97-AF65-F5344CB8AC3E}">
        <p14:creationId xmlns:p14="http://schemas.microsoft.com/office/powerpoint/2010/main" val="24671153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This is the presentation for our paper DP-Sample for scale: accurate and scalable select-join-aggregate query processing with user-level differential privacy. I am Yuan Qiu from southeast university, and my collaborators are Prof. </a:t>
            </a:r>
            <a:r>
              <a:rPr lang="en-US" altLang="zh-CN" dirty="0" err="1"/>
              <a:t>Xiaokui</a:t>
            </a:r>
            <a:r>
              <a:rPr lang="en-US" altLang="zh-CN" dirty="0"/>
              <a:t> Xiao from NUS, and Prof. Yin Yang from HBKU.</a:t>
            </a:r>
            <a:endParaRPr lang="zh-CN" altLang="en-US" dirty="0"/>
          </a:p>
        </p:txBody>
      </p:sp>
      <p:sp>
        <p:nvSpPr>
          <p:cNvPr id="4" name="灯片编号占位符 3"/>
          <p:cNvSpPr>
            <a:spLocks noGrp="1"/>
          </p:cNvSpPr>
          <p:nvPr>
            <p:ph type="sldNum" sz="quarter" idx="5"/>
          </p:nvPr>
        </p:nvSpPr>
        <p:spPr/>
        <p:txBody>
          <a:bodyPr/>
          <a:lstStyle/>
          <a:p>
            <a:fld id="{50B975B5-7681-438F-88D4-B672F054702F}" type="slidenum">
              <a:rPr lang="zh-CN" altLang="en-US" smtClean="0"/>
              <a:t>1</a:t>
            </a:fld>
            <a:endParaRPr lang="zh-CN" altLang="en-US"/>
          </a:p>
        </p:txBody>
      </p:sp>
    </p:spTree>
    <p:extLst>
      <p:ext uri="{BB962C8B-B14F-4D97-AF65-F5344CB8AC3E}">
        <p14:creationId xmlns:p14="http://schemas.microsoft.com/office/powerpoint/2010/main" val="4563491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Differential Privacy has emerged as the golden standard for privacy protection, it requires the output of a mechanism to be indistinguishable on neighboring datasets.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Depending on the definition of neighboring datasets, several privacy notions have been proposed.</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In this work, we adopt the strongest notion of user-level DP with self joins, where multiple users may collaboratively contribute to a record, and neighboring datasets differ by a user and any records involving the user.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This is more general than record-level DP, where each user only holds one record, or user-level DP without self joins, where the users cannot collaborate.</a:t>
            </a: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50B975B5-7681-438F-88D4-B672F054702F}" type="slidenum">
              <a:rPr lang="zh-CN" altLang="en-US" smtClean="0"/>
              <a:t>2</a:t>
            </a:fld>
            <a:endParaRPr lang="zh-CN" altLang="en-US"/>
          </a:p>
        </p:txBody>
      </p:sp>
    </p:spTree>
    <p:extLst>
      <p:ext uri="{BB962C8B-B14F-4D97-AF65-F5344CB8AC3E}">
        <p14:creationId xmlns:p14="http://schemas.microsoft.com/office/powerpoint/2010/main" val="34227484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Select join aggregate queries form the backbone of many SQL queries in practice.</a:t>
            </a:r>
          </a:p>
          <a:p>
            <a:endParaRPr lang="en-US" altLang="zh-CN" dirty="0"/>
          </a:p>
          <a:p>
            <a:r>
              <a:rPr lang="en-US" altLang="zh-CN" dirty="0"/>
              <a:t>A typical example is triangle counting, which can be expressed as self joins on the edge table.</a:t>
            </a:r>
          </a:p>
          <a:p>
            <a:endParaRPr lang="en-US" altLang="zh-CN" dirty="0"/>
          </a:p>
          <a:p>
            <a:r>
              <a:rPr lang="en-US" altLang="zh-CN" dirty="0"/>
              <a:t>In general, an SJA query we consider is defined as a join combined with a weighting function for each tuple in the join result, and the target is to compute the aggregated sum.</a:t>
            </a:r>
            <a:endParaRPr lang="zh-CN" altLang="en-US" dirty="0"/>
          </a:p>
        </p:txBody>
      </p:sp>
      <p:sp>
        <p:nvSpPr>
          <p:cNvPr id="4" name="灯片编号占位符 3"/>
          <p:cNvSpPr>
            <a:spLocks noGrp="1"/>
          </p:cNvSpPr>
          <p:nvPr>
            <p:ph type="sldNum" sz="quarter" idx="5"/>
          </p:nvPr>
        </p:nvSpPr>
        <p:spPr/>
        <p:txBody>
          <a:bodyPr/>
          <a:lstStyle/>
          <a:p>
            <a:fld id="{50B975B5-7681-438F-88D4-B672F054702F}" type="slidenum">
              <a:rPr lang="zh-CN" altLang="en-US" smtClean="0"/>
              <a:t>3</a:t>
            </a:fld>
            <a:endParaRPr lang="zh-CN" altLang="en-US"/>
          </a:p>
        </p:txBody>
      </p:sp>
    </p:spTree>
    <p:extLst>
      <p:ext uri="{BB962C8B-B14F-4D97-AF65-F5344CB8AC3E}">
        <p14:creationId xmlns:p14="http://schemas.microsoft.com/office/powerpoint/2010/main" val="587203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There has been a line of research on how to privately answer SJA queries with good utility. A central technique here is truncation, namely limiting the contribution of any user to the final result.</a:t>
            </a:r>
          </a:p>
          <a:p>
            <a:r>
              <a:rPr lang="en-US" altLang="zh-CN" dirty="0"/>
              <a:t>Without digging into the details here, a key observation is that under user-level DP with self joins, the state of the art solutions involve either a linear program or a QCQP to decide the truncated query.</a:t>
            </a:r>
          </a:p>
          <a:p>
            <a:r>
              <a:rPr lang="en-US" altLang="zh-CN" dirty="0"/>
              <a:t>While they achieve a nice trade-off between privacy and utility, the algorithms may not be practical enough when also taking efficiency into account.</a:t>
            </a:r>
            <a:endParaRPr lang="zh-CN" altLang="en-US" dirty="0"/>
          </a:p>
        </p:txBody>
      </p:sp>
      <p:sp>
        <p:nvSpPr>
          <p:cNvPr id="4" name="灯片编号占位符 3"/>
          <p:cNvSpPr>
            <a:spLocks noGrp="1"/>
          </p:cNvSpPr>
          <p:nvPr>
            <p:ph type="sldNum" sz="quarter" idx="5"/>
          </p:nvPr>
        </p:nvSpPr>
        <p:spPr/>
        <p:txBody>
          <a:bodyPr/>
          <a:lstStyle/>
          <a:p>
            <a:fld id="{50B975B5-7681-438F-88D4-B672F054702F}" type="slidenum">
              <a:rPr lang="zh-CN" altLang="en-US" smtClean="0"/>
              <a:t>4</a:t>
            </a:fld>
            <a:endParaRPr lang="zh-CN" altLang="en-US"/>
          </a:p>
        </p:txBody>
      </p:sp>
    </p:spTree>
    <p:extLst>
      <p:ext uri="{BB962C8B-B14F-4D97-AF65-F5344CB8AC3E}">
        <p14:creationId xmlns:p14="http://schemas.microsoft.com/office/powerpoint/2010/main" val="23784840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A natural attempt here is to adopt sampling. Moreover, it is known that subsampling amplifies differential privacy, that is, in order to achieve the same privacy guarantee, it suffices to inject a smaller amount of noise. This has been well-studied under record-level DP. For example, in coin-flip sampling, the amplification scale is roughly q, which cancels out with the rescale required for unbiased estimation.</a:t>
            </a:r>
            <a:endParaRPr lang="zh-CN" altLang="en-US" dirty="0"/>
          </a:p>
        </p:txBody>
      </p:sp>
      <p:sp>
        <p:nvSpPr>
          <p:cNvPr id="4" name="灯片编号占位符 3"/>
          <p:cNvSpPr>
            <a:spLocks noGrp="1"/>
          </p:cNvSpPr>
          <p:nvPr>
            <p:ph type="sldNum" sz="quarter" idx="5"/>
          </p:nvPr>
        </p:nvSpPr>
        <p:spPr/>
        <p:txBody>
          <a:bodyPr/>
          <a:lstStyle/>
          <a:p>
            <a:fld id="{50B975B5-7681-438F-88D4-B672F054702F}" type="slidenum">
              <a:rPr lang="zh-CN" altLang="en-US" smtClean="0"/>
              <a:t>5</a:t>
            </a:fld>
            <a:endParaRPr lang="zh-CN" altLang="en-US"/>
          </a:p>
        </p:txBody>
      </p:sp>
    </p:spTree>
    <p:extLst>
      <p:ext uri="{BB962C8B-B14F-4D97-AF65-F5344CB8AC3E}">
        <p14:creationId xmlns:p14="http://schemas.microsoft.com/office/powerpoint/2010/main" val="8350594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Our first contribution is a novel way of sampling and its privacy amplification guarantee under user-level DP, which leads to a more efficient execution of DP mechanisms for SJA queries without harming the utility. Compared to the recent work by Fang and Yi who initiated the study, in DP-S4S, sampling is performed on aggregation units instead of users. As our experiments show, this leads to a smaller sampling error. The nontrivial part is the privacy guarantee of such sampling. In all prior work, the main argument that leads to privacy amplification is the fact that samples can be identical on neighboring datasets. For example in S&amp;E, this happens when the witness user do not appear in the sample, meaning she is not the sampled user, nor a collaborator of the sampled user. This happens with probability 1-C/U, where U is the number of users, and C is an upper bound on the number of collaborators that a user might have. Our key observation is that even if the samples are not identical, privacy may still be amplified due to excessive noise injected by the private mechanism. For example, if the two samples only differ by one record, then adding a noise that scales with tau is excessive when tau is large. This is the amplification we prove in the paper, which can be significant when the sample rate q is small or the truncation threshold tau is large.</a:t>
            </a:r>
            <a:endParaRPr lang="zh-CN" altLang="en-US" dirty="0"/>
          </a:p>
        </p:txBody>
      </p:sp>
      <p:sp>
        <p:nvSpPr>
          <p:cNvPr id="4" name="灯片编号占位符 3"/>
          <p:cNvSpPr>
            <a:spLocks noGrp="1"/>
          </p:cNvSpPr>
          <p:nvPr>
            <p:ph type="sldNum" sz="quarter" idx="5"/>
          </p:nvPr>
        </p:nvSpPr>
        <p:spPr/>
        <p:txBody>
          <a:bodyPr/>
          <a:lstStyle/>
          <a:p>
            <a:fld id="{50B975B5-7681-438F-88D4-B672F054702F}" type="slidenum">
              <a:rPr lang="zh-CN" altLang="en-US" smtClean="0"/>
              <a:t>6</a:t>
            </a:fld>
            <a:endParaRPr lang="zh-CN" altLang="en-US"/>
          </a:p>
        </p:txBody>
      </p:sp>
    </p:spTree>
    <p:extLst>
      <p:ext uri="{BB962C8B-B14F-4D97-AF65-F5344CB8AC3E}">
        <p14:creationId xmlns:p14="http://schemas.microsoft.com/office/powerpoint/2010/main" val="30017296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Our second contribution, focused on vector queries, is a fundamental </a:t>
            </a:r>
            <a:r>
              <a:rPr lang="en-US" altLang="zh-CN" dirty="0" err="1"/>
              <a:t>renyi</a:t>
            </a:r>
            <a:r>
              <a:rPr lang="en-US" altLang="zh-CN" dirty="0"/>
              <a:t>-DP mechanism that utilizes the smooth sensitivity introduced by Nissim, </a:t>
            </a:r>
            <a:r>
              <a:rPr lang="en-US" altLang="zh-CN" sz="1200" dirty="0" err="1">
                <a:solidFill>
                  <a:srgbClr val="333333"/>
                </a:solidFill>
              </a:rPr>
              <a:t>Raskhodnikova</a:t>
            </a:r>
            <a:r>
              <a:rPr lang="en-US" altLang="zh-CN" sz="1200" dirty="0">
                <a:solidFill>
                  <a:srgbClr val="333333"/>
                </a:solidFill>
              </a:rPr>
              <a:t>(</a:t>
            </a:r>
            <a:r>
              <a:rPr lang="en-US" altLang="zh-CN" dirty="0"/>
              <a:t>Ras ha </a:t>
            </a:r>
            <a:r>
              <a:rPr lang="en-US" altLang="zh-CN" dirty="0" err="1"/>
              <a:t>ni</a:t>
            </a:r>
            <a:r>
              <a:rPr lang="en-US" altLang="zh-CN" dirty="0"/>
              <a:t> ka </a:t>
            </a:r>
            <a:r>
              <a:rPr lang="en-US" altLang="zh-CN" dirty="0" err="1"/>
              <a:t>va</a:t>
            </a:r>
            <a:r>
              <a:rPr lang="en-US" altLang="zh-CN" dirty="0"/>
              <a:t>) and Smith. Due to time constraints, I will not introduce the technical details here. Our work can be seen as filling the gap of smooth sensitivity under </a:t>
            </a:r>
            <a:r>
              <a:rPr lang="en-US" altLang="zh-CN" dirty="0" err="1"/>
              <a:t>renyi</a:t>
            </a:r>
            <a:r>
              <a:rPr lang="en-US" altLang="zh-CN" dirty="0"/>
              <a:t> DP, in addition to its applications to pure and approximate DP as in the original paper.</a:t>
            </a:r>
            <a:endParaRPr lang="zh-CN" altLang="en-US" dirty="0"/>
          </a:p>
        </p:txBody>
      </p:sp>
      <p:sp>
        <p:nvSpPr>
          <p:cNvPr id="4" name="灯片编号占位符 3"/>
          <p:cNvSpPr>
            <a:spLocks noGrp="1"/>
          </p:cNvSpPr>
          <p:nvPr>
            <p:ph type="sldNum" sz="quarter" idx="5"/>
          </p:nvPr>
        </p:nvSpPr>
        <p:spPr/>
        <p:txBody>
          <a:bodyPr/>
          <a:lstStyle/>
          <a:p>
            <a:fld id="{50B975B5-7681-438F-88D4-B672F054702F}" type="slidenum">
              <a:rPr lang="zh-CN" altLang="en-US" smtClean="0"/>
              <a:t>7</a:t>
            </a:fld>
            <a:endParaRPr lang="zh-CN" altLang="en-US"/>
          </a:p>
        </p:txBody>
      </p:sp>
    </p:spTree>
    <p:extLst>
      <p:ext uri="{BB962C8B-B14F-4D97-AF65-F5344CB8AC3E}">
        <p14:creationId xmlns:p14="http://schemas.microsoft.com/office/powerpoint/2010/main" val="1926451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summary, our dp-s4s mechanism significantly improves the running time of state-of-the-art DP mechanisms for SJA queries at no cost for scalar queries and with a better utility overhead compared to S&amp;E for vector queries. For more details, please refer to the paper.</a:t>
            </a:r>
            <a:endParaRPr lang="zh-CN" altLang="en-US" dirty="0"/>
          </a:p>
        </p:txBody>
      </p:sp>
      <p:sp>
        <p:nvSpPr>
          <p:cNvPr id="4" name="灯片编号占位符 3"/>
          <p:cNvSpPr>
            <a:spLocks noGrp="1"/>
          </p:cNvSpPr>
          <p:nvPr>
            <p:ph type="sldNum" sz="quarter" idx="5"/>
          </p:nvPr>
        </p:nvSpPr>
        <p:spPr/>
        <p:txBody>
          <a:bodyPr/>
          <a:lstStyle/>
          <a:p>
            <a:fld id="{50B975B5-7681-438F-88D4-B672F054702F}" type="slidenum">
              <a:rPr lang="zh-CN" altLang="en-US" smtClean="0"/>
              <a:t>8</a:t>
            </a:fld>
            <a:endParaRPr lang="zh-CN" altLang="en-US"/>
          </a:p>
        </p:txBody>
      </p:sp>
    </p:spTree>
    <p:extLst>
      <p:ext uri="{BB962C8B-B14F-4D97-AF65-F5344CB8AC3E}">
        <p14:creationId xmlns:p14="http://schemas.microsoft.com/office/powerpoint/2010/main" val="26782714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Thank you.</a:t>
            </a:r>
            <a:endParaRPr lang="zh-CN" altLang="en-US" dirty="0"/>
          </a:p>
        </p:txBody>
      </p:sp>
      <p:sp>
        <p:nvSpPr>
          <p:cNvPr id="4" name="灯片编号占位符 3"/>
          <p:cNvSpPr>
            <a:spLocks noGrp="1"/>
          </p:cNvSpPr>
          <p:nvPr>
            <p:ph type="sldNum" sz="quarter" idx="5"/>
          </p:nvPr>
        </p:nvSpPr>
        <p:spPr/>
        <p:txBody>
          <a:bodyPr/>
          <a:lstStyle/>
          <a:p>
            <a:fld id="{50B975B5-7681-438F-88D4-B672F054702F}" type="slidenum">
              <a:rPr lang="zh-CN" altLang="en-US" smtClean="0"/>
              <a:t>9</a:t>
            </a:fld>
            <a:endParaRPr lang="zh-CN" altLang="en-US"/>
          </a:p>
        </p:txBody>
      </p:sp>
    </p:spTree>
    <p:extLst>
      <p:ext uri="{BB962C8B-B14F-4D97-AF65-F5344CB8AC3E}">
        <p14:creationId xmlns:p14="http://schemas.microsoft.com/office/powerpoint/2010/main" val="10068121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10A7DCD-8C28-FDBF-8661-C69291909FA1}"/>
              </a:ext>
            </a:extLst>
          </p:cNvPr>
          <p:cNvSpPr>
            <a:spLocks noGrp="1"/>
          </p:cNvSpPr>
          <p:nvPr>
            <p:ph type="ctrTitle"/>
          </p:nvPr>
        </p:nvSpPr>
        <p:spPr>
          <a:xfrm>
            <a:off x="1524000" y="1122363"/>
            <a:ext cx="9144000" cy="2387600"/>
          </a:xfrm>
        </p:spPr>
        <p:txBody>
          <a:bodyPr anchor="ctr">
            <a:normAutofit/>
          </a:bodyPr>
          <a:lstStyle>
            <a:lvl1pPr algn="ctr">
              <a:defRPr sz="4400"/>
            </a:lvl1pPr>
          </a:lstStyle>
          <a:p>
            <a:r>
              <a:rPr lang="zh-CN" altLang="en-US" dirty="0"/>
              <a:t>单击此处编辑母版标题样式</a:t>
            </a:r>
          </a:p>
        </p:txBody>
      </p:sp>
      <p:sp>
        <p:nvSpPr>
          <p:cNvPr id="3" name="副标题 2">
            <a:extLst>
              <a:ext uri="{FF2B5EF4-FFF2-40B4-BE49-F238E27FC236}">
                <a16:creationId xmlns:a16="http://schemas.microsoft.com/office/drawing/2014/main" id="{DD965A6C-E1A2-1713-7C4A-2E46B7E53342}"/>
              </a:ext>
            </a:extLst>
          </p:cNvPr>
          <p:cNvSpPr>
            <a:spLocks noGrp="1"/>
          </p:cNvSpPr>
          <p:nvPr>
            <p:ph type="subTitle" idx="1"/>
          </p:nvPr>
        </p:nvSpPr>
        <p:spPr>
          <a:xfrm>
            <a:off x="1524000" y="3602038"/>
            <a:ext cx="9144000" cy="1655762"/>
          </a:xfrm>
        </p:spPr>
        <p:txBody>
          <a:bodyPr anchor="ct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p>
        </p:txBody>
      </p:sp>
      <p:sp>
        <p:nvSpPr>
          <p:cNvPr id="4" name="日期占位符 3">
            <a:extLst>
              <a:ext uri="{FF2B5EF4-FFF2-40B4-BE49-F238E27FC236}">
                <a16:creationId xmlns:a16="http://schemas.microsoft.com/office/drawing/2014/main" id="{6A7E94DD-7A85-550B-C0B4-C13B7696B867}"/>
              </a:ext>
            </a:extLst>
          </p:cNvPr>
          <p:cNvSpPr>
            <a:spLocks noGrp="1"/>
          </p:cNvSpPr>
          <p:nvPr>
            <p:ph type="dt" sz="half" idx="10"/>
          </p:nvPr>
        </p:nvSpPr>
        <p:spPr/>
        <p:txBody>
          <a:bodyPr/>
          <a:lstStyle/>
          <a:p>
            <a:fld id="{AABD854B-347D-4507-9B0A-D11E0BDA9FF4}" type="datetime1">
              <a:rPr lang="zh-CN" altLang="en-US" smtClean="0"/>
              <a:t>2026/5/24</a:t>
            </a:fld>
            <a:endParaRPr lang="zh-CN" altLang="en-US"/>
          </a:p>
        </p:txBody>
      </p:sp>
      <p:sp>
        <p:nvSpPr>
          <p:cNvPr id="5" name="页脚占位符 4">
            <a:extLst>
              <a:ext uri="{FF2B5EF4-FFF2-40B4-BE49-F238E27FC236}">
                <a16:creationId xmlns:a16="http://schemas.microsoft.com/office/drawing/2014/main" id="{624CF4FC-99B2-289B-3191-E554075B696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B344E9D-066D-19B2-99BF-37FF33BF7FA5}"/>
              </a:ext>
            </a:extLst>
          </p:cNvPr>
          <p:cNvSpPr>
            <a:spLocks noGrp="1"/>
          </p:cNvSpPr>
          <p:nvPr>
            <p:ph type="sldNum" sz="quarter" idx="12"/>
          </p:nvPr>
        </p:nvSpPr>
        <p:spPr/>
        <p:txBody>
          <a:bodyPr/>
          <a:lstStyle/>
          <a:p>
            <a:fld id="{B0AC98E8-77B5-4E71-A497-A3DCE01E87E0}" type="slidenum">
              <a:rPr lang="zh-CN" altLang="en-US" smtClean="0"/>
              <a:t>‹#›</a:t>
            </a:fld>
            <a:endParaRPr lang="zh-CN" altLang="en-US"/>
          </a:p>
        </p:txBody>
      </p:sp>
    </p:spTree>
    <p:extLst>
      <p:ext uri="{BB962C8B-B14F-4D97-AF65-F5344CB8AC3E}">
        <p14:creationId xmlns:p14="http://schemas.microsoft.com/office/powerpoint/2010/main" val="2489199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D4BDA0-F1AE-35D9-CAA6-CA1910EBE8DA}"/>
              </a:ext>
            </a:extLst>
          </p:cNvPr>
          <p:cNvSpPr>
            <a:spLocks noGrp="1"/>
          </p:cNvSpPr>
          <p:nvPr>
            <p:ph type="title"/>
          </p:nvPr>
        </p:nvSpPr>
        <p:spPr/>
        <p:txBody>
          <a:bodyPr/>
          <a:lstStyle/>
          <a:p>
            <a:r>
              <a:rPr lang="zh-CN" altLang="en-US" dirty="0"/>
              <a:t>单击此处编辑母版标题样式</a:t>
            </a:r>
          </a:p>
        </p:txBody>
      </p:sp>
      <p:sp>
        <p:nvSpPr>
          <p:cNvPr id="3" name="内容占位符 2">
            <a:extLst>
              <a:ext uri="{FF2B5EF4-FFF2-40B4-BE49-F238E27FC236}">
                <a16:creationId xmlns:a16="http://schemas.microsoft.com/office/drawing/2014/main" id="{6986D50B-C061-2FEA-3B85-38B9C6E7267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ECCE3A6-250D-4905-94F7-85E393C7FAB8}"/>
              </a:ext>
            </a:extLst>
          </p:cNvPr>
          <p:cNvSpPr>
            <a:spLocks noGrp="1"/>
          </p:cNvSpPr>
          <p:nvPr>
            <p:ph type="dt" sz="half" idx="10"/>
          </p:nvPr>
        </p:nvSpPr>
        <p:spPr/>
        <p:txBody>
          <a:bodyPr/>
          <a:lstStyle/>
          <a:p>
            <a:fld id="{5F876771-4601-4939-95E1-276C6EE7BF57}" type="datetime1">
              <a:rPr lang="zh-CN" altLang="en-US" smtClean="0"/>
              <a:t>2026/5/24</a:t>
            </a:fld>
            <a:endParaRPr lang="zh-CN" altLang="en-US"/>
          </a:p>
        </p:txBody>
      </p:sp>
      <p:sp>
        <p:nvSpPr>
          <p:cNvPr id="5" name="页脚占位符 4">
            <a:extLst>
              <a:ext uri="{FF2B5EF4-FFF2-40B4-BE49-F238E27FC236}">
                <a16:creationId xmlns:a16="http://schemas.microsoft.com/office/drawing/2014/main" id="{A448D962-CED8-D60F-80AB-B03070FAE0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1908CD-E5ED-6DF9-A036-47DA4E792649}"/>
              </a:ext>
            </a:extLst>
          </p:cNvPr>
          <p:cNvSpPr>
            <a:spLocks noGrp="1"/>
          </p:cNvSpPr>
          <p:nvPr>
            <p:ph type="sldNum" sz="quarter" idx="12"/>
          </p:nvPr>
        </p:nvSpPr>
        <p:spPr/>
        <p:txBody>
          <a:bodyPr/>
          <a:lstStyle/>
          <a:p>
            <a:fld id="{B0AC98E8-77B5-4E71-A497-A3DCE01E87E0}" type="slidenum">
              <a:rPr lang="zh-CN" altLang="en-US" smtClean="0"/>
              <a:t>‹#›</a:t>
            </a:fld>
            <a:endParaRPr lang="zh-CN" altLang="en-US" dirty="0"/>
          </a:p>
        </p:txBody>
      </p:sp>
      <p:cxnSp>
        <p:nvCxnSpPr>
          <p:cNvPr id="16" name="直接连接符 15">
            <a:extLst>
              <a:ext uri="{FF2B5EF4-FFF2-40B4-BE49-F238E27FC236}">
                <a16:creationId xmlns:a16="http://schemas.microsoft.com/office/drawing/2014/main" id="{4DA53AD0-CA5F-5C8F-5A6A-11CA9C6905A6}"/>
              </a:ext>
            </a:extLst>
          </p:cNvPr>
          <p:cNvCxnSpPr/>
          <p:nvPr userDrawn="1"/>
        </p:nvCxnSpPr>
        <p:spPr>
          <a:xfrm>
            <a:off x="838200" y="1327150"/>
            <a:ext cx="105156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4941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1F28F1-21C3-2DDC-A58C-9C516CFCAABC}"/>
              </a:ext>
            </a:extLst>
          </p:cNvPr>
          <p:cNvSpPr>
            <a:spLocks noGrp="1"/>
          </p:cNvSpPr>
          <p:nvPr>
            <p:ph type="title"/>
          </p:nvPr>
        </p:nvSpPr>
        <p:spPr>
          <a:xfrm>
            <a:off x="831850" y="1709738"/>
            <a:ext cx="10515600" cy="2852737"/>
          </a:xfrm>
        </p:spPr>
        <p:txBody>
          <a:bodyPr anchor="b"/>
          <a:lstStyle>
            <a:lvl1pPr>
              <a:defRPr sz="6000"/>
            </a:lvl1pPr>
          </a:lstStyle>
          <a:p>
            <a:r>
              <a:rPr lang="zh-CN" altLang="en-US" dirty="0"/>
              <a:t>单击此处编辑母版标题样式</a:t>
            </a:r>
          </a:p>
        </p:txBody>
      </p:sp>
      <p:sp>
        <p:nvSpPr>
          <p:cNvPr id="3" name="文本占位符 2">
            <a:extLst>
              <a:ext uri="{FF2B5EF4-FFF2-40B4-BE49-F238E27FC236}">
                <a16:creationId xmlns:a16="http://schemas.microsoft.com/office/drawing/2014/main" id="{8E7B365B-D563-25F5-6C75-C81DB003736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38473EA9-C45A-07ED-E077-6116BD14698C}"/>
              </a:ext>
            </a:extLst>
          </p:cNvPr>
          <p:cNvSpPr>
            <a:spLocks noGrp="1"/>
          </p:cNvSpPr>
          <p:nvPr>
            <p:ph type="dt" sz="half" idx="10"/>
          </p:nvPr>
        </p:nvSpPr>
        <p:spPr/>
        <p:txBody>
          <a:bodyPr/>
          <a:lstStyle/>
          <a:p>
            <a:fld id="{596CA7A5-388A-4B42-8349-0878F1908722}" type="datetime1">
              <a:rPr lang="zh-CN" altLang="en-US" smtClean="0"/>
              <a:t>2026/5/24</a:t>
            </a:fld>
            <a:endParaRPr lang="zh-CN" altLang="en-US"/>
          </a:p>
        </p:txBody>
      </p:sp>
      <p:sp>
        <p:nvSpPr>
          <p:cNvPr id="5" name="页脚占位符 4">
            <a:extLst>
              <a:ext uri="{FF2B5EF4-FFF2-40B4-BE49-F238E27FC236}">
                <a16:creationId xmlns:a16="http://schemas.microsoft.com/office/drawing/2014/main" id="{489A67DD-2D6C-28F1-AD2F-A635A31B8441}"/>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022DA5D-6491-A74E-CA76-474641F87D31}"/>
              </a:ext>
            </a:extLst>
          </p:cNvPr>
          <p:cNvSpPr>
            <a:spLocks noGrp="1"/>
          </p:cNvSpPr>
          <p:nvPr>
            <p:ph type="sldNum" sz="quarter" idx="12"/>
          </p:nvPr>
        </p:nvSpPr>
        <p:spPr/>
        <p:txBody>
          <a:bodyPr/>
          <a:lstStyle/>
          <a:p>
            <a:fld id="{B0AC98E8-77B5-4E71-A497-A3DCE01E87E0}" type="slidenum">
              <a:rPr lang="zh-CN" altLang="en-US" smtClean="0"/>
              <a:t>‹#›</a:t>
            </a:fld>
            <a:endParaRPr lang="zh-CN" altLang="en-US"/>
          </a:p>
        </p:txBody>
      </p:sp>
    </p:spTree>
    <p:extLst>
      <p:ext uri="{BB962C8B-B14F-4D97-AF65-F5344CB8AC3E}">
        <p14:creationId xmlns:p14="http://schemas.microsoft.com/office/powerpoint/2010/main" val="18539931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EBE13E-8E1D-6DC8-B3FF-B4E4FA24AE2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EDB92E66-3FE4-A5EC-5666-D73915698591}"/>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AB1000C4-AED6-339B-524D-12C2BA5C15CF}"/>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8D616189-1993-6671-619D-D759CD4FEBD8}"/>
              </a:ext>
            </a:extLst>
          </p:cNvPr>
          <p:cNvSpPr>
            <a:spLocks noGrp="1"/>
          </p:cNvSpPr>
          <p:nvPr>
            <p:ph type="dt" sz="half" idx="10"/>
          </p:nvPr>
        </p:nvSpPr>
        <p:spPr/>
        <p:txBody>
          <a:bodyPr/>
          <a:lstStyle/>
          <a:p>
            <a:fld id="{769E4E4B-5943-45C6-8989-7F20B4ACA832}" type="datetime1">
              <a:rPr lang="zh-CN" altLang="en-US" smtClean="0"/>
              <a:t>2026/5/24</a:t>
            </a:fld>
            <a:endParaRPr lang="zh-CN" altLang="en-US"/>
          </a:p>
        </p:txBody>
      </p:sp>
      <p:sp>
        <p:nvSpPr>
          <p:cNvPr id="6" name="页脚占位符 5">
            <a:extLst>
              <a:ext uri="{FF2B5EF4-FFF2-40B4-BE49-F238E27FC236}">
                <a16:creationId xmlns:a16="http://schemas.microsoft.com/office/drawing/2014/main" id="{8A993B9B-E4A5-C5FF-AED3-FEA985B28A8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60EDC32C-C0EB-B4C0-35D8-B096ACB3BC43}"/>
              </a:ext>
            </a:extLst>
          </p:cNvPr>
          <p:cNvSpPr>
            <a:spLocks noGrp="1"/>
          </p:cNvSpPr>
          <p:nvPr>
            <p:ph type="sldNum" sz="quarter" idx="12"/>
          </p:nvPr>
        </p:nvSpPr>
        <p:spPr/>
        <p:txBody>
          <a:bodyPr/>
          <a:lstStyle/>
          <a:p>
            <a:fld id="{B0AC98E8-77B5-4E71-A497-A3DCE01E87E0}" type="slidenum">
              <a:rPr lang="zh-CN" altLang="en-US" smtClean="0"/>
              <a:t>‹#›</a:t>
            </a:fld>
            <a:endParaRPr lang="zh-CN" altLang="en-US"/>
          </a:p>
        </p:txBody>
      </p:sp>
      <p:cxnSp>
        <p:nvCxnSpPr>
          <p:cNvPr id="10" name="直接连接符 9">
            <a:extLst>
              <a:ext uri="{FF2B5EF4-FFF2-40B4-BE49-F238E27FC236}">
                <a16:creationId xmlns:a16="http://schemas.microsoft.com/office/drawing/2014/main" id="{A9CC35AD-38A9-D91B-A476-84C88FE8D208}"/>
              </a:ext>
            </a:extLst>
          </p:cNvPr>
          <p:cNvCxnSpPr/>
          <p:nvPr userDrawn="1"/>
        </p:nvCxnSpPr>
        <p:spPr>
          <a:xfrm>
            <a:off x="838200" y="1327150"/>
            <a:ext cx="105156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99479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C69F9B-3C2B-F3E7-1F38-AD9D2BD8D83A}"/>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01E0A03A-FDF9-91E6-77AB-A1AD113D3DB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BE60F307-5585-308C-FFC6-6799F7F6BEC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F275C845-7EE3-6F82-391B-91A1CE4545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4BE01DE-1D4B-DA5A-F50E-7EE2F617FF1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28792C32-2C96-F6D0-BD7B-57DE3024E1D0}"/>
              </a:ext>
            </a:extLst>
          </p:cNvPr>
          <p:cNvSpPr>
            <a:spLocks noGrp="1"/>
          </p:cNvSpPr>
          <p:nvPr>
            <p:ph type="dt" sz="half" idx="10"/>
          </p:nvPr>
        </p:nvSpPr>
        <p:spPr/>
        <p:txBody>
          <a:bodyPr/>
          <a:lstStyle/>
          <a:p>
            <a:fld id="{58D9B7D3-A00F-4E1A-B08E-F49F2E165B2A}" type="datetime1">
              <a:rPr lang="zh-CN" altLang="en-US" smtClean="0"/>
              <a:t>2026/5/24</a:t>
            </a:fld>
            <a:endParaRPr lang="zh-CN" altLang="en-US"/>
          </a:p>
        </p:txBody>
      </p:sp>
      <p:sp>
        <p:nvSpPr>
          <p:cNvPr id="8" name="页脚占位符 7">
            <a:extLst>
              <a:ext uri="{FF2B5EF4-FFF2-40B4-BE49-F238E27FC236}">
                <a16:creationId xmlns:a16="http://schemas.microsoft.com/office/drawing/2014/main" id="{3C2333F2-E21D-B2E3-87BC-C1A833961AB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9484B14D-C533-D676-3E8A-CB26BEA6454B}"/>
              </a:ext>
            </a:extLst>
          </p:cNvPr>
          <p:cNvSpPr>
            <a:spLocks noGrp="1"/>
          </p:cNvSpPr>
          <p:nvPr>
            <p:ph type="sldNum" sz="quarter" idx="12"/>
          </p:nvPr>
        </p:nvSpPr>
        <p:spPr/>
        <p:txBody>
          <a:bodyPr/>
          <a:lstStyle/>
          <a:p>
            <a:fld id="{B0AC98E8-77B5-4E71-A497-A3DCE01E87E0}" type="slidenum">
              <a:rPr lang="zh-CN" altLang="en-US" smtClean="0"/>
              <a:t>‹#›</a:t>
            </a:fld>
            <a:endParaRPr lang="zh-CN" altLang="en-US"/>
          </a:p>
        </p:txBody>
      </p:sp>
    </p:spTree>
    <p:extLst>
      <p:ext uri="{BB962C8B-B14F-4D97-AF65-F5344CB8AC3E}">
        <p14:creationId xmlns:p14="http://schemas.microsoft.com/office/powerpoint/2010/main" val="2771960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54956F7-71BB-AD37-ED06-B647E392E9C2}"/>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070D073-A02F-697A-ED28-4CE3EB161D8E}"/>
              </a:ext>
            </a:extLst>
          </p:cNvPr>
          <p:cNvSpPr>
            <a:spLocks noGrp="1"/>
          </p:cNvSpPr>
          <p:nvPr>
            <p:ph type="dt" sz="half" idx="10"/>
          </p:nvPr>
        </p:nvSpPr>
        <p:spPr/>
        <p:txBody>
          <a:bodyPr/>
          <a:lstStyle/>
          <a:p>
            <a:fld id="{F9C9597E-FE9B-49AA-9491-F7569C336C7D}" type="datetime1">
              <a:rPr lang="zh-CN" altLang="en-US" smtClean="0"/>
              <a:t>2026/5/24</a:t>
            </a:fld>
            <a:endParaRPr lang="zh-CN" altLang="en-US"/>
          </a:p>
        </p:txBody>
      </p:sp>
      <p:sp>
        <p:nvSpPr>
          <p:cNvPr id="4" name="页脚占位符 3">
            <a:extLst>
              <a:ext uri="{FF2B5EF4-FFF2-40B4-BE49-F238E27FC236}">
                <a16:creationId xmlns:a16="http://schemas.microsoft.com/office/drawing/2014/main" id="{25E878A0-2CEE-76BA-F11B-2B4F7CC41658}"/>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BEC801C5-A614-4A25-2233-6F2873283140}"/>
              </a:ext>
            </a:extLst>
          </p:cNvPr>
          <p:cNvSpPr>
            <a:spLocks noGrp="1"/>
          </p:cNvSpPr>
          <p:nvPr>
            <p:ph type="sldNum" sz="quarter" idx="12"/>
          </p:nvPr>
        </p:nvSpPr>
        <p:spPr/>
        <p:txBody>
          <a:bodyPr/>
          <a:lstStyle/>
          <a:p>
            <a:fld id="{B0AC98E8-77B5-4E71-A497-A3DCE01E87E0}" type="slidenum">
              <a:rPr lang="zh-CN" altLang="en-US" smtClean="0"/>
              <a:t>‹#›</a:t>
            </a:fld>
            <a:endParaRPr lang="zh-CN" altLang="en-US"/>
          </a:p>
        </p:txBody>
      </p:sp>
    </p:spTree>
    <p:extLst>
      <p:ext uri="{BB962C8B-B14F-4D97-AF65-F5344CB8AC3E}">
        <p14:creationId xmlns:p14="http://schemas.microsoft.com/office/powerpoint/2010/main" val="25053910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A7B5794-D79A-8E65-DF72-666AEFB7891C}"/>
              </a:ext>
            </a:extLst>
          </p:cNvPr>
          <p:cNvSpPr>
            <a:spLocks noGrp="1"/>
          </p:cNvSpPr>
          <p:nvPr>
            <p:ph type="dt" sz="half" idx="10"/>
          </p:nvPr>
        </p:nvSpPr>
        <p:spPr/>
        <p:txBody>
          <a:bodyPr/>
          <a:lstStyle/>
          <a:p>
            <a:fld id="{EFB1096A-99CA-4CA9-9E61-5483C2A1570D}" type="datetime1">
              <a:rPr lang="zh-CN" altLang="en-US" smtClean="0"/>
              <a:t>2026/5/24</a:t>
            </a:fld>
            <a:endParaRPr lang="zh-CN" altLang="en-US"/>
          </a:p>
        </p:txBody>
      </p:sp>
      <p:sp>
        <p:nvSpPr>
          <p:cNvPr id="3" name="页脚占位符 2">
            <a:extLst>
              <a:ext uri="{FF2B5EF4-FFF2-40B4-BE49-F238E27FC236}">
                <a16:creationId xmlns:a16="http://schemas.microsoft.com/office/drawing/2014/main" id="{5737938A-10A1-154A-ABD2-646B8D7B86E2}"/>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1A055E4-CB26-41A3-262D-8129F6EC4A23}"/>
              </a:ext>
            </a:extLst>
          </p:cNvPr>
          <p:cNvSpPr>
            <a:spLocks noGrp="1"/>
          </p:cNvSpPr>
          <p:nvPr>
            <p:ph type="sldNum" sz="quarter" idx="12"/>
          </p:nvPr>
        </p:nvSpPr>
        <p:spPr/>
        <p:txBody>
          <a:bodyPr/>
          <a:lstStyle/>
          <a:p>
            <a:fld id="{B0AC98E8-77B5-4E71-A497-A3DCE01E87E0}" type="slidenum">
              <a:rPr lang="zh-CN" altLang="en-US" smtClean="0"/>
              <a:t>‹#›</a:t>
            </a:fld>
            <a:endParaRPr lang="zh-CN" altLang="en-US"/>
          </a:p>
        </p:txBody>
      </p:sp>
    </p:spTree>
    <p:extLst>
      <p:ext uri="{BB962C8B-B14F-4D97-AF65-F5344CB8AC3E}">
        <p14:creationId xmlns:p14="http://schemas.microsoft.com/office/powerpoint/2010/main" val="65971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C009402-CDB5-51A6-EFA8-867CA7D45BF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7B32912E-8A5F-A039-AFF3-5C58643F3FE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2B1C5788-33FC-6AF8-3E33-352348C488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34AB6969-CB76-8D19-C1BA-BE58CA9357B4}"/>
              </a:ext>
            </a:extLst>
          </p:cNvPr>
          <p:cNvSpPr>
            <a:spLocks noGrp="1"/>
          </p:cNvSpPr>
          <p:nvPr>
            <p:ph type="dt" sz="half" idx="10"/>
          </p:nvPr>
        </p:nvSpPr>
        <p:spPr/>
        <p:txBody>
          <a:bodyPr/>
          <a:lstStyle/>
          <a:p>
            <a:fld id="{E4752E95-FEC8-4654-A260-70FFE577C5CC}" type="datetime1">
              <a:rPr lang="zh-CN" altLang="en-US" smtClean="0"/>
              <a:t>2026/5/24</a:t>
            </a:fld>
            <a:endParaRPr lang="zh-CN" altLang="en-US"/>
          </a:p>
        </p:txBody>
      </p:sp>
      <p:sp>
        <p:nvSpPr>
          <p:cNvPr id="6" name="页脚占位符 5">
            <a:extLst>
              <a:ext uri="{FF2B5EF4-FFF2-40B4-BE49-F238E27FC236}">
                <a16:creationId xmlns:a16="http://schemas.microsoft.com/office/drawing/2014/main" id="{9B012256-1645-5C98-D87F-002AC8ECC8F5}"/>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8254E221-1C33-108D-A7DC-A19AF137E7FA}"/>
              </a:ext>
            </a:extLst>
          </p:cNvPr>
          <p:cNvSpPr>
            <a:spLocks noGrp="1"/>
          </p:cNvSpPr>
          <p:nvPr>
            <p:ph type="sldNum" sz="quarter" idx="12"/>
          </p:nvPr>
        </p:nvSpPr>
        <p:spPr/>
        <p:txBody>
          <a:bodyPr/>
          <a:lstStyle/>
          <a:p>
            <a:fld id="{B0AC98E8-77B5-4E71-A497-A3DCE01E87E0}" type="slidenum">
              <a:rPr lang="zh-CN" altLang="en-US" smtClean="0"/>
              <a:t>‹#›</a:t>
            </a:fld>
            <a:endParaRPr lang="zh-CN" altLang="en-US"/>
          </a:p>
        </p:txBody>
      </p:sp>
    </p:spTree>
    <p:extLst>
      <p:ext uri="{BB962C8B-B14F-4D97-AF65-F5344CB8AC3E}">
        <p14:creationId xmlns:p14="http://schemas.microsoft.com/office/powerpoint/2010/main" val="578801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111107-8117-5ED9-AED5-AE7B9CC5735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F319AEE-A7E5-C093-E4DE-35AB1EB041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3047A285-D92A-30EB-331D-F1FA303CB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AD9CD17-9526-B6DD-6890-3F8D6533C396}"/>
              </a:ext>
            </a:extLst>
          </p:cNvPr>
          <p:cNvSpPr>
            <a:spLocks noGrp="1"/>
          </p:cNvSpPr>
          <p:nvPr>
            <p:ph type="dt" sz="half" idx="10"/>
          </p:nvPr>
        </p:nvSpPr>
        <p:spPr/>
        <p:txBody>
          <a:bodyPr/>
          <a:lstStyle/>
          <a:p>
            <a:fld id="{985F50A2-A1ED-4588-A1DE-B25FF8B42790}" type="datetime1">
              <a:rPr lang="zh-CN" altLang="en-US" smtClean="0"/>
              <a:t>2026/5/24</a:t>
            </a:fld>
            <a:endParaRPr lang="zh-CN" altLang="en-US"/>
          </a:p>
        </p:txBody>
      </p:sp>
      <p:sp>
        <p:nvSpPr>
          <p:cNvPr id="6" name="页脚占位符 5">
            <a:extLst>
              <a:ext uri="{FF2B5EF4-FFF2-40B4-BE49-F238E27FC236}">
                <a16:creationId xmlns:a16="http://schemas.microsoft.com/office/drawing/2014/main" id="{00ABBA0A-69A4-90FB-B1F7-F432738DD586}"/>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51ADF0A-7721-C781-1F20-FE49BC85ED47}"/>
              </a:ext>
            </a:extLst>
          </p:cNvPr>
          <p:cNvSpPr>
            <a:spLocks noGrp="1"/>
          </p:cNvSpPr>
          <p:nvPr>
            <p:ph type="sldNum" sz="quarter" idx="12"/>
          </p:nvPr>
        </p:nvSpPr>
        <p:spPr/>
        <p:txBody>
          <a:bodyPr/>
          <a:lstStyle/>
          <a:p>
            <a:fld id="{B0AC98E8-77B5-4E71-A497-A3DCE01E87E0}" type="slidenum">
              <a:rPr lang="zh-CN" altLang="en-US" smtClean="0"/>
              <a:t>‹#›</a:t>
            </a:fld>
            <a:endParaRPr lang="zh-CN" altLang="en-US"/>
          </a:p>
        </p:txBody>
      </p:sp>
    </p:spTree>
    <p:extLst>
      <p:ext uri="{BB962C8B-B14F-4D97-AF65-F5344CB8AC3E}">
        <p14:creationId xmlns:p14="http://schemas.microsoft.com/office/powerpoint/2010/main" val="21132786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D39F71-9D4F-A325-2FBB-73A622BE611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8B98A572-9D22-FC74-F7A1-329B8EE14513}"/>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8CFA0C2-2BBB-A884-61DF-D2DC157305AB}"/>
              </a:ext>
            </a:extLst>
          </p:cNvPr>
          <p:cNvSpPr>
            <a:spLocks noGrp="1"/>
          </p:cNvSpPr>
          <p:nvPr>
            <p:ph type="dt" sz="half" idx="10"/>
          </p:nvPr>
        </p:nvSpPr>
        <p:spPr/>
        <p:txBody>
          <a:bodyPr/>
          <a:lstStyle/>
          <a:p>
            <a:fld id="{62763EB5-C344-48FA-9D94-72096E5A8B1D}" type="datetime1">
              <a:rPr lang="zh-CN" altLang="en-US" smtClean="0"/>
              <a:t>2026/5/24</a:t>
            </a:fld>
            <a:endParaRPr lang="zh-CN" altLang="en-US"/>
          </a:p>
        </p:txBody>
      </p:sp>
      <p:sp>
        <p:nvSpPr>
          <p:cNvPr id="5" name="页脚占位符 4">
            <a:extLst>
              <a:ext uri="{FF2B5EF4-FFF2-40B4-BE49-F238E27FC236}">
                <a16:creationId xmlns:a16="http://schemas.microsoft.com/office/drawing/2014/main" id="{F2B3897C-1AB2-0A89-D6AB-D9AEBDAB7F1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AC9A32E8-FD7D-C29F-B5C5-7722C3AC843D}"/>
              </a:ext>
            </a:extLst>
          </p:cNvPr>
          <p:cNvSpPr>
            <a:spLocks noGrp="1"/>
          </p:cNvSpPr>
          <p:nvPr>
            <p:ph type="sldNum" sz="quarter" idx="12"/>
          </p:nvPr>
        </p:nvSpPr>
        <p:spPr/>
        <p:txBody>
          <a:bodyPr/>
          <a:lstStyle/>
          <a:p>
            <a:fld id="{B0AC98E8-77B5-4E71-A497-A3DCE01E87E0}" type="slidenum">
              <a:rPr lang="zh-CN" altLang="en-US" smtClean="0"/>
              <a:t>‹#›</a:t>
            </a:fld>
            <a:endParaRPr lang="zh-CN" altLang="en-US"/>
          </a:p>
        </p:txBody>
      </p:sp>
    </p:spTree>
    <p:extLst>
      <p:ext uri="{BB962C8B-B14F-4D97-AF65-F5344CB8AC3E}">
        <p14:creationId xmlns:p14="http://schemas.microsoft.com/office/powerpoint/2010/main" val="2996365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2D2F4396-C606-8EE7-4641-6BFCF611CC8C}"/>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7B728FD-DBF7-18B7-3410-EB97EF2E611C}"/>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94D1B24-95C1-A06E-3114-A037E22725B4}"/>
              </a:ext>
            </a:extLst>
          </p:cNvPr>
          <p:cNvSpPr>
            <a:spLocks noGrp="1"/>
          </p:cNvSpPr>
          <p:nvPr>
            <p:ph type="dt" sz="half" idx="10"/>
          </p:nvPr>
        </p:nvSpPr>
        <p:spPr/>
        <p:txBody>
          <a:bodyPr/>
          <a:lstStyle/>
          <a:p>
            <a:fld id="{3B1F5198-49BA-4BA9-BD32-D478665C4227}" type="datetime1">
              <a:rPr lang="zh-CN" altLang="en-US" smtClean="0"/>
              <a:t>2026/5/24</a:t>
            </a:fld>
            <a:endParaRPr lang="zh-CN" altLang="en-US"/>
          </a:p>
        </p:txBody>
      </p:sp>
      <p:sp>
        <p:nvSpPr>
          <p:cNvPr id="5" name="页脚占位符 4">
            <a:extLst>
              <a:ext uri="{FF2B5EF4-FFF2-40B4-BE49-F238E27FC236}">
                <a16:creationId xmlns:a16="http://schemas.microsoft.com/office/drawing/2014/main" id="{9CCC94EE-ED8D-992C-17AF-98AAC74D0A6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9569001-C770-BF11-BEC4-551FC29B4292}"/>
              </a:ext>
            </a:extLst>
          </p:cNvPr>
          <p:cNvSpPr>
            <a:spLocks noGrp="1"/>
          </p:cNvSpPr>
          <p:nvPr>
            <p:ph type="sldNum" sz="quarter" idx="12"/>
          </p:nvPr>
        </p:nvSpPr>
        <p:spPr/>
        <p:txBody>
          <a:bodyPr/>
          <a:lstStyle/>
          <a:p>
            <a:fld id="{B0AC98E8-77B5-4E71-A497-A3DCE01E87E0}" type="slidenum">
              <a:rPr lang="zh-CN" altLang="en-US" smtClean="0"/>
              <a:t>‹#›</a:t>
            </a:fld>
            <a:endParaRPr lang="zh-CN" altLang="en-US"/>
          </a:p>
        </p:txBody>
      </p:sp>
    </p:spTree>
    <p:extLst>
      <p:ext uri="{BB962C8B-B14F-4D97-AF65-F5344CB8AC3E}">
        <p14:creationId xmlns:p14="http://schemas.microsoft.com/office/powerpoint/2010/main" val="1303487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60D8971-FD39-9A70-AFB1-91F50497DD8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AB101C77-AF61-0C8D-A40E-16211E82E756}"/>
              </a:ext>
            </a:extLst>
          </p:cNvPr>
          <p:cNvSpPr>
            <a:spLocks noGrp="1"/>
          </p:cNvSpPr>
          <p:nvPr>
            <p:ph type="dt" sz="half" idx="10"/>
          </p:nvPr>
        </p:nvSpPr>
        <p:spPr/>
        <p:txBody>
          <a:bodyPr/>
          <a:lstStyle/>
          <a:p>
            <a:fld id="{55ADB749-87BD-49A0-AED4-226B18B84D74}" type="datetime1">
              <a:rPr lang="zh-CN" altLang="en-US" smtClean="0"/>
              <a:t>2026/5/24</a:t>
            </a:fld>
            <a:endParaRPr lang="zh-CN" altLang="en-US"/>
          </a:p>
        </p:txBody>
      </p:sp>
      <p:sp>
        <p:nvSpPr>
          <p:cNvPr id="4" name="页脚占位符 3">
            <a:extLst>
              <a:ext uri="{FF2B5EF4-FFF2-40B4-BE49-F238E27FC236}">
                <a16:creationId xmlns:a16="http://schemas.microsoft.com/office/drawing/2014/main" id="{63B5C546-6EAA-EC6E-6942-BCC643EAAE4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2521D59A-FFDE-043F-0DD6-5683D8B97B70}"/>
              </a:ext>
            </a:extLst>
          </p:cNvPr>
          <p:cNvSpPr>
            <a:spLocks noGrp="1"/>
          </p:cNvSpPr>
          <p:nvPr>
            <p:ph type="sldNum" sz="quarter" idx="12"/>
          </p:nvPr>
        </p:nvSpPr>
        <p:spPr/>
        <p:txBody>
          <a:bodyPr/>
          <a:lstStyle/>
          <a:p>
            <a:fld id="{B0AC98E8-77B5-4E71-A497-A3DCE01E87E0}" type="slidenum">
              <a:rPr lang="zh-CN" altLang="en-US" smtClean="0"/>
              <a:t>‹#›</a:t>
            </a:fld>
            <a:endParaRPr lang="zh-CN" altLang="en-US" dirty="0"/>
          </a:p>
        </p:txBody>
      </p:sp>
      <p:graphicFrame>
        <p:nvGraphicFramePr>
          <p:cNvPr id="6" name="Table 4">
            <a:extLst>
              <a:ext uri="{FF2B5EF4-FFF2-40B4-BE49-F238E27FC236}">
                <a16:creationId xmlns:a16="http://schemas.microsoft.com/office/drawing/2014/main" id="{8C3F2D75-0D39-5F12-130E-B8C8FF183F94}"/>
              </a:ext>
            </a:extLst>
          </p:cNvPr>
          <p:cNvGraphicFramePr>
            <a:graphicFrameLocks noGrp="1"/>
          </p:cNvGraphicFramePr>
          <p:nvPr userDrawn="1">
            <p:extLst>
              <p:ext uri="{D42A27DB-BD31-4B8C-83A1-F6EECF244321}">
                <p14:modId xmlns:p14="http://schemas.microsoft.com/office/powerpoint/2010/main" val="766359526"/>
              </p:ext>
            </p:extLst>
          </p:nvPr>
        </p:nvGraphicFramePr>
        <p:xfrm>
          <a:off x="1549924" y="2321088"/>
          <a:ext cx="8611047" cy="2309904"/>
        </p:xfrm>
        <a:graphic>
          <a:graphicData uri="http://schemas.openxmlformats.org/drawingml/2006/table">
            <a:tbl>
              <a:tblPr firstRow="1" bandRow="1">
                <a:tableStyleId>{3C2FFA5D-87B4-456A-9821-1D502468CF0F}</a:tableStyleId>
              </a:tblPr>
              <a:tblGrid>
                <a:gridCol w="2435860">
                  <a:extLst>
                    <a:ext uri="{9D8B030D-6E8A-4147-A177-3AD203B41FA5}">
                      <a16:colId xmlns:a16="http://schemas.microsoft.com/office/drawing/2014/main" val="20000"/>
                    </a:ext>
                  </a:extLst>
                </a:gridCol>
                <a:gridCol w="4244340">
                  <a:extLst>
                    <a:ext uri="{9D8B030D-6E8A-4147-A177-3AD203B41FA5}">
                      <a16:colId xmlns:a16="http://schemas.microsoft.com/office/drawing/2014/main" val="20001"/>
                    </a:ext>
                  </a:extLst>
                </a:gridCol>
                <a:gridCol w="1930847">
                  <a:extLst>
                    <a:ext uri="{9D8B030D-6E8A-4147-A177-3AD203B41FA5}">
                      <a16:colId xmlns:a16="http://schemas.microsoft.com/office/drawing/2014/main" val="20002"/>
                    </a:ext>
                  </a:extLst>
                </a:gridCol>
              </a:tblGrid>
              <a:tr h="425883">
                <a:tc>
                  <a:txBody>
                    <a:bodyPr/>
                    <a:lstStyle/>
                    <a:p>
                      <a:pPr algn="ct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solidFill>
                      <a:srgbClr val="002060"/>
                    </a:solidFill>
                  </a:tcPr>
                </a:tc>
                <a:tc>
                  <a:txBody>
                    <a:bodyPr/>
                    <a:lstStyle/>
                    <a:p>
                      <a:pPr algn="ct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solidFill>
                      <a:srgbClr val="002060"/>
                    </a:solidFill>
                  </a:tcPr>
                </a:tc>
                <a:tc>
                  <a:txBody>
                    <a:bodyPr/>
                    <a:lstStyle/>
                    <a:p>
                      <a:pPr algn="ctr">
                        <a:buNone/>
                      </a:pP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a:txBody>
                  <a:tcPr>
                    <a:solidFill>
                      <a:srgbClr val="002060"/>
                    </a:solidFill>
                  </a:tcPr>
                </a:tc>
                <a:extLst>
                  <a:ext uri="{0D108BD9-81ED-4DB2-BD59-A6C34878D82A}">
                    <a16:rowId xmlns:a16="http://schemas.microsoft.com/office/drawing/2014/main" val="10000"/>
                  </a:ext>
                </a:extLst>
              </a:tr>
              <a:tr h="628007">
                <a:tc>
                  <a:txBody>
                    <a:bodyPr/>
                    <a:lstStyle/>
                    <a:p>
                      <a:pPr algn="ctr"/>
                      <a:endParaRPr kumimoji="1"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solidFill>
                  </a:tcPr>
                </a:tc>
                <a:tc>
                  <a:txBody>
                    <a:bodyPr/>
                    <a:lstStyle/>
                    <a:p>
                      <a:pPr algn="ctr"/>
                      <a:endParaRPr kumimoji="1"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solidFill>
                  </a:tcPr>
                </a:tc>
                <a:tc>
                  <a:txBody>
                    <a:bodyPr/>
                    <a:lstStyle/>
                    <a:p>
                      <a:pPr algn="ctr">
                        <a:buNone/>
                      </a:pPr>
                      <a:endParaRPr kumimoji="1"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0001"/>
                  </a:ext>
                </a:extLst>
              </a:tr>
              <a:tr h="628007">
                <a:tc>
                  <a:txBody>
                    <a:bodyPr/>
                    <a:lstStyle/>
                    <a:p>
                      <a:pPr algn="ctr">
                        <a:buNone/>
                      </a:pPr>
                      <a:endParaRPr kumimoji="1"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anchor="ctr">
                    <a:solidFill>
                      <a:schemeClr val="bg1"/>
                    </a:solidFill>
                  </a:tcPr>
                </a:tc>
                <a:tc>
                  <a:txBody>
                    <a:bodyPr/>
                    <a:lstStyle/>
                    <a:p>
                      <a:pPr algn="ctr">
                        <a:buNone/>
                      </a:pPr>
                      <a:endParaRPr kumimoji="1"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solidFill>
                  </a:tcPr>
                </a:tc>
                <a:tc>
                  <a:txBody>
                    <a:bodyPr/>
                    <a:lstStyle/>
                    <a:p>
                      <a:pPr algn="ctr">
                        <a:buNone/>
                      </a:pPr>
                      <a:endParaRPr kumimoji="1"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0002"/>
                  </a:ext>
                </a:extLst>
              </a:tr>
              <a:tr h="628007">
                <a:tc>
                  <a:txBody>
                    <a:bodyPr/>
                    <a:lstStyle/>
                    <a:p>
                      <a:pPr algn="ctr">
                        <a:buNone/>
                      </a:pPr>
                      <a:endParaRPr kumimoji="1"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sym typeface="+mn-ea"/>
                      </a:endParaRPr>
                    </a:p>
                  </a:txBody>
                  <a:tcPr anchor="ctr">
                    <a:solidFill>
                      <a:schemeClr val="bg1"/>
                    </a:solidFill>
                  </a:tcPr>
                </a:tc>
                <a:tc>
                  <a:txBody>
                    <a:bodyPr/>
                    <a:lstStyle/>
                    <a:p>
                      <a:pPr algn="ctr">
                        <a:buNone/>
                      </a:pPr>
                      <a:endParaRPr kumimoji="1" lang="en-US" altLang="zh-CN"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solidFill>
                  </a:tcPr>
                </a:tc>
                <a:tc>
                  <a:txBody>
                    <a:bodyPr/>
                    <a:lstStyle/>
                    <a:p>
                      <a:pPr algn="ctr">
                        <a:buNone/>
                      </a:pPr>
                      <a:endParaRPr kumimoji="1" lang="zh-CN" altLang="en-US" sz="2000" b="1" dirty="0">
                        <a:solidFill>
                          <a:srgbClr val="002060"/>
                        </a:solidFill>
                        <a:latin typeface="Times New Roman" panose="02020603050405020304" pitchFamily="18" charset="0"/>
                        <a:ea typeface="微软雅黑" panose="020B0503020204020204" pitchFamily="34" charset="-122"/>
                        <a:cs typeface="Times New Roman" panose="02020603050405020304" pitchFamily="18" charset="0"/>
                      </a:endParaRPr>
                    </a:p>
                  </a:txBody>
                  <a:tcPr anchor="ctr">
                    <a:solidFill>
                      <a:schemeClr val="bg1"/>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59262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4936B485-DA4D-090E-966E-C9664C5D708E}"/>
              </a:ext>
            </a:extLst>
          </p:cNvPr>
          <p:cNvSpPr>
            <a:spLocks noGrp="1"/>
          </p:cNvSpPr>
          <p:nvPr>
            <p:ph type="title"/>
          </p:nvPr>
        </p:nvSpPr>
        <p:spPr>
          <a:xfrm>
            <a:off x="838200" y="476250"/>
            <a:ext cx="10515600" cy="850900"/>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a:extLst>
              <a:ext uri="{FF2B5EF4-FFF2-40B4-BE49-F238E27FC236}">
                <a16:creationId xmlns:a16="http://schemas.microsoft.com/office/drawing/2014/main" id="{28FEC1D0-D87A-2FB2-355E-8038D01FE18C}"/>
              </a:ext>
            </a:extLst>
          </p:cNvPr>
          <p:cNvSpPr>
            <a:spLocks noGrp="1"/>
          </p:cNvSpPr>
          <p:nvPr>
            <p:ph type="body" idx="1"/>
          </p:nvPr>
        </p:nvSpPr>
        <p:spPr>
          <a:xfrm>
            <a:off x="838200" y="1524000"/>
            <a:ext cx="10515600" cy="4652963"/>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a:extLst>
              <a:ext uri="{FF2B5EF4-FFF2-40B4-BE49-F238E27FC236}">
                <a16:creationId xmlns:a16="http://schemas.microsoft.com/office/drawing/2014/main" id="{CE1D349F-864C-6705-0FB5-AFC9F1BBAD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08F09BF-FBC8-49BE-8617-0B6FFB95D8BC}" type="datetime1">
              <a:rPr lang="zh-CN" altLang="en-US" smtClean="0"/>
              <a:t>2026/5/24</a:t>
            </a:fld>
            <a:endParaRPr lang="zh-CN" altLang="en-US"/>
          </a:p>
        </p:txBody>
      </p:sp>
      <p:sp>
        <p:nvSpPr>
          <p:cNvPr id="5" name="页脚占位符 4">
            <a:extLst>
              <a:ext uri="{FF2B5EF4-FFF2-40B4-BE49-F238E27FC236}">
                <a16:creationId xmlns:a16="http://schemas.microsoft.com/office/drawing/2014/main" id="{8BA25C2C-E642-700C-C563-D452D65D5B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zh-CN" altLang="en-US"/>
          </a:p>
        </p:txBody>
      </p:sp>
      <p:sp>
        <p:nvSpPr>
          <p:cNvPr id="6" name="灯片编号占位符 5">
            <a:extLst>
              <a:ext uri="{FF2B5EF4-FFF2-40B4-BE49-F238E27FC236}">
                <a16:creationId xmlns:a16="http://schemas.microsoft.com/office/drawing/2014/main" id="{DB6CF720-4086-8023-98CC-D95E546A27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0AC98E8-77B5-4E71-A497-A3DCE01E87E0}" type="slidenum">
              <a:rPr lang="zh-CN" altLang="en-US" smtClean="0"/>
              <a:t>‹#›</a:t>
            </a:fld>
            <a:endParaRPr lang="zh-CN" altLang="en-US" dirty="0"/>
          </a:p>
        </p:txBody>
      </p:sp>
      <p:sp>
        <p:nvSpPr>
          <p:cNvPr id="7" name="Rectangle 20">
            <a:extLst>
              <a:ext uri="{FF2B5EF4-FFF2-40B4-BE49-F238E27FC236}">
                <a16:creationId xmlns:a16="http://schemas.microsoft.com/office/drawing/2014/main" id="{1D4220D1-0514-F2EC-38D4-043F918548B8}"/>
              </a:ext>
            </a:extLst>
          </p:cNvPr>
          <p:cNvSpPr>
            <a:spLocks noChangeArrowheads="1"/>
          </p:cNvSpPr>
          <p:nvPr userDrawn="1"/>
        </p:nvSpPr>
        <p:spPr bwMode="auto">
          <a:xfrm>
            <a:off x="0" y="-1100"/>
            <a:ext cx="12192000" cy="365125"/>
          </a:xfrm>
          <a:prstGeom prst="rect">
            <a:avLst/>
          </a:prstGeom>
          <a:solidFill>
            <a:schemeClr val="accent1">
              <a:lumMod val="20000"/>
              <a:lumOff val="80000"/>
            </a:schemeClr>
          </a:solidFill>
          <a:ln w="9525">
            <a:solidFill>
              <a:schemeClr val="tx2">
                <a:lumMod val="10000"/>
                <a:lumOff val="90000"/>
              </a:schemeClr>
            </a:solidFill>
            <a:miter lim="800000"/>
            <a:headEnd/>
            <a:tailEnd/>
          </a:ln>
          <a:effectLst/>
        </p:spPr>
        <p:txBody>
          <a:bodyPr wrap="none" anchor="ctr"/>
          <a:lstStyle/>
          <a:p>
            <a:endParaRPr lang="en-US" dirty="0"/>
          </a:p>
        </p:txBody>
      </p:sp>
      <p:sp>
        <p:nvSpPr>
          <p:cNvPr id="10" name="Rectangle 20">
            <a:extLst>
              <a:ext uri="{FF2B5EF4-FFF2-40B4-BE49-F238E27FC236}">
                <a16:creationId xmlns:a16="http://schemas.microsoft.com/office/drawing/2014/main" id="{A7B09461-1E0B-CCBB-4832-778350F10D15}"/>
              </a:ext>
            </a:extLst>
          </p:cNvPr>
          <p:cNvSpPr>
            <a:spLocks noChangeArrowheads="1"/>
          </p:cNvSpPr>
          <p:nvPr userDrawn="1"/>
        </p:nvSpPr>
        <p:spPr bwMode="auto">
          <a:xfrm>
            <a:off x="0" y="-1100"/>
            <a:ext cx="838200" cy="365125"/>
          </a:xfrm>
          <a:prstGeom prst="rect">
            <a:avLst/>
          </a:prstGeom>
          <a:solidFill>
            <a:schemeClr val="tx2"/>
          </a:solidFill>
          <a:ln w="9525">
            <a:solidFill>
              <a:schemeClr val="tx2"/>
            </a:solidFill>
            <a:miter lim="800000"/>
            <a:headEnd/>
            <a:tailEnd/>
          </a:ln>
          <a:effectLst/>
        </p:spPr>
        <p:txBody>
          <a:bodyPr wrap="none" anchor="ctr"/>
          <a:lstStyle/>
          <a:p>
            <a:endParaRPr lang="en-US" dirty="0"/>
          </a:p>
        </p:txBody>
      </p:sp>
    </p:spTree>
    <p:extLst>
      <p:ext uri="{BB962C8B-B14F-4D97-AF65-F5344CB8AC3E}">
        <p14:creationId xmlns:p14="http://schemas.microsoft.com/office/powerpoint/2010/main" val="4129111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3600" b="1" kern="1200" baseline="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svg"/><Relationship Id="rId17" Type="http://schemas.openxmlformats.org/officeDocument/2006/relationships/image" Target="../media/image22.png"/><Relationship Id="rId2" Type="http://schemas.openxmlformats.org/officeDocument/2006/relationships/notesSlide" Target="../notesSlides/notesSlide4.xml"/><Relationship Id="rId16" Type="http://schemas.openxmlformats.org/officeDocument/2006/relationships/image" Target="../media/image21.png"/><Relationship Id="rId1" Type="http://schemas.openxmlformats.org/officeDocument/2006/relationships/slideLayout" Target="../slideLayouts/slideLayout2.xml"/><Relationship Id="rId6" Type="http://schemas.openxmlformats.org/officeDocument/2006/relationships/image" Target="../media/image11.sv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sv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5.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3" Type="http://schemas.openxmlformats.org/officeDocument/2006/relationships/image" Target="../media/image23.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35.png"/></Relationships>
</file>

<file path=ppt/slides/_rels/slide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37.png"/></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625B479-6C91-C2B7-A0CF-F985248738BF}"/>
              </a:ext>
            </a:extLst>
          </p:cNvPr>
          <p:cNvSpPr>
            <a:spLocks noGrp="1"/>
          </p:cNvSpPr>
          <p:nvPr>
            <p:ph type="ctrTitle"/>
          </p:nvPr>
        </p:nvSpPr>
        <p:spPr>
          <a:xfrm>
            <a:off x="0" y="1122363"/>
            <a:ext cx="12192000" cy="2387600"/>
          </a:xfrm>
        </p:spPr>
        <p:txBody>
          <a:bodyPr>
            <a:normAutofit/>
          </a:bodyPr>
          <a:lstStyle/>
          <a:p>
            <a:r>
              <a:rPr lang="en-US" altLang="zh-CN" sz="4000" dirty="0"/>
              <a:t>DP-</a:t>
            </a:r>
            <a:r>
              <a:rPr lang="en-US" altLang="zh-CN" sz="4000" dirty="0" err="1"/>
              <a:t>S4S</a:t>
            </a:r>
            <a:r>
              <a:rPr lang="en-US" altLang="zh-CN" sz="4000" dirty="0"/>
              <a:t>: Accurate and Scalable Select-Join-Aggregate Query Processing with User-Level Differential Privacy</a:t>
            </a:r>
            <a:endParaRPr lang="zh-CN" altLang="en-US" sz="4000" dirty="0"/>
          </a:p>
        </p:txBody>
      </p:sp>
      <p:pic>
        <p:nvPicPr>
          <p:cNvPr id="6" name="图形 5">
            <a:extLst>
              <a:ext uri="{FF2B5EF4-FFF2-40B4-BE49-F238E27FC236}">
                <a16:creationId xmlns:a16="http://schemas.microsoft.com/office/drawing/2014/main" id="{B09C4EB1-1825-B498-3BBB-0C1EBF5D26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4197" y="4564026"/>
            <a:ext cx="3898900" cy="1949450"/>
          </a:xfrm>
          <a:prstGeom prst="rect">
            <a:avLst/>
          </a:prstGeom>
        </p:spPr>
      </p:pic>
      <p:sp>
        <p:nvSpPr>
          <p:cNvPr id="4" name="副标题 2">
            <a:extLst>
              <a:ext uri="{FF2B5EF4-FFF2-40B4-BE49-F238E27FC236}">
                <a16:creationId xmlns:a16="http://schemas.microsoft.com/office/drawing/2014/main" id="{22B9A845-4BD3-CC71-A397-7DC2192A4106}"/>
              </a:ext>
            </a:extLst>
          </p:cNvPr>
          <p:cNvSpPr txBox="1">
            <a:spLocks/>
          </p:cNvSpPr>
          <p:nvPr/>
        </p:nvSpPr>
        <p:spPr>
          <a:xfrm>
            <a:off x="7706051" y="3500627"/>
            <a:ext cx="4073718" cy="1063399"/>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0" lang="en-US" altLang="zh-CN" sz="2400" b="0" i="0" u="none" strike="noStrike" kern="1200" cap="none" spc="0" normalizeH="0" baseline="0" noProof="0" dirty="0">
                <a:ln>
                  <a:noFill/>
                </a:ln>
                <a:solidFill>
                  <a:prstClr val="black"/>
                </a:solidFill>
                <a:effectLst/>
                <a:uLnTx/>
                <a:uFillTx/>
                <a:latin typeface="Times New Roman"/>
                <a:ea typeface="微软雅黑"/>
                <a:cs typeface="+mn-cs"/>
              </a:rPr>
              <a:t>Yin Yang</a:t>
            </a:r>
            <a:endParaRPr lang="en-US" altLang="zh-CN" sz="2000" dirty="0"/>
          </a:p>
          <a:p>
            <a:r>
              <a:rPr lang="en-US" altLang="zh-CN" sz="2000" dirty="0"/>
              <a:t>Hamad Bin Khalifa University </a:t>
            </a:r>
          </a:p>
        </p:txBody>
      </p:sp>
      <p:sp>
        <p:nvSpPr>
          <p:cNvPr id="5" name="副标题 2">
            <a:extLst>
              <a:ext uri="{FF2B5EF4-FFF2-40B4-BE49-F238E27FC236}">
                <a16:creationId xmlns:a16="http://schemas.microsoft.com/office/drawing/2014/main" id="{7B43C767-2044-E99D-79B8-A039635EC5C2}"/>
              </a:ext>
            </a:extLst>
          </p:cNvPr>
          <p:cNvSpPr txBox="1">
            <a:spLocks/>
          </p:cNvSpPr>
          <p:nvPr/>
        </p:nvSpPr>
        <p:spPr>
          <a:xfrm>
            <a:off x="294198" y="3500627"/>
            <a:ext cx="4073718" cy="1063399"/>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0" lang="en-US" altLang="zh-CN" sz="2400" b="0" i="0" u="none" strike="noStrike" kern="1200" cap="none" spc="0" normalizeH="0" baseline="0" noProof="0" dirty="0">
                <a:ln>
                  <a:noFill/>
                </a:ln>
                <a:solidFill>
                  <a:prstClr val="black"/>
                </a:solidFill>
                <a:effectLst/>
                <a:uLnTx/>
                <a:uFillTx/>
                <a:latin typeface="Times New Roman"/>
                <a:ea typeface="微软雅黑"/>
                <a:cs typeface="+mn-cs"/>
              </a:rPr>
              <a:t>Yuan Qiu</a:t>
            </a:r>
            <a:endParaRPr lang="en-US" altLang="zh-CN" sz="2000" dirty="0"/>
          </a:p>
          <a:p>
            <a:r>
              <a:rPr lang="en-US" altLang="zh-CN" sz="2000" dirty="0"/>
              <a:t>Southeast University</a:t>
            </a:r>
          </a:p>
        </p:txBody>
      </p:sp>
      <p:sp>
        <p:nvSpPr>
          <p:cNvPr id="7" name="副标题 2">
            <a:extLst>
              <a:ext uri="{FF2B5EF4-FFF2-40B4-BE49-F238E27FC236}">
                <a16:creationId xmlns:a16="http://schemas.microsoft.com/office/drawing/2014/main" id="{45A4DE39-88A8-43BF-EA5A-088B0F7A213F}"/>
              </a:ext>
            </a:extLst>
          </p:cNvPr>
          <p:cNvSpPr txBox="1">
            <a:spLocks/>
          </p:cNvSpPr>
          <p:nvPr/>
        </p:nvSpPr>
        <p:spPr>
          <a:xfrm>
            <a:off x="4000124" y="3500627"/>
            <a:ext cx="4073718" cy="1063399"/>
          </a:xfrm>
          <a:prstGeom prst="rect">
            <a:avLst/>
          </a:prstGeom>
        </p:spPr>
        <p:txBody>
          <a:bodyPr vert="horz" lIns="91440" tIns="45720" rIns="91440" bIns="45720" rtlCol="0" anchor="t">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kumimoji="0" lang="en-US" altLang="zh-CN" sz="2400" b="0" i="0" u="none" strike="noStrike" kern="1200" cap="none" spc="0" normalizeH="0" baseline="0" noProof="0" dirty="0" err="1">
                <a:ln>
                  <a:noFill/>
                </a:ln>
                <a:solidFill>
                  <a:prstClr val="black"/>
                </a:solidFill>
                <a:effectLst/>
                <a:uLnTx/>
                <a:uFillTx/>
                <a:latin typeface="Times New Roman"/>
                <a:ea typeface="微软雅黑"/>
                <a:cs typeface="+mn-cs"/>
              </a:rPr>
              <a:t>Xiaokui</a:t>
            </a:r>
            <a:r>
              <a:rPr kumimoji="0" lang="en-US" altLang="zh-CN" sz="2400" b="0" i="0" u="none" strike="noStrike" kern="1200" cap="none" spc="0" normalizeH="0" baseline="0" noProof="0" dirty="0">
                <a:ln>
                  <a:noFill/>
                </a:ln>
                <a:solidFill>
                  <a:prstClr val="black"/>
                </a:solidFill>
                <a:effectLst/>
                <a:uLnTx/>
                <a:uFillTx/>
                <a:latin typeface="Times New Roman"/>
                <a:ea typeface="微软雅黑"/>
                <a:cs typeface="+mn-cs"/>
              </a:rPr>
              <a:t> Xiao</a:t>
            </a:r>
            <a:endParaRPr lang="en-US" altLang="zh-CN" sz="2000" dirty="0"/>
          </a:p>
          <a:p>
            <a:r>
              <a:rPr lang="en-US" altLang="zh-CN" sz="2000" dirty="0"/>
              <a:t>National University of Singapore</a:t>
            </a:r>
          </a:p>
        </p:txBody>
      </p:sp>
      <p:pic>
        <p:nvPicPr>
          <p:cNvPr id="1026" name="Picture 2">
            <a:extLst>
              <a:ext uri="{FF2B5EF4-FFF2-40B4-BE49-F238E27FC236}">
                <a16:creationId xmlns:a16="http://schemas.microsoft.com/office/drawing/2014/main" id="{EE1AF2E7-D017-0579-3FA4-DB56F4B292E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281081" y="4504027"/>
            <a:ext cx="3336985" cy="206944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358FCBD7-D505-175F-47BC-40E7963FE82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41639" y="4921848"/>
            <a:ext cx="2402541" cy="1233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2563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C65AE1-AE16-58C0-6D83-4566327D5F38}"/>
              </a:ext>
            </a:extLst>
          </p:cNvPr>
          <p:cNvSpPr>
            <a:spLocks noGrp="1"/>
          </p:cNvSpPr>
          <p:nvPr>
            <p:ph type="title"/>
          </p:nvPr>
        </p:nvSpPr>
        <p:spPr/>
        <p:txBody>
          <a:bodyPr/>
          <a:lstStyle/>
          <a:p>
            <a:r>
              <a:rPr lang="en-US" altLang="zh-CN" dirty="0"/>
              <a:t>Differential Privacy (DP)</a:t>
            </a:r>
            <a:endParaRPr lang="zh-CN" altLang="en-US" dirty="0"/>
          </a:p>
        </p:txBody>
      </p:sp>
      <p:sp>
        <p:nvSpPr>
          <p:cNvPr id="4" name="灯片编号占位符 3">
            <a:extLst>
              <a:ext uri="{FF2B5EF4-FFF2-40B4-BE49-F238E27FC236}">
                <a16:creationId xmlns:a16="http://schemas.microsoft.com/office/drawing/2014/main" id="{F4E7AD08-6783-A1A2-5330-FF5099F6370E}"/>
              </a:ext>
            </a:extLst>
          </p:cNvPr>
          <p:cNvSpPr>
            <a:spLocks noGrp="1"/>
          </p:cNvSpPr>
          <p:nvPr>
            <p:ph type="sldNum" sz="quarter" idx="12"/>
          </p:nvPr>
        </p:nvSpPr>
        <p:spPr/>
        <p:txBody>
          <a:bodyPr/>
          <a:lstStyle/>
          <a:p>
            <a:fld id="{B0AC98E8-77B5-4E71-A497-A3DCE01E87E0}" type="slidenum">
              <a:rPr lang="zh-CN" altLang="en-US" smtClean="0"/>
              <a:t>2</a:t>
            </a:fld>
            <a:endParaRPr lang="zh-CN" altLang="en-US" dirty="0"/>
          </a:p>
        </p:txBody>
      </p:sp>
      <p:graphicFrame>
        <p:nvGraphicFramePr>
          <p:cNvPr id="5" name="表格 4">
            <a:extLst>
              <a:ext uri="{FF2B5EF4-FFF2-40B4-BE49-F238E27FC236}">
                <a16:creationId xmlns:a16="http://schemas.microsoft.com/office/drawing/2014/main" id="{91E0271B-8D83-A83D-FCF4-02FC67FCB9BC}"/>
              </a:ext>
            </a:extLst>
          </p:cNvPr>
          <p:cNvGraphicFramePr>
            <a:graphicFrameLocks noGrp="1"/>
          </p:cNvGraphicFramePr>
          <p:nvPr>
            <p:extLst>
              <p:ext uri="{D42A27DB-BD31-4B8C-83A1-F6EECF244321}">
                <p14:modId xmlns:p14="http://schemas.microsoft.com/office/powerpoint/2010/main" val="1174461303"/>
              </p:ext>
            </p:extLst>
          </p:nvPr>
        </p:nvGraphicFramePr>
        <p:xfrm>
          <a:off x="838200" y="1972428"/>
          <a:ext cx="3621378" cy="1112520"/>
        </p:xfrm>
        <a:graphic>
          <a:graphicData uri="http://schemas.openxmlformats.org/drawingml/2006/table">
            <a:tbl>
              <a:tblPr firstRow="1" bandRow="1">
                <a:tableStyleId>{5C22544A-7EE6-4342-B048-85BDC9FD1C3A}</a:tableStyleId>
              </a:tblPr>
              <a:tblGrid>
                <a:gridCol w="1810689">
                  <a:extLst>
                    <a:ext uri="{9D8B030D-6E8A-4147-A177-3AD203B41FA5}">
                      <a16:colId xmlns:a16="http://schemas.microsoft.com/office/drawing/2014/main" val="4013518789"/>
                    </a:ext>
                  </a:extLst>
                </a:gridCol>
                <a:gridCol w="1810689">
                  <a:extLst>
                    <a:ext uri="{9D8B030D-6E8A-4147-A177-3AD203B41FA5}">
                      <a16:colId xmlns:a16="http://schemas.microsoft.com/office/drawing/2014/main" val="1521240165"/>
                    </a:ext>
                  </a:extLst>
                </a:gridCol>
              </a:tblGrid>
              <a:tr h="370840">
                <a:tc>
                  <a:txBody>
                    <a:bodyPr/>
                    <a:lstStyle/>
                    <a:p>
                      <a:pPr algn="ctr"/>
                      <a:r>
                        <a:rPr lang="en-US" altLang="zh-CN" dirty="0"/>
                        <a:t>User</a:t>
                      </a:r>
                      <a:endParaRPr lang="zh-CN" altLang="en-US" dirty="0"/>
                    </a:p>
                  </a:txBody>
                  <a:tcPr/>
                </a:tc>
                <a:tc>
                  <a:txBody>
                    <a:bodyPr/>
                    <a:lstStyle/>
                    <a:p>
                      <a:pPr algn="ctr"/>
                      <a:r>
                        <a:rPr lang="en-US" altLang="zh-CN" dirty="0"/>
                        <a:t>Age</a:t>
                      </a:r>
                      <a:endParaRPr lang="zh-CN" altLang="en-US" dirty="0"/>
                    </a:p>
                  </a:txBody>
                  <a:tcPr/>
                </a:tc>
                <a:extLst>
                  <a:ext uri="{0D108BD9-81ED-4DB2-BD59-A6C34878D82A}">
                    <a16:rowId xmlns:a16="http://schemas.microsoft.com/office/drawing/2014/main" val="624053836"/>
                  </a:ext>
                </a:extLst>
              </a:tr>
              <a:tr h="370840">
                <a:tc>
                  <a:txBody>
                    <a:bodyPr/>
                    <a:lstStyle/>
                    <a:p>
                      <a:pPr algn="ctr"/>
                      <a:r>
                        <a:rPr lang="en-US" altLang="zh-CN" dirty="0"/>
                        <a:t>Alice</a:t>
                      </a:r>
                      <a:endParaRPr lang="zh-CN" altLang="en-US" dirty="0"/>
                    </a:p>
                  </a:txBody>
                  <a:tcPr/>
                </a:tc>
                <a:tc>
                  <a:txBody>
                    <a:bodyPr/>
                    <a:lstStyle/>
                    <a:p>
                      <a:pPr algn="ctr"/>
                      <a:r>
                        <a:rPr lang="en-US" altLang="zh-CN" dirty="0"/>
                        <a:t>25</a:t>
                      </a:r>
                      <a:endParaRPr lang="zh-CN" altLang="en-US" dirty="0"/>
                    </a:p>
                  </a:txBody>
                  <a:tcPr/>
                </a:tc>
                <a:extLst>
                  <a:ext uri="{0D108BD9-81ED-4DB2-BD59-A6C34878D82A}">
                    <a16:rowId xmlns:a16="http://schemas.microsoft.com/office/drawing/2014/main" val="173167904"/>
                  </a:ext>
                </a:extLst>
              </a:tr>
              <a:tr h="370840">
                <a:tc>
                  <a:txBody>
                    <a:bodyPr/>
                    <a:lstStyle/>
                    <a:p>
                      <a:pPr algn="ctr"/>
                      <a:r>
                        <a:rPr lang="en-US" altLang="zh-CN" dirty="0"/>
                        <a:t>Bob</a:t>
                      </a:r>
                      <a:endParaRPr lang="zh-CN" altLang="en-US" dirty="0"/>
                    </a:p>
                  </a:txBody>
                  <a:tcPr/>
                </a:tc>
                <a:tc>
                  <a:txBody>
                    <a:bodyPr/>
                    <a:lstStyle/>
                    <a:p>
                      <a:pPr algn="ctr"/>
                      <a:r>
                        <a:rPr lang="en-US" altLang="zh-CN" dirty="0"/>
                        <a:t>45</a:t>
                      </a:r>
                      <a:endParaRPr lang="zh-CN" altLang="en-US" dirty="0"/>
                    </a:p>
                  </a:txBody>
                  <a:tcPr/>
                </a:tc>
                <a:extLst>
                  <a:ext uri="{0D108BD9-81ED-4DB2-BD59-A6C34878D82A}">
                    <a16:rowId xmlns:a16="http://schemas.microsoft.com/office/drawing/2014/main" val="1302740630"/>
                  </a:ext>
                </a:extLst>
              </a:tr>
            </a:tbl>
          </a:graphicData>
        </a:graphic>
      </p:graphicFrame>
      <p:graphicFrame>
        <p:nvGraphicFramePr>
          <p:cNvPr id="6" name="表格 5">
            <a:extLst>
              <a:ext uri="{FF2B5EF4-FFF2-40B4-BE49-F238E27FC236}">
                <a16:creationId xmlns:a16="http://schemas.microsoft.com/office/drawing/2014/main" id="{2A2D72BC-19C3-AD7F-5B9F-64F8C0ADB9CF}"/>
              </a:ext>
            </a:extLst>
          </p:cNvPr>
          <p:cNvGraphicFramePr>
            <a:graphicFrameLocks noGrp="1"/>
          </p:cNvGraphicFramePr>
          <p:nvPr>
            <p:extLst>
              <p:ext uri="{D42A27DB-BD31-4B8C-83A1-F6EECF244321}">
                <p14:modId xmlns:p14="http://schemas.microsoft.com/office/powerpoint/2010/main" val="1688944662"/>
              </p:ext>
            </p:extLst>
          </p:nvPr>
        </p:nvGraphicFramePr>
        <p:xfrm>
          <a:off x="7732422" y="1972428"/>
          <a:ext cx="3621378" cy="1483360"/>
        </p:xfrm>
        <a:graphic>
          <a:graphicData uri="http://schemas.openxmlformats.org/drawingml/2006/table">
            <a:tbl>
              <a:tblPr firstRow="1" bandRow="1">
                <a:tableStyleId>{5C22544A-7EE6-4342-B048-85BDC9FD1C3A}</a:tableStyleId>
              </a:tblPr>
              <a:tblGrid>
                <a:gridCol w="1810689">
                  <a:extLst>
                    <a:ext uri="{9D8B030D-6E8A-4147-A177-3AD203B41FA5}">
                      <a16:colId xmlns:a16="http://schemas.microsoft.com/office/drawing/2014/main" val="4013518789"/>
                    </a:ext>
                  </a:extLst>
                </a:gridCol>
                <a:gridCol w="1810689">
                  <a:extLst>
                    <a:ext uri="{9D8B030D-6E8A-4147-A177-3AD203B41FA5}">
                      <a16:colId xmlns:a16="http://schemas.microsoft.com/office/drawing/2014/main" val="1521240165"/>
                    </a:ext>
                  </a:extLst>
                </a:gridCol>
              </a:tblGrid>
              <a:tr h="370840">
                <a:tc>
                  <a:txBody>
                    <a:bodyPr/>
                    <a:lstStyle/>
                    <a:p>
                      <a:pPr algn="ctr"/>
                      <a:r>
                        <a:rPr lang="en-US" altLang="zh-CN" dirty="0"/>
                        <a:t>User</a:t>
                      </a:r>
                      <a:endParaRPr lang="zh-CN" altLang="en-US" dirty="0"/>
                    </a:p>
                  </a:txBody>
                  <a:tcPr/>
                </a:tc>
                <a:tc>
                  <a:txBody>
                    <a:bodyPr/>
                    <a:lstStyle/>
                    <a:p>
                      <a:pPr algn="ctr"/>
                      <a:r>
                        <a:rPr lang="en-US" altLang="zh-CN" dirty="0"/>
                        <a:t>Age</a:t>
                      </a:r>
                      <a:endParaRPr lang="zh-CN" altLang="en-US" dirty="0"/>
                    </a:p>
                  </a:txBody>
                  <a:tcPr/>
                </a:tc>
                <a:extLst>
                  <a:ext uri="{0D108BD9-81ED-4DB2-BD59-A6C34878D82A}">
                    <a16:rowId xmlns:a16="http://schemas.microsoft.com/office/drawing/2014/main" val="624053836"/>
                  </a:ext>
                </a:extLst>
              </a:tr>
              <a:tr h="370840">
                <a:tc>
                  <a:txBody>
                    <a:bodyPr/>
                    <a:lstStyle/>
                    <a:p>
                      <a:pPr algn="ctr"/>
                      <a:r>
                        <a:rPr lang="en-US" altLang="zh-CN" dirty="0"/>
                        <a:t>Alice</a:t>
                      </a:r>
                      <a:endParaRPr lang="zh-CN" altLang="en-US" dirty="0"/>
                    </a:p>
                  </a:txBody>
                  <a:tcPr/>
                </a:tc>
                <a:tc>
                  <a:txBody>
                    <a:bodyPr/>
                    <a:lstStyle/>
                    <a:p>
                      <a:pPr algn="ctr"/>
                      <a:r>
                        <a:rPr lang="en-US" altLang="zh-CN" dirty="0"/>
                        <a:t>25</a:t>
                      </a:r>
                      <a:endParaRPr lang="zh-CN" altLang="en-US" dirty="0"/>
                    </a:p>
                  </a:txBody>
                  <a:tcPr/>
                </a:tc>
                <a:extLst>
                  <a:ext uri="{0D108BD9-81ED-4DB2-BD59-A6C34878D82A}">
                    <a16:rowId xmlns:a16="http://schemas.microsoft.com/office/drawing/2014/main" val="173167904"/>
                  </a:ext>
                </a:extLst>
              </a:tr>
              <a:tr h="370840">
                <a:tc>
                  <a:txBody>
                    <a:bodyPr/>
                    <a:lstStyle/>
                    <a:p>
                      <a:pPr algn="ctr"/>
                      <a:r>
                        <a:rPr lang="en-US" altLang="zh-CN" dirty="0"/>
                        <a:t>Bob</a:t>
                      </a:r>
                      <a:endParaRPr lang="zh-CN" altLang="en-US" dirty="0"/>
                    </a:p>
                  </a:txBody>
                  <a:tcPr/>
                </a:tc>
                <a:tc>
                  <a:txBody>
                    <a:bodyPr/>
                    <a:lstStyle/>
                    <a:p>
                      <a:pPr algn="ctr"/>
                      <a:r>
                        <a:rPr lang="en-US" altLang="zh-CN" dirty="0"/>
                        <a:t>45</a:t>
                      </a:r>
                      <a:endParaRPr lang="zh-CN" altLang="en-US" dirty="0"/>
                    </a:p>
                  </a:txBody>
                  <a:tcPr/>
                </a:tc>
                <a:extLst>
                  <a:ext uri="{0D108BD9-81ED-4DB2-BD59-A6C34878D82A}">
                    <a16:rowId xmlns:a16="http://schemas.microsoft.com/office/drawing/2014/main" val="1302740630"/>
                  </a:ext>
                </a:extLst>
              </a:tr>
              <a:tr h="370840">
                <a:tc>
                  <a:txBody>
                    <a:bodyPr/>
                    <a:lstStyle/>
                    <a:p>
                      <a:pPr algn="ctr"/>
                      <a:r>
                        <a:rPr lang="en-US" altLang="zh-CN" b="1" dirty="0">
                          <a:solidFill>
                            <a:srgbClr val="C00000"/>
                          </a:solidFill>
                        </a:rPr>
                        <a:t>Cathy</a:t>
                      </a:r>
                      <a:endParaRPr lang="zh-CN" altLang="en-US" b="1" dirty="0">
                        <a:solidFill>
                          <a:srgbClr val="C00000"/>
                        </a:solidFill>
                      </a:endParaRPr>
                    </a:p>
                  </a:txBody>
                  <a:tcPr/>
                </a:tc>
                <a:tc>
                  <a:txBody>
                    <a:bodyPr/>
                    <a:lstStyle/>
                    <a:p>
                      <a:pPr algn="ctr"/>
                      <a:r>
                        <a:rPr lang="en-US" altLang="zh-CN" b="1" dirty="0">
                          <a:solidFill>
                            <a:srgbClr val="C00000"/>
                          </a:solidFill>
                        </a:rPr>
                        <a:t>60</a:t>
                      </a:r>
                      <a:endParaRPr lang="zh-CN" altLang="en-US" b="1" dirty="0">
                        <a:solidFill>
                          <a:srgbClr val="C00000"/>
                        </a:solidFill>
                      </a:endParaRPr>
                    </a:p>
                  </a:txBody>
                  <a:tcPr/>
                </a:tc>
                <a:extLst>
                  <a:ext uri="{0D108BD9-81ED-4DB2-BD59-A6C34878D82A}">
                    <a16:rowId xmlns:a16="http://schemas.microsoft.com/office/drawing/2014/main" val="4193587575"/>
                  </a:ext>
                </a:extLst>
              </a:tr>
            </a:tbl>
          </a:graphicData>
        </a:graphic>
      </p:graphicFrame>
      <p:sp>
        <p:nvSpPr>
          <p:cNvPr id="7" name="箭头: 左右 6">
            <a:extLst>
              <a:ext uri="{FF2B5EF4-FFF2-40B4-BE49-F238E27FC236}">
                <a16:creationId xmlns:a16="http://schemas.microsoft.com/office/drawing/2014/main" id="{B16427D2-CE4B-8BD7-948F-F3B6908C7B79}"/>
              </a:ext>
            </a:extLst>
          </p:cNvPr>
          <p:cNvSpPr/>
          <p:nvPr/>
        </p:nvSpPr>
        <p:spPr>
          <a:xfrm>
            <a:off x="4459578" y="2226870"/>
            <a:ext cx="3272844" cy="715113"/>
          </a:xfrm>
          <a:prstGeom prst="leftRightArrow">
            <a:avLst>
              <a:gd name="adj1" fmla="val 45896"/>
              <a:gd name="adj2" fmla="val 5247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Record-level DP</a:t>
            </a:r>
            <a:endParaRPr lang="zh-CN" altLang="en-US" dirty="0"/>
          </a:p>
        </p:txBody>
      </p:sp>
      <p:graphicFrame>
        <p:nvGraphicFramePr>
          <p:cNvPr id="16" name="表格 15">
            <a:extLst>
              <a:ext uri="{FF2B5EF4-FFF2-40B4-BE49-F238E27FC236}">
                <a16:creationId xmlns:a16="http://schemas.microsoft.com/office/drawing/2014/main" id="{B9738E28-D9A9-CF69-DF96-FC52186E5D00}"/>
              </a:ext>
            </a:extLst>
          </p:cNvPr>
          <p:cNvGraphicFramePr>
            <a:graphicFrameLocks noGrp="1"/>
          </p:cNvGraphicFramePr>
          <p:nvPr>
            <p:extLst>
              <p:ext uri="{D42A27DB-BD31-4B8C-83A1-F6EECF244321}">
                <p14:modId xmlns:p14="http://schemas.microsoft.com/office/powerpoint/2010/main" val="1189821271"/>
              </p:ext>
            </p:extLst>
          </p:nvPr>
        </p:nvGraphicFramePr>
        <p:xfrm>
          <a:off x="838200" y="3373165"/>
          <a:ext cx="3621378" cy="1483360"/>
        </p:xfrm>
        <a:graphic>
          <a:graphicData uri="http://schemas.openxmlformats.org/drawingml/2006/table">
            <a:tbl>
              <a:tblPr firstRow="1" bandRow="1">
                <a:tableStyleId>{5C22544A-7EE6-4342-B048-85BDC9FD1C3A}</a:tableStyleId>
              </a:tblPr>
              <a:tblGrid>
                <a:gridCol w="1810689">
                  <a:extLst>
                    <a:ext uri="{9D8B030D-6E8A-4147-A177-3AD203B41FA5}">
                      <a16:colId xmlns:a16="http://schemas.microsoft.com/office/drawing/2014/main" val="4013518789"/>
                    </a:ext>
                  </a:extLst>
                </a:gridCol>
                <a:gridCol w="1810689">
                  <a:extLst>
                    <a:ext uri="{9D8B030D-6E8A-4147-A177-3AD203B41FA5}">
                      <a16:colId xmlns:a16="http://schemas.microsoft.com/office/drawing/2014/main" val="1521240165"/>
                    </a:ext>
                  </a:extLst>
                </a:gridCol>
              </a:tblGrid>
              <a:tr h="370840">
                <a:tc>
                  <a:txBody>
                    <a:bodyPr/>
                    <a:lstStyle/>
                    <a:p>
                      <a:pPr algn="ctr"/>
                      <a:r>
                        <a:rPr lang="en-US" altLang="zh-CN" dirty="0"/>
                        <a:t>Customer</a:t>
                      </a:r>
                      <a:endParaRPr lang="zh-CN" altLang="en-US" dirty="0"/>
                    </a:p>
                  </a:txBody>
                  <a:tcPr/>
                </a:tc>
                <a:tc>
                  <a:txBody>
                    <a:bodyPr/>
                    <a:lstStyle/>
                    <a:p>
                      <a:pPr algn="ctr"/>
                      <a:r>
                        <a:rPr lang="en-US" altLang="zh-CN" dirty="0"/>
                        <a:t>Order</a:t>
                      </a:r>
                      <a:endParaRPr lang="zh-CN" altLang="en-US" dirty="0"/>
                    </a:p>
                  </a:txBody>
                  <a:tcPr/>
                </a:tc>
                <a:extLst>
                  <a:ext uri="{0D108BD9-81ED-4DB2-BD59-A6C34878D82A}">
                    <a16:rowId xmlns:a16="http://schemas.microsoft.com/office/drawing/2014/main" val="624053836"/>
                  </a:ext>
                </a:extLst>
              </a:tr>
              <a:tr h="370840">
                <a:tc>
                  <a:txBody>
                    <a:bodyPr/>
                    <a:lstStyle/>
                    <a:p>
                      <a:pPr algn="ctr"/>
                      <a:r>
                        <a:rPr lang="en-US" altLang="zh-CN" b="1" dirty="0">
                          <a:solidFill>
                            <a:srgbClr val="C00000"/>
                          </a:solidFill>
                        </a:rPr>
                        <a:t>Alice</a:t>
                      </a:r>
                      <a:endParaRPr lang="zh-CN" altLang="en-US" b="1" dirty="0">
                        <a:solidFill>
                          <a:srgbClr val="C00000"/>
                        </a:solidFill>
                      </a:endParaRPr>
                    </a:p>
                  </a:txBody>
                  <a:tcPr/>
                </a:tc>
                <a:tc>
                  <a:txBody>
                    <a:bodyPr/>
                    <a:lstStyle/>
                    <a:p>
                      <a:pPr algn="ctr"/>
                      <a:r>
                        <a:rPr lang="en-US" altLang="zh-CN" b="1" dirty="0">
                          <a:solidFill>
                            <a:srgbClr val="C00000"/>
                          </a:solidFill>
                        </a:rPr>
                        <a:t>#1</a:t>
                      </a:r>
                      <a:endParaRPr lang="zh-CN" altLang="en-US" b="1" dirty="0">
                        <a:solidFill>
                          <a:srgbClr val="C00000"/>
                        </a:solidFill>
                      </a:endParaRPr>
                    </a:p>
                  </a:txBody>
                  <a:tcPr/>
                </a:tc>
                <a:extLst>
                  <a:ext uri="{0D108BD9-81ED-4DB2-BD59-A6C34878D82A}">
                    <a16:rowId xmlns:a16="http://schemas.microsoft.com/office/drawing/2014/main" val="173167904"/>
                  </a:ext>
                </a:extLst>
              </a:tr>
              <a:tr h="370840">
                <a:tc>
                  <a:txBody>
                    <a:bodyPr/>
                    <a:lstStyle/>
                    <a:p>
                      <a:pPr algn="ctr"/>
                      <a:r>
                        <a:rPr lang="en-US" altLang="zh-CN" b="1" dirty="0">
                          <a:solidFill>
                            <a:srgbClr val="C00000"/>
                          </a:solidFill>
                        </a:rPr>
                        <a:t>Alice</a:t>
                      </a:r>
                      <a:endParaRPr lang="zh-CN" altLang="en-US" b="1" dirty="0">
                        <a:solidFill>
                          <a:srgbClr val="C00000"/>
                        </a:solidFill>
                      </a:endParaRPr>
                    </a:p>
                  </a:txBody>
                  <a:tcPr/>
                </a:tc>
                <a:tc>
                  <a:txBody>
                    <a:bodyPr/>
                    <a:lstStyle/>
                    <a:p>
                      <a:pPr algn="ctr"/>
                      <a:r>
                        <a:rPr lang="en-US" altLang="zh-CN" b="1" dirty="0">
                          <a:solidFill>
                            <a:srgbClr val="C00000"/>
                          </a:solidFill>
                        </a:rPr>
                        <a:t>#2</a:t>
                      </a:r>
                      <a:endParaRPr lang="zh-CN" altLang="en-US" b="1" dirty="0">
                        <a:solidFill>
                          <a:srgbClr val="C00000"/>
                        </a:solidFill>
                      </a:endParaRPr>
                    </a:p>
                  </a:txBody>
                  <a:tcPr/>
                </a:tc>
                <a:extLst>
                  <a:ext uri="{0D108BD9-81ED-4DB2-BD59-A6C34878D82A}">
                    <a16:rowId xmlns:a16="http://schemas.microsoft.com/office/drawing/2014/main" val="2123031625"/>
                  </a:ext>
                </a:extLst>
              </a:tr>
              <a:tr h="370840">
                <a:tc>
                  <a:txBody>
                    <a:bodyPr/>
                    <a:lstStyle/>
                    <a:p>
                      <a:pPr algn="ctr"/>
                      <a:r>
                        <a:rPr lang="en-US" altLang="zh-CN" dirty="0"/>
                        <a:t>Bob</a:t>
                      </a:r>
                      <a:endParaRPr lang="zh-CN" altLang="en-US" dirty="0"/>
                    </a:p>
                  </a:txBody>
                  <a:tcPr/>
                </a:tc>
                <a:tc>
                  <a:txBody>
                    <a:bodyPr/>
                    <a:lstStyle/>
                    <a:p>
                      <a:pPr algn="ctr"/>
                      <a:r>
                        <a:rPr lang="en-US" altLang="zh-CN" dirty="0"/>
                        <a:t>#3</a:t>
                      </a:r>
                      <a:endParaRPr lang="zh-CN" altLang="en-US" dirty="0"/>
                    </a:p>
                  </a:txBody>
                  <a:tcPr/>
                </a:tc>
                <a:extLst>
                  <a:ext uri="{0D108BD9-81ED-4DB2-BD59-A6C34878D82A}">
                    <a16:rowId xmlns:a16="http://schemas.microsoft.com/office/drawing/2014/main" val="1302740630"/>
                  </a:ext>
                </a:extLst>
              </a:tr>
            </a:tbl>
          </a:graphicData>
        </a:graphic>
      </p:graphicFrame>
      <p:graphicFrame>
        <p:nvGraphicFramePr>
          <p:cNvPr id="17" name="表格 16">
            <a:extLst>
              <a:ext uri="{FF2B5EF4-FFF2-40B4-BE49-F238E27FC236}">
                <a16:creationId xmlns:a16="http://schemas.microsoft.com/office/drawing/2014/main" id="{825A9D50-3290-6FC8-009E-96E4283643CA}"/>
              </a:ext>
            </a:extLst>
          </p:cNvPr>
          <p:cNvGraphicFramePr>
            <a:graphicFrameLocks noGrp="1"/>
          </p:cNvGraphicFramePr>
          <p:nvPr>
            <p:extLst>
              <p:ext uri="{D42A27DB-BD31-4B8C-83A1-F6EECF244321}">
                <p14:modId xmlns:p14="http://schemas.microsoft.com/office/powerpoint/2010/main" val="1054569061"/>
              </p:ext>
            </p:extLst>
          </p:nvPr>
        </p:nvGraphicFramePr>
        <p:xfrm>
          <a:off x="7732422" y="3720630"/>
          <a:ext cx="3621378" cy="741680"/>
        </p:xfrm>
        <a:graphic>
          <a:graphicData uri="http://schemas.openxmlformats.org/drawingml/2006/table">
            <a:tbl>
              <a:tblPr firstRow="1" bandRow="1">
                <a:tableStyleId>{5C22544A-7EE6-4342-B048-85BDC9FD1C3A}</a:tableStyleId>
              </a:tblPr>
              <a:tblGrid>
                <a:gridCol w="1810689">
                  <a:extLst>
                    <a:ext uri="{9D8B030D-6E8A-4147-A177-3AD203B41FA5}">
                      <a16:colId xmlns:a16="http://schemas.microsoft.com/office/drawing/2014/main" val="4013518789"/>
                    </a:ext>
                  </a:extLst>
                </a:gridCol>
                <a:gridCol w="1810689">
                  <a:extLst>
                    <a:ext uri="{9D8B030D-6E8A-4147-A177-3AD203B41FA5}">
                      <a16:colId xmlns:a16="http://schemas.microsoft.com/office/drawing/2014/main" val="1521240165"/>
                    </a:ext>
                  </a:extLst>
                </a:gridCol>
              </a:tblGrid>
              <a:tr h="370840">
                <a:tc>
                  <a:txBody>
                    <a:bodyPr/>
                    <a:lstStyle/>
                    <a:p>
                      <a:pPr algn="ctr"/>
                      <a:r>
                        <a:rPr lang="en-US" altLang="zh-CN" dirty="0"/>
                        <a:t>User</a:t>
                      </a:r>
                      <a:endParaRPr lang="zh-CN" altLang="en-US" dirty="0"/>
                    </a:p>
                  </a:txBody>
                  <a:tcPr/>
                </a:tc>
                <a:tc>
                  <a:txBody>
                    <a:bodyPr/>
                    <a:lstStyle/>
                    <a:p>
                      <a:pPr algn="ctr"/>
                      <a:r>
                        <a:rPr lang="en-US" altLang="zh-CN" dirty="0"/>
                        <a:t>Order</a:t>
                      </a:r>
                      <a:endParaRPr lang="zh-CN" altLang="en-US" dirty="0"/>
                    </a:p>
                  </a:txBody>
                  <a:tcPr/>
                </a:tc>
                <a:extLst>
                  <a:ext uri="{0D108BD9-81ED-4DB2-BD59-A6C34878D82A}">
                    <a16:rowId xmlns:a16="http://schemas.microsoft.com/office/drawing/2014/main" val="624053836"/>
                  </a:ext>
                </a:extLst>
              </a:tr>
              <a:tr h="370840">
                <a:tc>
                  <a:txBody>
                    <a:bodyPr/>
                    <a:lstStyle/>
                    <a:p>
                      <a:pPr algn="ctr"/>
                      <a:r>
                        <a:rPr lang="en-US" altLang="zh-CN" dirty="0"/>
                        <a:t>Bob</a:t>
                      </a:r>
                      <a:endParaRPr lang="zh-CN" altLang="en-US" dirty="0"/>
                    </a:p>
                  </a:txBody>
                  <a:tcPr/>
                </a:tc>
                <a:tc>
                  <a:txBody>
                    <a:bodyPr/>
                    <a:lstStyle/>
                    <a:p>
                      <a:pPr algn="ctr"/>
                      <a:r>
                        <a:rPr lang="en-US" altLang="zh-CN" dirty="0"/>
                        <a:t>#3</a:t>
                      </a:r>
                      <a:endParaRPr lang="zh-CN" altLang="en-US" dirty="0"/>
                    </a:p>
                  </a:txBody>
                  <a:tcPr/>
                </a:tc>
                <a:extLst>
                  <a:ext uri="{0D108BD9-81ED-4DB2-BD59-A6C34878D82A}">
                    <a16:rowId xmlns:a16="http://schemas.microsoft.com/office/drawing/2014/main" val="1302740630"/>
                  </a:ext>
                </a:extLst>
              </a:tr>
            </a:tbl>
          </a:graphicData>
        </a:graphic>
      </p:graphicFrame>
      <p:sp>
        <p:nvSpPr>
          <p:cNvPr id="18" name="箭头: 左右 17">
            <a:extLst>
              <a:ext uri="{FF2B5EF4-FFF2-40B4-BE49-F238E27FC236}">
                <a16:creationId xmlns:a16="http://schemas.microsoft.com/office/drawing/2014/main" id="{C0EC07A6-A1F3-AF3F-26F0-AC26CD798350}"/>
              </a:ext>
            </a:extLst>
          </p:cNvPr>
          <p:cNvSpPr/>
          <p:nvPr/>
        </p:nvSpPr>
        <p:spPr>
          <a:xfrm>
            <a:off x="4459578" y="3885853"/>
            <a:ext cx="3272844" cy="715113"/>
          </a:xfrm>
          <a:prstGeom prst="leftRightArrow">
            <a:avLst>
              <a:gd name="adj1" fmla="val 45896"/>
              <a:gd name="adj2" fmla="val 52479"/>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User-level DP w/o self-join</a:t>
            </a:r>
            <a:endParaRPr lang="zh-CN" altLang="en-US" dirty="0"/>
          </a:p>
        </p:txBody>
      </p:sp>
      <p:graphicFrame>
        <p:nvGraphicFramePr>
          <p:cNvPr id="19" name="表格 18">
            <a:extLst>
              <a:ext uri="{FF2B5EF4-FFF2-40B4-BE49-F238E27FC236}">
                <a16:creationId xmlns:a16="http://schemas.microsoft.com/office/drawing/2014/main" id="{82B6ADBD-0B97-7A76-84DC-E15480DDF1C7}"/>
              </a:ext>
            </a:extLst>
          </p:cNvPr>
          <p:cNvGraphicFramePr>
            <a:graphicFrameLocks noGrp="1"/>
          </p:cNvGraphicFramePr>
          <p:nvPr>
            <p:extLst>
              <p:ext uri="{D42A27DB-BD31-4B8C-83A1-F6EECF244321}">
                <p14:modId xmlns:p14="http://schemas.microsoft.com/office/powerpoint/2010/main" val="1768990940"/>
              </p:ext>
            </p:extLst>
          </p:nvPr>
        </p:nvGraphicFramePr>
        <p:xfrm>
          <a:off x="838200" y="5031716"/>
          <a:ext cx="3621378" cy="1478280"/>
        </p:xfrm>
        <a:graphic>
          <a:graphicData uri="http://schemas.openxmlformats.org/drawingml/2006/table">
            <a:tbl>
              <a:tblPr firstRow="1" bandRow="1">
                <a:tableStyleId>{5C22544A-7EE6-4342-B048-85BDC9FD1C3A}</a:tableStyleId>
              </a:tblPr>
              <a:tblGrid>
                <a:gridCol w="1207126">
                  <a:extLst>
                    <a:ext uri="{9D8B030D-6E8A-4147-A177-3AD203B41FA5}">
                      <a16:colId xmlns:a16="http://schemas.microsoft.com/office/drawing/2014/main" val="4013518789"/>
                    </a:ext>
                  </a:extLst>
                </a:gridCol>
                <a:gridCol w="1207126">
                  <a:extLst>
                    <a:ext uri="{9D8B030D-6E8A-4147-A177-3AD203B41FA5}">
                      <a16:colId xmlns:a16="http://schemas.microsoft.com/office/drawing/2014/main" val="1521240165"/>
                    </a:ext>
                  </a:extLst>
                </a:gridCol>
                <a:gridCol w="1207126">
                  <a:extLst>
                    <a:ext uri="{9D8B030D-6E8A-4147-A177-3AD203B41FA5}">
                      <a16:colId xmlns:a16="http://schemas.microsoft.com/office/drawing/2014/main" val="2898113055"/>
                    </a:ext>
                  </a:extLst>
                </a:gridCol>
              </a:tblGrid>
              <a:tr h="370840">
                <a:tc>
                  <a:txBody>
                    <a:bodyPr/>
                    <a:lstStyle/>
                    <a:p>
                      <a:pPr algn="ctr"/>
                      <a:r>
                        <a:rPr lang="en-US" altLang="zh-CN" dirty="0"/>
                        <a:t>Customer</a:t>
                      </a:r>
                      <a:endParaRPr lang="zh-CN" altLang="en-US" dirty="0"/>
                    </a:p>
                  </a:txBody>
                  <a:tcPr/>
                </a:tc>
                <a:tc>
                  <a:txBody>
                    <a:bodyPr/>
                    <a:lstStyle/>
                    <a:p>
                      <a:pPr algn="ctr"/>
                      <a:r>
                        <a:rPr lang="en-US" altLang="zh-CN" dirty="0"/>
                        <a:t>Order</a:t>
                      </a:r>
                      <a:endParaRPr lang="zh-CN" altLang="en-US" dirty="0"/>
                    </a:p>
                  </a:txBody>
                  <a:tcPr/>
                </a:tc>
                <a:tc>
                  <a:txBody>
                    <a:bodyPr/>
                    <a:lstStyle/>
                    <a:p>
                      <a:pPr algn="ctr"/>
                      <a:r>
                        <a:rPr lang="en-US" altLang="zh-CN" dirty="0"/>
                        <a:t>Supplier</a:t>
                      </a:r>
                      <a:endParaRPr lang="zh-CN" altLang="en-US" dirty="0"/>
                    </a:p>
                  </a:txBody>
                  <a:tcPr/>
                </a:tc>
                <a:extLst>
                  <a:ext uri="{0D108BD9-81ED-4DB2-BD59-A6C34878D82A}">
                    <a16:rowId xmlns:a16="http://schemas.microsoft.com/office/drawing/2014/main" val="624053836"/>
                  </a:ext>
                </a:extLst>
              </a:tr>
              <a:tr h="370840">
                <a:tc>
                  <a:txBody>
                    <a:bodyPr/>
                    <a:lstStyle/>
                    <a:p>
                      <a:pPr marL="0" algn="ctr" defTabSz="914400" rtl="0" eaLnBrk="1" latinLnBrk="0" hangingPunct="1"/>
                      <a:r>
                        <a:rPr lang="en-US" altLang="zh-CN" sz="1800" kern="1200" dirty="0">
                          <a:solidFill>
                            <a:schemeClr val="dk1"/>
                          </a:solidFill>
                          <a:latin typeface="+mn-lt"/>
                          <a:ea typeface="+mn-ea"/>
                          <a:cs typeface="+mn-cs"/>
                        </a:rPr>
                        <a:t>Alice</a:t>
                      </a:r>
                      <a:endParaRPr lang="zh-CN" altLang="en-US" sz="1800" kern="1200" dirty="0">
                        <a:solidFill>
                          <a:schemeClr val="dk1"/>
                        </a:solidFill>
                        <a:latin typeface="+mn-lt"/>
                        <a:ea typeface="+mn-ea"/>
                        <a:cs typeface="+mn-cs"/>
                      </a:endParaRPr>
                    </a:p>
                  </a:txBody>
                  <a:tcPr/>
                </a:tc>
                <a:tc>
                  <a:txBody>
                    <a:bodyPr/>
                    <a:lstStyle/>
                    <a:p>
                      <a:pPr marL="0" algn="ctr" defTabSz="914400" rtl="0" eaLnBrk="1" latinLnBrk="0" hangingPunct="1"/>
                      <a:r>
                        <a:rPr lang="en-US" altLang="zh-CN" sz="1800" b="1" kern="1200" dirty="0">
                          <a:solidFill>
                            <a:srgbClr val="C00000"/>
                          </a:solidFill>
                          <a:latin typeface="+mn-lt"/>
                          <a:ea typeface="+mn-ea"/>
                          <a:cs typeface="+mn-cs"/>
                        </a:rPr>
                        <a:t>#1</a:t>
                      </a:r>
                      <a:endParaRPr lang="zh-CN" altLang="en-US" sz="1800" b="1" kern="1200" dirty="0">
                        <a:solidFill>
                          <a:srgbClr val="C00000"/>
                        </a:solidFill>
                        <a:latin typeface="+mn-lt"/>
                        <a:ea typeface="+mn-ea"/>
                        <a:cs typeface="+mn-cs"/>
                      </a:endParaRPr>
                    </a:p>
                  </a:txBody>
                  <a:tcPr/>
                </a:tc>
                <a:tc>
                  <a:txBody>
                    <a:bodyPr/>
                    <a:lstStyle/>
                    <a:p>
                      <a:pPr marL="0" algn="ctr" defTabSz="914400" rtl="0" eaLnBrk="1" latinLnBrk="0" hangingPunct="1"/>
                      <a:r>
                        <a:rPr lang="en-US" altLang="zh-CN" sz="1800" b="1" kern="1200" dirty="0">
                          <a:solidFill>
                            <a:srgbClr val="C00000"/>
                          </a:solidFill>
                          <a:latin typeface="+mn-lt"/>
                          <a:ea typeface="+mn-ea"/>
                          <a:cs typeface="+mn-cs"/>
                        </a:rPr>
                        <a:t>Bob</a:t>
                      </a:r>
                      <a:endParaRPr lang="zh-CN" altLang="en-US" sz="1800" b="1" kern="1200" dirty="0">
                        <a:solidFill>
                          <a:srgbClr val="C00000"/>
                        </a:solidFill>
                        <a:latin typeface="+mn-lt"/>
                        <a:ea typeface="+mn-ea"/>
                        <a:cs typeface="+mn-cs"/>
                      </a:endParaRPr>
                    </a:p>
                  </a:txBody>
                  <a:tcPr/>
                </a:tc>
                <a:extLst>
                  <a:ext uri="{0D108BD9-81ED-4DB2-BD59-A6C34878D82A}">
                    <a16:rowId xmlns:a16="http://schemas.microsoft.com/office/drawing/2014/main" val="173167904"/>
                  </a:ext>
                </a:extLst>
              </a:tr>
              <a:tr h="370840">
                <a:tc>
                  <a:txBody>
                    <a:bodyPr/>
                    <a:lstStyle/>
                    <a:p>
                      <a:pPr marL="0" algn="ctr" defTabSz="914400" rtl="0" eaLnBrk="1" latinLnBrk="0" hangingPunct="1"/>
                      <a:r>
                        <a:rPr lang="en-US" altLang="zh-CN" sz="1800" kern="1200" dirty="0">
                          <a:solidFill>
                            <a:schemeClr val="dk1"/>
                          </a:solidFill>
                          <a:latin typeface="+mn-lt"/>
                          <a:ea typeface="+mn-ea"/>
                          <a:cs typeface="+mn-cs"/>
                        </a:rPr>
                        <a:t>Alice</a:t>
                      </a:r>
                      <a:endParaRPr lang="zh-CN" altLang="en-US" sz="1800" kern="1200" dirty="0">
                        <a:solidFill>
                          <a:schemeClr val="dk1"/>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dk1"/>
                          </a:solidFill>
                          <a:latin typeface="+mn-lt"/>
                          <a:ea typeface="+mn-ea"/>
                          <a:cs typeface="+mn-cs"/>
                        </a:rPr>
                        <a:t>#2</a:t>
                      </a:r>
                      <a:endParaRPr lang="zh-CN" altLang="en-US" sz="1800" kern="1200" dirty="0">
                        <a:solidFill>
                          <a:schemeClr val="dk1"/>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dk1"/>
                          </a:solidFill>
                          <a:latin typeface="+mn-lt"/>
                          <a:ea typeface="+mn-ea"/>
                          <a:cs typeface="+mn-cs"/>
                        </a:rPr>
                        <a:t>Cathy</a:t>
                      </a:r>
                      <a:endParaRPr lang="zh-CN" altLang="en-US" sz="1800" kern="1200" dirty="0">
                        <a:solidFill>
                          <a:schemeClr val="dk1"/>
                        </a:solidFill>
                        <a:latin typeface="+mn-lt"/>
                        <a:ea typeface="+mn-ea"/>
                        <a:cs typeface="+mn-cs"/>
                      </a:endParaRPr>
                    </a:p>
                  </a:txBody>
                  <a:tcPr/>
                </a:tc>
                <a:extLst>
                  <a:ext uri="{0D108BD9-81ED-4DB2-BD59-A6C34878D82A}">
                    <a16:rowId xmlns:a16="http://schemas.microsoft.com/office/drawing/2014/main" val="2123031625"/>
                  </a:ext>
                </a:extLst>
              </a:tr>
              <a:tr h="0">
                <a:tc>
                  <a:txBody>
                    <a:bodyPr/>
                    <a:lstStyle/>
                    <a:p>
                      <a:pPr marL="0" algn="ctr" defTabSz="914400" rtl="0" eaLnBrk="1" latinLnBrk="0" hangingPunct="1"/>
                      <a:r>
                        <a:rPr lang="en-US" altLang="zh-CN" sz="1800" b="1" kern="1200" dirty="0">
                          <a:solidFill>
                            <a:srgbClr val="C00000"/>
                          </a:solidFill>
                          <a:latin typeface="+mn-lt"/>
                          <a:ea typeface="+mn-ea"/>
                          <a:cs typeface="+mn-cs"/>
                        </a:rPr>
                        <a:t>Bob</a:t>
                      </a:r>
                      <a:endParaRPr lang="zh-CN" altLang="en-US" sz="1800" b="1" kern="1200" dirty="0">
                        <a:solidFill>
                          <a:srgbClr val="C00000"/>
                        </a:solidFill>
                        <a:latin typeface="+mn-lt"/>
                        <a:ea typeface="+mn-ea"/>
                        <a:cs typeface="+mn-cs"/>
                      </a:endParaRPr>
                    </a:p>
                  </a:txBody>
                  <a:tcPr/>
                </a:tc>
                <a:tc>
                  <a:txBody>
                    <a:bodyPr/>
                    <a:lstStyle/>
                    <a:p>
                      <a:pPr marL="0" algn="ctr" defTabSz="914400" rtl="0" eaLnBrk="1" latinLnBrk="0" hangingPunct="1"/>
                      <a:r>
                        <a:rPr lang="en-US" altLang="zh-CN" sz="1800" b="1" kern="1200" dirty="0">
                          <a:solidFill>
                            <a:srgbClr val="C00000"/>
                          </a:solidFill>
                          <a:latin typeface="+mn-lt"/>
                          <a:ea typeface="+mn-ea"/>
                          <a:cs typeface="+mn-cs"/>
                        </a:rPr>
                        <a:t>#3</a:t>
                      </a:r>
                      <a:endParaRPr lang="zh-CN" altLang="en-US" sz="1800" b="1" kern="1200" dirty="0">
                        <a:solidFill>
                          <a:srgbClr val="C00000"/>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dk1"/>
                          </a:solidFill>
                          <a:latin typeface="+mn-lt"/>
                          <a:ea typeface="+mn-ea"/>
                          <a:cs typeface="+mn-cs"/>
                        </a:rPr>
                        <a:t>Cathy</a:t>
                      </a:r>
                      <a:endParaRPr lang="zh-CN" altLang="en-US" sz="1800" kern="1200" dirty="0">
                        <a:solidFill>
                          <a:schemeClr val="dk1"/>
                        </a:solidFill>
                        <a:latin typeface="+mn-lt"/>
                        <a:ea typeface="+mn-ea"/>
                        <a:cs typeface="+mn-cs"/>
                      </a:endParaRPr>
                    </a:p>
                  </a:txBody>
                  <a:tcPr/>
                </a:tc>
                <a:extLst>
                  <a:ext uri="{0D108BD9-81ED-4DB2-BD59-A6C34878D82A}">
                    <a16:rowId xmlns:a16="http://schemas.microsoft.com/office/drawing/2014/main" val="1302740630"/>
                  </a:ext>
                </a:extLst>
              </a:tr>
            </a:tbl>
          </a:graphicData>
        </a:graphic>
      </p:graphicFrame>
      <p:sp>
        <p:nvSpPr>
          <p:cNvPr id="21" name="箭头: 左右 20">
            <a:extLst>
              <a:ext uri="{FF2B5EF4-FFF2-40B4-BE49-F238E27FC236}">
                <a16:creationId xmlns:a16="http://schemas.microsoft.com/office/drawing/2014/main" id="{0E17C58F-EE93-23B5-AC2E-C72C0C07A1DE}"/>
              </a:ext>
            </a:extLst>
          </p:cNvPr>
          <p:cNvSpPr/>
          <p:nvPr/>
        </p:nvSpPr>
        <p:spPr>
          <a:xfrm>
            <a:off x="4459578" y="5544404"/>
            <a:ext cx="3272844" cy="715113"/>
          </a:xfrm>
          <a:prstGeom prst="leftRightArrow">
            <a:avLst>
              <a:gd name="adj1" fmla="val 45896"/>
              <a:gd name="adj2" fmla="val 52479"/>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altLang="zh-CN" dirty="0"/>
              <a:t>User-level DP w/ self-join</a:t>
            </a:r>
            <a:endParaRPr lang="zh-CN" altLang="en-US" dirty="0"/>
          </a:p>
        </p:txBody>
      </p:sp>
      <p:graphicFrame>
        <p:nvGraphicFramePr>
          <p:cNvPr id="22" name="表格 21">
            <a:extLst>
              <a:ext uri="{FF2B5EF4-FFF2-40B4-BE49-F238E27FC236}">
                <a16:creationId xmlns:a16="http://schemas.microsoft.com/office/drawing/2014/main" id="{127DD7D6-028E-6AAD-092A-F60CA75AE561}"/>
              </a:ext>
            </a:extLst>
          </p:cNvPr>
          <p:cNvGraphicFramePr>
            <a:graphicFrameLocks noGrp="1"/>
          </p:cNvGraphicFramePr>
          <p:nvPr>
            <p:extLst>
              <p:ext uri="{D42A27DB-BD31-4B8C-83A1-F6EECF244321}">
                <p14:modId xmlns:p14="http://schemas.microsoft.com/office/powerpoint/2010/main" val="3298337485"/>
              </p:ext>
            </p:extLst>
          </p:nvPr>
        </p:nvGraphicFramePr>
        <p:xfrm>
          <a:off x="7732422" y="5500475"/>
          <a:ext cx="3621378" cy="741680"/>
        </p:xfrm>
        <a:graphic>
          <a:graphicData uri="http://schemas.openxmlformats.org/drawingml/2006/table">
            <a:tbl>
              <a:tblPr firstRow="1" bandRow="1">
                <a:tableStyleId>{5C22544A-7EE6-4342-B048-85BDC9FD1C3A}</a:tableStyleId>
              </a:tblPr>
              <a:tblGrid>
                <a:gridCol w="1207126">
                  <a:extLst>
                    <a:ext uri="{9D8B030D-6E8A-4147-A177-3AD203B41FA5}">
                      <a16:colId xmlns:a16="http://schemas.microsoft.com/office/drawing/2014/main" val="4013518789"/>
                    </a:ext>
                  </a:extLst>
                </a:gridCol>
                <a:gridCol w="1207126">
                  <a:extLst>
                    <a:ext uri="{9D8B030D-6E8A-4147-A177-3AD203B41FA5}">
                      <a16:colId xmlns:a16="http://schemas.microsoft.com/office/drawing/2014/main" val="1521240165"/>
                    </a:ext>
                  </a:extLst>
                </a:gridCol>
                <a:gridCol w="1207126">
                  <a:extLst>
                    <a:ext uri="{9D8B030D-6E8A-4147-A177-3AD203B41FA5}">
                      <a16:colId xmlns:a16="http://schemas.microsoft.com/office/drawing/2014/main" val="2898113055"/>
                    </a:ext>
                  </a:extLst>
                </a:gridCol>
              </a:tblGrid>
              <a:tr h="370840">
                <a:tc>
                  <a:txBody>
                    <a:bodyPr/>
                    <a:lstStyle/>
                    <a:p>
                      <a:pPr algn="ctr"/>
                      <a:r>
                        <a:rPr lang="en-US" altLang="zh-CN" dirty="0"/>
                        <a:t>Customer</a:t>
                      </a:r>
                      <a:endParaRPr lang="zh-CN" altLang="en-US" dirty="0"/>
                    </a:p>
                  </a:txBody>
                  <a:tcPr/>
                </a:tc>
                <a:tc>
                  <a:txBody>
                    <a:bodyPr/>
                    <a:lstStyle/>
                    <a:p>
                      <a:pPr algn="ctr"/>
                      <a:r>
                        <a:rPr lang="en-US" altLang="zh-CN" dirty="0"/>
                        <a:t>Order</a:t>
                      </a:r>
                      <a:endParaRPr lang="zh-CN" altLang="en-US" dirty="0"/>
                    </a:p>
                  </a:txBody>
                  <a:tcPr/>
                </a:tc>
                <a:tc>
                  <a:txBody>
                    <a:bodyPr/>
                    <a:lstStyle/>
                    <a:p>
                      <a:pPr algn="ctr"/>
                      <a:r>
                        <a:rPr lang="en-US" altLang="zh-CN" dirty="0"/>
                        <a:t>Supplier</a:t>
                      </a:r>
                      <a:endParaRPr lang="zh-CN" altLang="en-US" dirty="0"/>
                    </a:p>
                  </a:txBody>
                  <a:tcPr/>
                </a:tc>
                <a:extLst>
                  <a:ext uri="{0D108BD9-81ED-4DB2-BD59-A6C34878D82A}">
                    <a16:rowId xmlns:a16="http://schemas.microsoft.com/office/drawing/2014/main" val="624053836"/>
                  </a:ext>
                </a:extLst>
              </a:tr>
              <a:tr h="370840">
                <a:tc>
                  <a:txBody>
                    <a:bodyPr/>
                    <a:lstStyle/>
                    <a:p>
                      <a:pPr marL="0" algn="ctr" defTabSz="914400" rtl="0" eaLnBrk="1" latinLnBrk="0" hangingPunct="1"/>
                      <a:r>
                        <a:rPr lang="en-US" altLang="zh-CN" sz="1800" kern="1200" dirty="0">
                          <a:solidFill>
                            <a:schemeClr val="dk1"/>
                          </a:solidFill>
                          <a:latin typeface="+mn-lt"/>
                          <a:ea typeface="+mn-ea"/>
                          <a:cs typeface="+mn-cs"/>
                        </a:rPr>
                        <a:t>Alice</a:t>
                      </a:r>
                      <a:endParaRPr lang="zh-CN" altLang="en-US" sz="1800" kern="1200" dirty="0">
                        <a:solidFill>
                          <a:schemeClr val="dk1"/>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dk1"/>
                          </a:solidFill>
                          <a:latin typeface="+mn-lt"/>
                          <a:ea typeface="+mn-ea"/>
                          <a:cs typeface="+mn-cs"/>
                        </a:rPr>
                        <a:t>#2</a:t>
                      </a:r>
                      <a:endParaRPr lang="zh-CN" altLang="en-US" sz="1800" kern="1200" dirty="0">
                        <a:solidFill>
                          <a:schemeClr val="dk1"/>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dk1"/>
                          </a:solidFill>
                          <a:latin typeface="+mn-lt"/>
                          <a:ea typeface="+mn-ea"/>
                          <a:cs typeface="+mn-cs"/>
                        </a:rPr>
                        <a:t>Cathy</a:t>
                      </a:r>
                      <a:endParaRPr lang="zh-CN" altLang="en-US" sz="1800" kern="1200" dirty="0">
                        <a:solidFill>
                          <a:schemeClr val="dk1"/>
                        </a:solidFill>
                        <a:latin typeface="+mn-lt"/>
                        <a:ea typeface="+mn-ea"/>
                        <a:cs typeface="+mn-cs"/>
                      </a:endParaRPr>
                    </a:p>
                  </a:txBody>
                  <a:tcPr/>
                </a:tc>
                <a:extLst>
                  <a:ext uri="{0D108BD9-81ED-4DB2-BD59-A6C34878D82A}">
                    <a16:rowId xmlns:a16="http://schemas.microsoft.com/office/drawing/2014/main" val="2123031625"/>
                  </a:ext>
                </a:extLst>
              </a:tr>
            </a:tbl>
          </a:graphicData>
        </a:graphic>
      </p:graphicFrame>
      <p:sp>
        <p:nvSpPr>
          <p:cNvPr id="23" name="文本框 22">
            <a:extLst>
              <a:ext uri="{FF2B5EF4-FFF2-40B4-BE49-F238E27FC236}">
                <a16:creationId xmlns:a16="http://schemas.microsoft.com/office/drawing/2014/main" id="{A9481535-DCF6-D61C-03A0-66BF9E4F6FD5}"/>
              </a:ext>
            </a:extLst>
          </p:cNvPr>
          <p:cNvSpPr txBox="1"/>
          <p:nvPr/>
        </p:nvSpPr>
        <p:spPr>
          <a:xfrm>
            <a:off x="1999512" y="1422601"/>
            <a:ext cx="1298753" cy="523220"/>
          </a:xfrm>
          <a:prstGeom prst="rect">
            <a:avLst/>
          </a:prstGeom>
          <a:noFill/>
        </p:spPr>
        <p:txBody>
          <a:bodyPr wrap="none" rtlCol="0">
            <a:spAutoFit/>
          </a:bodyPr>
          <a:lstStyle/>
          <a:p>
            <a:r>
              <a:rPr lang="en-US" altLang="zh-CN" sz="2800" dirty="0">
                <a:latin typeface="+mj-lt"/>
              </a:rPr>
              <a:t>Dataset</a:t>
            </a:r>
            <a:endParaRPr lang="zh-CN" altLang="en-US" sz="2800" dirty="0">
              <a:latin typeface="+mj-lt"/>
            </a:endParaRPr>
          </a:p>
        </p:txBody>
      </p:sp>
      <p:sp>
        <p:nvSpPr>
          <p:cNvPr id="24" name="文本框 23">
            <a:extLst>
              <a:ext uri="{FF2B5EF4-FFF2-40B4-BE49-F238E27FC236}">
                <a16:creationId xmlns:a16="http://schemas.microsoft.com/office/drawing/2014/main" id="{8D36026C-BB2C-AFE4-0EC6-B879CAF2A171}"/>
              </a:ext>
            </a:extLst>
          </p:cNvPr>
          <p:cNvSpPr txBox="1"/>
          <p:nvPr/>
        </p:nvSpPr>
        <p:spPr>
          <a:xfrm>
            <a:off x="7732423" y="1424198"/>
            <a:ext cx="3621378" cy="523220"/>
          </a:xfrm>
          <a:prstGeom prst="rect">
            <a:avLst/>
          </a:prstGeom>
          <a:noFill/>
        </p:spPr>
        <p:txBody>
          <a:bodyPr wrap="square" rtlCol="0">
            <a:spAutoFit/>
          </a:bodyPr>
          <a:lstStyle/>
          <a:p>
            <a:pPr algn="ctr"/>
            <a:r>
              <a:rPr lang="en-US" altLang="zh-CN" sz="2800" dirty="0">
                <a:latin typeface="+mj-lt"/>
              </a:rPr>
              <a:t>Neighboring Dataset</a:t>
            </a:r>
            <a:endParaRPr lang="zh-CN" altLang="en-US" sz="2800" dirty="0">
              <a:latin typeface="+mj-lt"/>
            </a:endParaRPr>
          </a:p>
        </p:txBody>
      </p:sp>
      <p:sp>
        <p:nvSpPr>
          <p:cNvPr id="25" name="文本框 24">
            <a:extLst>
              <a:ext uri="{FF2B5EF4-FFF2-40B4-BE49-F238E27FC236}">
                <a16:creationId xmlns:a16="http://schemas.microsoft.com/office/drawing/2014/main" id="{07463540-108D-B8BB-D34F-12F027C4B622}"/>
              </a:ext>
            </a:extLst>
          </p:cNvPr>
          <p:cNvSpPr txBox="1"/>
          <p:nvPr/>
        </p:nvSpPr>
        <p:spPr>
          <a:xfrm>
            <a:off x="4944306" y="1422601"/>
            <a:ext cx="2303387" cy="523220"/>
          </a:xfrm>
          <a:prstGeom prst="rect">
            <a:avLst/>
          </a:prstGeom>
          <a:noFill/>
        </p:spPr>
        <p:txBody>
          <a:bodyPr wrap="none" rtlCol="0">
            <a:spAutoFit/>
          </a:bodyPr>
          <a:lstStyle/>
          <a:p>
            <a:r>
              <a:rPr lang="en-US" altLang="zh-CN" sz="2800" dirty="0">
                <a:latin typeface="+mj-lt"/>
              </a:rPr>
              <a:t>Privacy Notion</a:t>
            </a:r>
            <a:endParaRPr lang="zh-CN" altLang="en-US" sz="2800" dirty="0">
              <a:latin typeface="+mj-lt"/>
            </a:endParaRPr>
          </a:p>
        </p:txBody>
      </p:sp>
    </p:spTree>
    <p:extLst>
      <p:ext uri="{BB962C8B-B14F-4D97-AF65-F5344CB8AC3E}">
        <p14:creationId xmlns:p14="http://schemas.microsoft.com/office/powerpoint/2010/main" val="935028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97878D-67D5-D31B-3CE5-E820DA201232}"/>
              </a:ext>
            </a:extLst>
          </p:cNvPr>
          <p:cNvSpPr>
            <a:spLocks noGrp="1"/>
          </p:cNvSpPr>
          <p:nvPr>
            <p:ph type="title"/>
          </p:nvPr>
        </p:nvSpPr>
        <p:spPr/>
        <p:txBody>
          <a:bodyPr/>
          <a:lstStyle/>
          <a:p>
            <a:r>
              <a:rPr lang="en-US" altLang="zh-CN" dirty="0"/>
              <a:t>Select-Join-Aggregate (SJA) Queries</a:t>
            </a:r>
            <a:endParaRPr lang="zh-CN" altLang="en-US" dirty="0"/>
          </a:p>
        </p:txBody>
      </p:sp>
      <p:sp>
        <p:nvSpPr>
          <p:cNvPr id="3" name="内容占位符 2">
            <a:extLst>
              <a:ext uri="{FF2B5EF4-FFF2-40B4-BE49-F238E27FC236}">
                <a16:creationId xmlns:a16="http://schemas.microsoft.com/office/drawing/2014/main" id="{DFCE5D08-CC7E-4DCA-4A66-E452E476A4A3}"/>
              </a:ext>
            </a:extLst>
          </p:cNvPr>
          <p:cNvSpPr>
            <a:spLocks noGrp="1"/>
          </p:cNvSpPr>
          <p:nvPr>
            <p:ph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C5BB58B-EF5A-AF27-0DCD-AE39AB9A55C1}"/>
              </a:ext>
            </a:extLst>
          </p:cNvPr>
          <p:cNvSpPr>
            <a:spLocks noGrp="1"/>
          </p:cNvSpPr>
          <p:nvPr>
            <p:ph type="sldNum" sz="quarter" idx="12"/>
          </p:nvPr>
        </p:nvSpPr>
        <p:spPr/>
        <p:txBody>
          <a:bodyPr/>
          <a:lstStyle/>
          <a:p>
            <a:fld id="{B0AC98E8-77B5-4E71-A497-A3DCE01E87E0}" type="slidenum">
              <a:rPr lang="zh-CN" altLang="en-US" smtClean="0"/>
              <a:t>3</a:t>
            </a:fld>
            <a:endParaRPr lang="zh-CN" altLang="en-US" dirty="0"/>
          </a:p>
        </p:txBody>
      </p:sp>
      <p:sp>
        <p:nvSpPr>
          <p:cNvPr id="5" name="矩形: 圆角 4">
            <a:extLst>
              <a:ext uri="{FF2B5EF4-FFF2-40B4-BE49-F238E27FC236}">
                <a16:creationId xmlns:a16="http://schemas.microsoft.com/office/drawing/2014/main" id="{E6AAA04F-6ADB-800A-3B09-6B99A01DA982}"/>
              </a:ext>
            </a:extLst>
          </p:cNvPr>
          <p:cNvSpPr/>
          <p:nvPr/>
        </p:nvSpPr>
        <p:spPr>
          <a:xfrm>
            <a:off x="1388713" y="1757267"/>
            <a:ext cx="9300475" cy="1703294"/>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 name="文本框 5">
            <a:extLst>
              <a:ext uri="{FF2B5EF4-FFF2-40B4-BE49-F238E27FC236}">
                <a16:creationId xmlns:a16="http://schemas.microsoft.com/office/drawing/2014/main" id="{B4BA6F1E-1C7E-B5CA-8D31-3AB9F260A6F3}"/>
              </a:ext>
            </a:extLst>
          </p:cNvPr>
          <p:cNvSpPr txBox="1"/>
          <p:nvPr/>
        </p:nvSpPr>
        <p:spPr>
          <a:xfrm>
            <a:off x="1877698" y="1841978"/>
            <a:ext cx="4361737" cy="1477328"/>
          </a:xfrm>
          <a:prstGeom prst="rect">
            <a:avLst/>
          </a:prstGeom>
          <a:noFill/>
        </p:spPr>
        <p:txBody>
          <a:bodyPr wrap="square" rtlCol="0">
            <a:spAutoFit/>
          </a:bodyPr>
          <a:lstStyle/>
          <a:p>
            <a:r>
              <a:rPr lang="en-US" altLang="zh-CN" dirty="0">
                <a:solidFill>
                  <a:srgbClr val="C00000"/>
                </a:solidFill>
              </a:rPr>
              <a:t>SELECT</a:t>
            </a:r>
            <a:r>
              <a:rPr lang="en-US" altLang="zh-CN" dirty="0"/>
              <a:t> </a:t>
            </a:r>
            <a:r>
              <a:rPr lang="en-US" altLang="zh-CN" dirty="0">
                <a:solidFill>
                  <a:schemeClr val="tx2"/>
                </a:solidFill>
              </a:rPr>
              <a:t>count</a:t>
            </a:r>
            <a:r>
              <a:rPr lang="en-US" altLang="zh-CN" dirty="0"/>
              <a:t>(*)</a:t>
            </a:r>
          </a:p>
          <a:p>
            <a:r>
              <a:rPr lang="en-US" altLang="zh-CN" dirty="0">
                <a:solidFill>
                  <a:srgbClr val="C00000"/>
                </a:solidFill>
              </a:rPr>
              <a:t>FROM</a:t>
            </a:r>
            <a:r>
              <a:rPr lang="en-US" altLang="zh-CN" dirty="0"/>
              <a:t> edge as e1, edge as e2, edge as e3</a:t>
            </a:r>
          </a:p>
          <a:p>
            <a:r>
              <a:rPr lang="en-US" altLang="zh-CN" dirty="0">
                <a:solidFill>
                  <a:srgbClr val="C00000"/>
                </a:solidFill>
              </a:rPr>
              <a:t>WHERE</a:t>
            </a:r>
            <a:r>
              <a:rPr lang="zh-CN" altLang="en-US" dirty="0"/>
              <a:t> </a:t>
            </a:r>
            <a:r>
              <a:rPr lang="en-US" altLang="zh-CN" dirty="0"/>
              <a:t>e1.dst = e2.src AND e2.dst = e3.src</a:t>
            </a:r>
          </a:p>
          <a:p>
            <a:r>
              <a:rPr lang="en-US" altLang="zh-CN" dirty="0"/>
              <a:t>      AND e3.dst = e1.src AND e1.src &lt; e2.src</a:t>
            </a:r>
          </a:p>
          <a:p>
            <a:r>
              <a:rPr lang="en-US" altLang="zh-CN" dirty="0"/>
              <a:t>      AND e2.src &lt; e3.src</a:t>
            </a:r>
          </a:p>
        </p:txBody>
      </p:sp>
      <p:pic>
        <p:nvPicPr>
          <p:cNvPr id="8" name="图片 7">
            <a:extLst>
              <a:ext uri="{FF2B5EF4-FFF2-40B4-BE49-F238E27FC236}">
                <a16:creationId xmlns:a16="http://schemas.microsoft.com/office/drawing/2014/main" id="{40283F7A-D5CC-3970-9AE2-F28B6310D46D}"/>
              </a:ext>
            </a:extLst>
          </p:cNvPr>
          <p:cNvPicPr>
            <a:picLocks noChangeAspect="1"/>
          </p:cNvPicPr>
          <p:nvPr/>
        </p:nvPicPr>
        <p:blipFill>
          <a:blip r:embed="rId3"/>
          <a:stretch>
            <a:fillRect/>
          </a:stretch>
        </p:blipFill>
        <p:spPr>
          <a:xfrm>
            <a:off x="6928902" y="1926523"/>
            <a:ext cx="2749303" cy="1308237"/>
          </a:xfrm>
          <a:prstGeom prst="rect">
            <a:avLst/>
          </a:prstGeom>
        </p:spPr>
      </p:pic>
      <mc:AlternateContent xmlns:mc="http://schemas.openxmlformats.org/markup-compatibility/2006">
        <mc:Choice xmlns:a14="http://schemas.microsoft.com/office/drawing/2010/main" Requires="a14">
          <p:sp>
            <p:nvSpPr>
              <p:cNvPr id="9" name="矩形: 圆角 8">
                <a:extLst>
                  <a:ext uri="{FF2B5EF4-FFF2-40B4-BE49-F238E27FC236}">
                    <a16:creationId xmlns:a16="http://schemas.microsoft.com/office/drawing/2014/main" id="{3DDCB619-F40C-1525-2B11-91316172EAB0}"/>
                  </a:ext>
                </a:extLst>
              </p:cNvPr>
              <p:cNvSpPr/>
              <p:nvPr/>
            </p:nvSpPr>
            <p:spPr>
              <a:xfrm>
                <a:off x="1445762" y="3850481"/>
                <a:ext cx="9300475" cy="609646"/>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𝑄</m:t>
                      </m:r>
                      <m:d>
                        <m:dPr>
                          <m:ctrlPr>
                            <a:rPr lang="en-US" altLang="zh-CN" b="0" i="1" smtClean="0">
                              <a:latin typeface="Cambria Math" panose="02040503050406030204" pitchFamily="18" charset="0"/>
                            </a:rPr>
                          </m:ctrlPr>
                        </m:dPr>
                        <m:e>
                          <m:r>
                            <m:rPr>
                              <m:sty m:val="p"/>
                            </m:rPr>
                            <a:rPr lang="el-GR" altLang="zh-CN" b="0" i="1" smtClean="0">
                              <a:latin typeface="Cambria Math" panose="02040503050406030204" pitchFamily="18" charset="0"/>
                              <a:ea typeface="Cambria Math" panose="02040503050406030204" pitchFamily="18" charset="0"/>
                            </a:rPr>
                            <m:t>Ι</m:t>
                          </m:r>
                        </m:e>
                      </m:d>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𝑓</m:t>
                      </m:r>
                      <m:d>
                        <m:dPr>
                          <m:ctrlPr>
                            <a:rPr lang="en-US" altLang="zh-CN" b="0" i="1" smtClean="0">
                              <a:latin typeface="Cambria Math" panose="02040503050406030204" pitchFamily="18" charset="0"/>
                              <a:ea typeface="Cambria Math" panose="02040503050406030204" pitchFamily="18" charset="0"/>
                            </a:rPr>
                          </m:ctrlPr>
                        </m:dPr>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𝑇</m:t>
                              </m:r>
                            </m:e>
                            <m:sub>
                              <m:r>
                                <a:rPr lang="en-US" altLang="zh-CN" b="0" i="1" smtClean="0">
                                  <a:latin typeface="Cambria Math" panose="02040503050406030204" pitchFamily="18" charset="0"/>
                                  <a:ea typeface="Cambria Math" panose="02040503050406030204" pitchFamily="18" charset="0"/>
                                </a:rPr>
                                <m:t>𝑄</m:t>
                              </m:r>
                            </m:sub>
                          </m:sSub>
                        </m:e>
                      </m:d>
                      <m:r>
                        <a:rPr lang="en-US" altLang="zh-CN" b="0" i="1" smtClean="0">
                          <a:latin typeface="Cambria Math" panose="02040503050406030204" pitchFamily="18" charset="0"/>
                          <a:ea typeface="Cambria Math" panose="02040503050406030204" pitchFamily="18" charset="0"/>
                        </a:rPr>
                        <m:t>=</m:t>
                      </m:r>
                      <m:nary>
                        <m:naryPr>
                          <m:chr m:val="∑"/>
                          <m:supHide m:val="on"/>
                          <m:ctrlPr>
                            <a:rPr lang="en-US" altLang="zh-CN" b="0" i="1" smtClean="0">
                              <a:latin typeface="Cambria Math" panose="02040503050406030204" pitchFamily="18" charset="0"/>
                              <a:ea typeface="Cambria Math" panose="02040503050406030204" pitchFamily="18" charset="0"/>
                            </a:rPr>
                          </m:ctrlPr>
                        </m:naryPr>
                        <m:sub>
                          <m:r>
                            <a:rPr lang="en-US" altLang="zh-CN" b="0" i="1" smtClean="0">
                              <a:latin typeface="Cambria Math" panose="02040503050406030204" pitchFamily="18" charset="0"/>
                              <a:ea typeface="Cambria Math" panose="02040503050406030204" pitchFamily="18" charset="0"/>
                            </a:rPr>
                            <m:t>𝑡</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𝑇</m:t>
                          </m:r>
                        </m:sub>
                        <m:sup/>
                        <m:e>
                          <m:sSub>
                            <m:sSubPr>
                              <m:ctrlPr>
                                <a:rPr lang="en-US" altLang="zh-CN" b="0" i="1" smtClean="0">
                                  <a:latin typeface="Cambria Math" panose="02040503050406030204" pitchFamily="18" charset="0"/>
                                  <a:ea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𝑤</m:t>
                              </m:r>
                            </m:e>
                            <m:sub>
                              <m:r>
                                <a:rPr lang="en-US" altLang="zh-CN" b="0" i="1" smtClean="0">
                                  <a:latin typeface="Cambria Math" panose="02040503050406030204" pitchFamily="18" charset="0"/>
                                  <a:ea typeface="Cambria Math" panose="02040503050406030204" pitchFamily="18" charset="0"/>
                                </a:rPr>
                                <m:t>𝑡</m:t>
                              </m:r>
                            </m:sub>
                          </m:sSub>
                        </m:e>
                      </m:nary>
                    </m:oMath>
                  </m:oMathPara>
                </a14:m>
                <a:endParaRPr lang="zh-CN" altLang="en-US" dirty="0"/>
              </a:p>
            </p:txBody>
          </p:sp>
        </mc:Choice>
        <mc:Fallback>
          <p:sp>
            <p:nvSpPr>
              <p:cNvPr id="9" name="矩形: 圆角 8">
                <a:extLst>
                  <a:ext uri="{FF2B5EF4-FFF2-40B4-BE49-F238E27FC236}">
                    <a16:creationId xmlns:a16="http://schemas.microsoft.com/office/drawing/2014/main" id="{3DDCB619-F40C-1525-2B11-91316172EAB0}"/>
                  </a:ext>
                </a:extLst>
              </p:cNvPr>
              <p:cNvSpPr>
                <a:spLocks noRot="1" noChangeAspect="1" noMove="1" noResize="1" noEditPoints="1" noAdjustHandles="1" noChangeArrowheads="1" noChangeShapeType="1" noTextEdit="1"/>
              </p:cNvSpPr>
              <p:nvPr/>
            </p:nvSpPr>
            <p:spPr>
              <a:xfrm>
                <a:off x="1445762" y="3850481"/>
                <a:ext cx="9300475" cy="609646"/>
              </a:xfrm>
              <a:prstGeom prst="roundRect">
                <a:avLst/>
              </a:prstGeom>
              <a:blipFill>
                <a:blip r:embed="rId4"/>
                <a:stretch>
                  <a:fillRect b="-5000"/>
                </a:stretch>
              </a:blipFill>
              <a:ln>
                <a:noFill/>
              </a:ln>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4649DDA8-419D-235C-FFFE-9D75A583C817}"/>
              </a:ext>
            </a:extLst>
          </p:cNvPr>
          <p:cNvSpPr txBox="1"/>
          <p:nvPr/>
        </p:nvSpPr>
        <p:spPr>
          <a:xfrm>
            <a:off x="3283531" y="5334000"/>
            <a:ext cx="2009725" cy="369332"/>
          </a:xfrm>
          <a:prstGeom prst="rect">
            <a:avLst/>
          </a:prstGeom>
          <a:noFill/>
        </p:spPr>
        <p:txBody>
          <a:bodyPr wrap="square" rtlCol="0">
            <a:spAutoFit/>
          </a:bodyPr>
          <a:lstStyle/>
          <a:p>
            <a:r>
              <a:rPr lang="en-US" altLang="zh-CN" dirty="0"/>
              <a:t>Database Instance</a:t>
            </a:r>
          </a:p>
        </p:txBody>
      </p:sp>
      <p:cxnSp>
        <p:nvCxnSpPr>
          <p:cNvPr id="12" name="连接符: 肘形 11">
            <a:extLst>
              <a:ext uri="{FF2B5EF4-FFF2-40B4-BE49-F238E27FC236}">
                <a16:creationId xmlns:a16="http://schemas.microsoft.com/office/drawing/2014/main" id="{0149EAF8-CEFB-B30E-2398-635770A3720C}"/>
              </a:ext>
            </a:extLst>
          </p:cNvPr>
          <p:cNvCxnSpPr>
            <a:cxnSpLocks/>
            <a:endCxn id="10" idx="0"/>
          </p:cNvCxnSpPr>
          <p:nvPr/>
        </p:nvCxnSpPr>
        <p:spPr>
          <a:xfrm rot="5400000">
            <a:off x="4277800" y="4318543"/>
            <a:ext cx="1026051" cy="100486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连接符: 肘形 23">
            <a:extLst>
              <a:ext uri="{FF2B5EF4-FFF2-40B4-BE49-F238E27FC236}">
                <a16:creationId xmlns:a16="http://schemas.microsoft.com/office/drawing/2014/main" id="{83A12401-9F2D-CBD3-3DF9-0A7E781BAF5B}"/>
              </a:ext>
            </a:extLst>
          </p:cNvPr>
          <p:cNvCxnSpPr>
            <a:cxnSpLocks/>
          </p:cNvCxnSpPr>
          <p:nvPr/>
        </p:nvCxnSpPr>
        <p:spPr>
          <a:xfrm rot="16200000" flipH="1">
            <a:off x="5877994" y="4468905"/>
            <a:ext cx="1026052" cy="704138"/>
          </a:xfrm>
          <a:prstGeom prst="bentConnector3">
            <a:avLst>
              <a:gd name="adj1" fmla="val 50953"/>
            </a:avLst>
          </a:prstGeom>
          <a:ln>
            <a:tailEnd type="triangle"/>
          </a:ln>
        </p:spPr>
        <p:style>
          <a:lnRef idx="2">
            <a:schemeClr val="accent1"/>
          </a:lnRef>
          <a:fillRef idx="0">
            <a:schemeClr val="accent1"/>
          </a:fillRef>
          <a:effectRef idx="1">
            <a:schemeClr val="accent1"/>
          </a:effectRef>
          <a:fontRef idx="minor">
            <a:schemeClr val="tx1"/>
          </a:fontRef>
        </p:style>
      </p:cxnSp>
      <p:sp>
        <p:nvSpPr>
          <p:cNvPr id="28" name="文本框 27">
            <a:extLst>
              <a:ext uri="{FF2B5EF4-FFF2-40B4-BE49-F238E27FC236}">
                <a16:creationId xmlns:a16="http://schemas.microsoft.com/office/drawing/2014/main" id="{8887EDE6-01F2-A3D1-E8AB-D4EAC909AE5F}"/>
              </a:ext>
            </a:extLst>
          </p:cNvPr>
          <p:cNvSpPr txBox="1"/>
          <p:nvPr/>
        </p:nvSpPr>
        <p:spPr>
          <a:xfrm>
            <a:off x="5569527" y="5334000"/>
            <a:ext cx="2513377" cy="369332"/>
          </a:xfrm>
          <a:prstGeom prst="rect">
            <a:avLst/>
          </a:prstGeom>
          <a:noFill/>
        </p:spPr>
        <p:txBody>
          <a:bodyPr wrap="square" rtlCol="0">
            <a:spAutoFit/>
          </a:bodyPr>
          <a:lstStyle/>
          <a:p>
            <a:r>
              <a:rPr lang="en-US" altLang="zh-CN" dirty="0"/>
              <a:t>Flat Table of Join Results</a:t>
            </a:r>
          </a:p>
        </p:txBody>
      </p:sp>
      <p:cxnSp>
        <p:nvCxnSpPr>
          <p:cNvPr id="29" name="连接符: 肘形 28">
            <a:extLst>
              <a:ext uri="{FF2B5EF4-FFF2-40B4-BE49-F238E27FC236}">
                <a16:creationId xmlns:a16="http://schemas.microsoft.com/office/drawing/2014/main" id="{8BF82814-1B17-6EF5-E2D3-6E7053975DFF}"/>
              </a:ext>
            </a:extLst>
          </p:cNvPr>
          <p:cNvCxnSpPr>
            <a:cxnSpLocks/>
            <a:endCxn id="39" idx="0"/>
          </p:cNvCxnSpPr>
          <p:nvPr/>
        </p:nvCxnSpPr>
        <p:spPr>
          <a:xfrm>
            <a:off x="7223509" y="4171625"/>
            <a:ext cx="2107219" cy="116237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39" name="文本框 38">
                <a:extLst>
                  <a:ext uri="{FF2B5EF4-FFF2-40B4-BE49-F238E27FC236}">
                    <a16:creationId xmlns:a16="http://schemas.microsoft.com/office/drawing/2014/main" id="{2690A96F-1536-1C10-4C38-C6CF205869EC}"/>
                  </a:ext>
                </a:extLst>
              </p:cNvPr>
              <p:cNvSpPr txBox="1"/>
              <p:nvPr/>
            </p:nvSpPr>
            <p:spPr>
              <a:xfrm>
                <a:off x="8417854" y="5334000"/>
                <a:ext cx="1825748" cy="369332"/>
              </a:xfrm>
              <a:prstGeom prst="rect">
                <a:avLst/>
              </a:prstGeom>
              <a:noFill/>
            </p:spPr>
            <p:txBody>
              <a:bodyPr wrap="square" rtlCol="0">
                <a:spAutoFit/>
              </a:bodyPr>
              <a:lstStyle/>
              <a:p>
                <a:r>
                  <a:rPr lang="en-US" altLang="zh-CN" dirty="0"/>
                  <a:t>Weight of tuple </a:t>
                </a:r>
                <a14:m>
                  <m:oMath xmlns:m="http://schemas.openxmlformats.org/officeDocument/2006/math">
                    <m:r>
                      <a:rPr lang="en-US" altLang="zh-CN" b="0" i="1" smtClean="0">
                        <a:latin typeface="Cambria Math" panose="02040503050406030204" pitchFamily="18" charset="0"/>
                      </a:rPr>
                      <m:t>𝑡</m:t>
                    </m:r>
                  </m:oMath>
                </a14:m>
                <a:endParaRPr lang="en-US" altLang="zh-CN" dirty="0"/>
              </a:p>
            </p:txBody>
          </p:sp>
        </mc:Choice>
        <mc:Fallback>
          <p:sp>
            <p:nvSpPr>
              <p:cNvPr id="39" name="文本框 38">
                <a:extLst>
                  <a:ext uri="{FF2B5EF4-FFF2-40B4-BE49-F238E27FC236}">
                    <a16:creationId xmlns:a16="http://schemas.microsoft.com/office/drawing/2014/main" id="{2690A96F-1536-1C10-4C38-C6CF205869EC}"/>
                  </a:ext>
                </a:extLst>
              </p:cNvPr>
              <p:cNvSpPr txBox="1">
                <a:spLocks noRot="1" noChangeAspect="1" noMove="1" noResize="1" noEditPoints="1" noAdjustHandles="1" noChangeArrowheads="1" noChangeShapeType="1" noTextEdit="1"/>
              </p:cNvSpPr>
              <p:nvPr/>
            </p:nvSpPr>
            <p:spPr>
              <a:xfrm>
                <a:off x="8417854" y="5334000"/>
                <a:ext cx="1825748" cy="369332"/>
              </a:xfrm>
              <a:prstGeom prst="rect">
                <a:avLst/>
              </a:prstGeom>
              <a:blipFill>
                <a:blip r:embed="rId5"/>
                <a:stretch>
                  <a:fillRect l="-3010" t="-8197" b="-245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54216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DF4939-0ABC-F81A-1189-784D450B6AC1}"/>
              </a:ext>
            </a:extLst>
          </p:cNvPr>
          <p:cNvSpPr>
            <a:spLocks noGrp="1"/>
          </p:cNvSpPr>
          <p:nvPr>
            <p:ph type="title"/>
          </p:nvPr>
        </p:nvSpPr>
        <p:spPr/>
        <p:txBody>
          <a:bodyPr/>
          <a:lstStyle/>
          <a:p>
            <a:r>
              <a:rPr lang="en-US" altLang="zh-CN" dirty="0"/>
              <a:t>SJA Queries under DP: Truncation</a:t>
            </a:r>
            <a:endParaRPr lang="zh-CN" altLang="en-US" dirty="0"/>
          </a:p>
        </p:txBody>
      </p:sp>
      <p:sp>
        <p:nvSpPr>
          <p:cNvPr id="4" name="灯片编号占位符 3">
            <a:extLst>
              <a:ext uri="{FF2B5EF4-FFF2-40B4-BE49-F238E27FC236}">
                <a16:creationId xmlns:a16="http://schemas.microsoft.com/office/drawing/2014/main" id="{63AF8A54-1884-6E09-D852-3C7B30CCA3D2}"/>
              </a:ext>
            </a:extLst>
          </p:cNvPr>
          <p:cNvSpPr>
            <a:spLocks noGrp="1"/>
          </p:cNvSpPr>
          <p:nvPr>
            <p:ph type="sldNum" sz="quarter" idx="12"/>
          </p:nvPr>
        </p:nvSpPr>
        <p:spPr/>
        <p:txBody>
          <a:bodyPr/>
          <a:lstStyle/>
          <a:p>
            <a:fld id="{B0AC98E8-77B5-4E71-A497-A3DCE01E87E0}" type="slidenum">
              <a:rPr lang="zh-CN" altLang="en-US" smtClean="0"/>
              <a:t>4</a:t>
            </a:fld>
            <a:endParaRPr lang="zh-CN" altLang="en-US" dirty="0"/>
          </a:p>
        </p:txBody>
      </p:sp>
      <p:sp>
        <p:nvSpPr>
          <p:cNvPr id="6" name="文本框 5">
            <a:extLst>
              <a:ext uri="{FF2B5EF4-FFF2-40B4-BE49-F238E27FC236}">
                <a16:creationId xmlns:a16="http://schemas.microsoft.com/office/drawing/2014/main" id="{D12DCBA1-BC51-0EFC-DB68-161EE90E56B3}"/>
              </a:ext>
            </a:extLst>
          </p:cNvPr>
          <p:cNvSpPr txBox="1"/>
          <p:nvPr/>
        </p:nvSpPr>
        <p:spPr>
          <a:xfrm>
            <a:off x="461138" y="1460541"/>
            <a:ext cx="2303387" cy="523220"/>
          </a:xfrm>
          <a:prstGeom prst="rect">
            <a:avLst/>
          </a:prstGeom>
          <a:noFill/>
        </p:spPr>
        <p:txBody>
          <a:bodyPr wrap="none" rtlCol="0">
            <a:spAutoFit/>
          </a:bodyPr>
          <a:lstStyle/>
          <a:p>
            <a:r>
              <a:rPr lang="en-US" altLang="zh-CN" sz="2800" dirty="0">
                <a:latin typeface="+mj-lt"/>
              </a:rPr>
              <a:t>Privacy Notion</a:t>
            </a:r>
            <a:endParaRPr lang="zh-CN" altLang="en-US" sz="2800" dirty="0">
              <a:latin typeface="+mj-lt"/>
            </a:endParaRPr>
          </a:p>
        </p:txBody>
      </p:sp>
      <p:sp>
        <p:nvSpPr>
          <p:cNvPr id="7" name="文本框 6">
            <a:extLst>
              <a:ext uri="{FF2B5EF4-FFF2-40B4-BE49-F238E27FC236}">
                <a16:creationId xmlns:a16="http://schemas.microsoft.com/office/drawing/2014/main" id="{25FEB60F-9753-DCC5-7A3F-2F070A42DD0F}"/>
              </a:ext>
            </a:extLst>
          </p:cNvPr>
          <p:cNvSpPr txBox="1"/>
          <p:nvPr/>
        </p:nvSpPr>
        <p:spPr>
          <a:xfrm>
            <a:off x="3687314" y="1460541"/>
            <a:ext cx="2621039" cy="523220"/>
          </a:xfrm>
          <a:prstGeom prst="rect">
            <a:avLst/>
          </a:prstGeom>
          <a:noFill/>
        </p:spPr>
        <p:txBody>
          <a:bodyPr wrap="none" rtlCol="0">
            <a:spAutoFit/>
          </a:bodyPr>
          <a:lstStyle/>
          <a:p>
            <a:r>
              <a:rPr lang="en-US" altLang="zh-CN" sz="2800" dirty="0">
                <a:latin typeface="+mj-lt"/>
              </a:rPr>
              <a:t>Truncated Query</a:t>
            </a:r>
            <a:endParaRPr lang="zh-CN" altLang="en-US" sz="2800" dirty="0">
              <a:latin typeface="+mj-lt"/>
            </a:endParaRPr>
          </a:p>
        </p:txBody>
      </p:sp>
      <p:sp>
        <p:nvSpPr>
          <p:cNvPr id="9" name="矩形: 圆角 8">
            <a:extLst>
              <a:ext uri="{FF2B5EF4-FFF2-40B4-BE49-F238E27FC236}">
                <a16:creationId xmlns:a16="http://schemas.microsoft.com/office/drawing/2014/main" id="{403C509B-DD11-3EED-F604-93C7DEAAE028}"/>
              </a:ext>
            </a:extLst>
          </p:cNvPr>
          <p:cNvSpPr/>
          <p:nvPr/>
        </p:nvSpPr>
        <p:spPr>
          <a:xfrm>
            <a:off x="598746" y="4396181"/>
            <a:ext cx="1856101" cy="834534"/>
          </a:xfrm>
          <a:prstGeom prst="round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altLang="zh-CN" dirty="0"/>
              <a:t>User-level DP </a:t>
            </a:r>
          </a:p>
          <a:p>
            <a:pPr algn="ctr"/>
            <a:r>
              <a:rPr lang="en-US" altLang="zh-CN" dirty="0"/>
              <a:t>w/ self-join</a:t>
            </a:r>
            <a:endParaRPr lang="zh-CN" altLang="en-US" dirty="0"/>
          </a:p>
        </p:txBody>
      </p:sp>
      <p:sp>
        <p:nvSpPr>
          <p:cNvPr id="12" name="矩形: 圆角 11">
            <a:extLst>
              <a:ext uri="{FF2B5EF4-FFF2-40B4-BE49-F238E27FC236}">
                <a16:creationId xmlns:a16="http://schemas.microsoft.com/office/drawing/2014/main" id="{D01E5D60-AABF-55BE-AB74-973F7E52E433}"/>
              </a:ext>
            </a:extLst>
          </p:cNvPr>
          <p:cNvSpPr/>
          <p:nvPr/>
        </p:nvSpPr>
        <p:spPr>
          <a:xfrm>
            <a:off x="684781" y="2051653"/>
            <a:ext cx="1856102" cy="8345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Record-level DP</a:t>
            </a:r>
            <a:endParaRPr lang="zh-CN" altLang="en-US" dirty="0"/>
          </a:p>
        </p:txBody>
      </p:sp>
      <mc:AlternateContent xmlns:mc="http://schemas.openxmlformats.org/markup-compatibility/2006">
        <mc:Choice xmlns:a14="http://schemas.microsoft.com/office/drawing/2010/main" Requires="a14">
          <p:sp>
            <p:nvSpPr>
              <p:cNvPr id="13" name="矩形: 圆角 12">
                <a:extLst>
                  <a:ext uri="{FF2B5EF4-FFF2-40B4-BE49-F238E27FC236}">
                    <a16:creationId xmlns:a16="http://schemas.microsoft.com/office/drawing/2014/main" id="{4C4D083C-9B71-2E72-2252-1DBCE7942ED4}"/>
                  </a:ext>
                </a:extLst>
              </p:cNvPr>
              <p:cNvSpPr/>
              <p:nvPr/>
            </p:nvSpPr>
            <p:spPr>
              <a:xfrm>
                <a:off x="3465120" y="2082064"/>
                <a:ext cx="3065429" cy="72209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14:m>
                  <m:oMath xmlns:m="http://schemas.openxmlformats.org/officeDocument/2006/math">
                    <m:acc>
                      <m:accPr>
                        <m:chr m:val="̅"/>
                        <m:ctrlPr>
                          <a:rPr lang="en-US" altLang="zh-CN" b="0" i="1" smtClean="0">
                            <a:latin typeface="Cambria Math" panose="02040503050406030204" pitchFamily="18" charset="0"/>
                          </a:rPr>
                        </m:ctrlPr>
                      </m:accPr>
                      <m:e>
                        <m:r>
                          <a:rPr lang="en-US" altLang="zh-CN" b="0" i="1" smtClean="0">
                            <a:latin typeface="Cambria Math" panose="02040503050406030204" pitchFamily="18" charset="0"/>
                          </a:rPr>
                          <m:t>𝑓</m:t>
                        </m:r>
                      </m:e>
                    </m:acc>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𝑇</m:t>
                        </m:r>
                      </m:e>
                    </m:d>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𝑡</m:t>
                        </m:r>
                      </m:sub>
                      <m:sup/>
                      <m:e>
                        <m:r>
                          <m:rPr>
                            <m:sty m:val="p"/>
                          </m:rPr>
                          <a:rPr lang="en-US" altLang="zh-CN" b="0" i="0" smtClean="0">
                            <a:latin typeface="Cambria Math" panose="02040503050406030204" pitchFamily="18" charset="0"/>
                          </a:rPr>
                          <m:t>min</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𝜏</m:t>
                        </m:r>
                        <m:r>
                          <a:rPr lang="en-US" altLang="zh-CN" b="0" i="1" smtClean="0">
                            <a:latin typeface="Cambria Math" panose="02040503050406030204" pitchFamily="18" charset="0"/>
                          </a:rPr>
                          <m:t>}</m:t>
                        </m:r>
                      </m:e>
                    </m:nary>
                  </m:oMath>
                </a14:m>
                <a:r>
                  <a:rPr lang="zh-CN" altLang="en-US" dirty="0"/>
                  <a:t> </a:t>
                </a:r>
              </a:p>
            </p:txBody>
          </p:sp>
        </mc:Choice>
        <mc:Fallback>
          <p:sp>
            <p:nvSpPr>
              <p:cNvPr id="13" name="矩形: 圆角 12">
                <a:extLst>
                  <a:ext uri="{FF2B5EF4-FFF2-40B4-BE49-F238E27FC236}">
                    <a16:creationId xmlns:a16="http://schemas.microsoft.com/office/drawing/2014/main" id="{4C4D083C-9B71-2E72-2252-1DBCE7942ED4}"/>
                  </a:ext>
                </a:extLst>
              </p:cNvPr>
              <p:cNvSpPr>
                <a:spLocks noRot="1" noChangeAspect="1" noMove="1" noResize="1" noEditPoints="1" noAdjustHandles="1" noChangeArrowheads="1" noChangeShapeType="1" noTextEdit="1"/>
              </p:cNvSpPr>
              <p:nvPr/>
            </p:nvSpPr>
            <p:spPr>
              <a:xfrm>
                <a:off x="3465120" y="2082064"/>
                <a:ext cx="3065429" cy="722090"/>
              </a:xfrm>
              <a:prstGeom prst="roundRect">
                <a:avLst/>
              </a:prstGeom>
              <a:blipFill>
                <a:blip r:embed="rId3"/>
                <a:stretch>
                  <a:fillRect t="-35000" b="-70000"/>
                </a:stretch>
              </a:blip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6" name="文本框 15">
                <a:extLst>
                  <a:ext uri="{FF2B5EF4-FFF2-40B4-BE49-F238E27FC236}">
                    <a16:creationId xmlns:a16="http://schemas.microsoft.com/office/drawing/2014/main" id="{9334A347-1D39-96BF-72E4-0F334520B6C9}"/>
                  </a:ext>
                </a:extLst>
              </p:cNvPr>
              <p:cNvSpPr txBox="1"/>
              <p:nvPr/>
            </p:nvSpPr>
            <p:spPr>
              <a:xfrm>
                <a:off x="8467000" y="1327767"/>
                <a:ext cx="1503937" cy="954107"/>
              </a:xfrm>
              <a:prstGeom prst="rect">
                <a:avLst/>
              </a:prstGeom>
              <a:noFill/>
            </p:spPr>
            <p:txBody>
              <a:bodyPr wrap="none" rtlCol="0">
                <a:spAutoFit/>
              </a:bodyPr>
              <a:lstStyle/>
              <a:p>
                <a:pPr algn="ctr"/>
                <a:r>
                  <a:rPr lang="en-US" altLang="zh-CN" sz="2800" dirty="0">
                    <a:latin typeface="+mj-lt"/>
                  </a:rPr>
                  <a:t>Example </a:t>
                </a:r>
              </a:p>
              <a:p>
                <a14:m>
                  <m:oMathPara xmlns:m="http://schemas.openxmlformats.org/officeDocument/2006/math">
                    <m:oMathParaPr>
                      <m:jc m:val="centerGroup"/>
                    </m:oMathParaPr>
                    <m:oMath xmlns:m="http://schemas.openxmlformats.org/officeDocument/2006/math">
                      <m:d>
                        <m:dPr>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𝜏</m:t>
                          </m:r>
                          <m:r>
                            <a:rPr lang="en-US" altLang="zh-CN" sz="2800" b="0" i="1" smtClean="0">
                              <a:latin typeface="Cambria Math" panose="02040503050406030204" pitchFamily="18" charset="0"/>
                            </a:rPr>
                            <m:t>=1</m:t>
                          </m:r>
                        </m:e>
                      </m:d>
                    </m:oMath>
                  </m:oMathPara>
                </a14:m>
                <a:endParaRPr lang="zh-CN" altLang="en-US" sz="2800" dirty="0">
                  <a:latin typeface="+mj-lt"/>
                </a:endParaRPr>
              </a:p>
            </p:txBody>
          </p:sp>
        </mc:Choice>
        <mc:Fallback>
          <p:sp>
            <p:nvSpPr>
              <p:cNvPr id="16" name="文本框 15">
                <a:extLst>
                  <a:ext uri="{FF2B5EF4-FFF2-40B4-BE49-F238E27FC236}">
                    <a16:creationId xmlns:a16="http://schemas.microsoft.com/office/drawing/2014/main" id="{9334A347-1D39-96BF-72E4-0F334520B6C9}"/>
                  </a:ext>
                </a:extLst>
              </p:cNvPr>
              <p:cNvSpPr txBox="1">
                <a:spLocks noRot="1" noChangeAspect="1" noMove="1" noResize="1" noEditPoints="1" noAdjustHandles="1" noChangeArrowheads="1" noChangeShapeType="1" noTextEdit="1"/>
              </p:cNvSpPr>
              <p:nvPr/>
            </p:nvSpPr>
            <p:spPr>
              <a:xfrm>
                <a:off x="8467000" y="1327767"/>
                <a:ext cx="1503937" cy="954107"/>
              </a:xfrm>
              <a:prstGeom prst="rect">
                <a:avLst/>
              </a:prstGeom>
              <a:blipFill>
                <a:blip r:embed="rId4"/>
                <a:stretch>
                  <a:fillRect l="-7692" t="-6410" r="-7287"/>
                </a:stretch>
              </a:blipFill>
            </p:spPr>
            <p:txBody>
              <a:bodyPr/>
              <a:lstStyle/>
              <a:p>
                <a:r>
                  <a:rPr lang="zh-CN" altLang="en-US">
                    <a:noFill/>
                  </a:rPr>
                  <a:t> </a:t>
                </a:r>
              </a:p>
            </p:txBody>
          </p:sp>
        </mc:Fallback>
      </mc:AlternateContent>
      <p:pic>
        <p:nvPicPr>
          <p:cNvPr id="21" name="图形 20" descr="女性形象 纯色填充">
            <a:extLst>
              <a:ext uri="{FF2B5EF4-FFF2-40B4-BE49-F238E27FC236}">
                <a16:creationId xmlns:a16="http://schemas.microsoft.com/office/drawing/2014/main" id="{BFD488F5-27D5-05EC-F463-7FA766A6F42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419806" y="2355699"/>
            <a:ext cx="387531" cy="387531"/>
          </a:xfrm>
          <a:prstGeom prst="rect">
            <a:avLst/>
          </a:prstGeom>
        </p:spPr>
      </p:pic>
      <p:sp>
        <p:nvSpPr>
          <p:cNvPr id="24" name="矩形 23">
            <a:extLst>
              <a:ext uri="{FF2B5EF4-FFF2-40B4-BE49-F238E27FC236}">
                <a16:creationId xmlns:a16="http://schemas.microsoft.com/office/drawing/2014/main" id="{351EEAA2-7835-3A54-9409-4360E0DF7741}"/>
              </a:ext>
            </a:extLst>
          </p:cNvPr>
          <p:cNvSpPr/>
          <p:nvPr/>
        </p:nvSpPr>
        <p:spPr>
          <a:xfrm>
            <a:off x="9259559" y="2383589"/>
            <a:ext cx="331749" cy="33174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5</a:t>
            </a:r>
            <a:endParaRPr lang="zh-CN" altLang="en-US" dirty="0"/>
          </a:p>
        </p:txBody>
      </p:sp>
      <p:cxnSp>
        <p:nvCxnSpPr>
          <p:cNvPr id="26" name="直接连接符 25">
            <a:extLst>
              <a:ext uri="{FF2B5EF4-FFF2-40B4-BE49-F238E27FC236}">
                <a16:creationId xmlns:a16="http://schemas.microsoft.com/office/drawing/2014/main" id="{0578EFED-01C9-3AE7-06D7-7C52107B08FA}"/>
              </a:ext>
            </a:extLst>
          </p:cNvPr>
          <p:cNvCxnSpPr>
            <a:endCxn id="24" idx="1"/>
          </p:cNvCxnSpPr>
          <p:nvPr/>
        </p:nvCxnSpPr>
        <p:spPr>
          <a:xfrm>
            <a:off x="8807337" y="2545643"/>
            <a:ext cx="452222" cy="3821"/>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直接连接符 27">
            <a:extLst>
              <a:ext uri="{FF2B5EF4-FFF2-40B4-BE49-F238E27FC236}">
                <a16:creationId xmlns:a16="http://schemas.microsoft.com/office/drawing/2014/main" id="{113DCDE7-0A48-AB02-B246-BBB538D1FF6C}"/>
              </a:ext>
            </a:extLst>
          </p:cNvPr>
          <p:cNvCxnSpPr/>
          <p:nvPr/>
        </p:nvCxnSpPr>
        <p:spPr>
          <a:xfrm>
            <a:off x="9259559" y="2383589"/>
            <a:ext cx="331749" cy="331749"/>
          </a:xfrm>
          <a:prstGeom prst="line">
            <a:avLst/>
          </a:prstGeom>
        </p:spPr>
        <p:style>
          <a:lnRef idx="2">
            <a:schemeClr val="accent1"/>
          </a:lnRef>
          <a:fillRef idx="0">
            <a:schemeClr val="accent1"/>
          </a:fillRef>
          <a:effectRef idx="1">
            <a:schemeClr val="accent1"/>
          </a:effectRef>
          <a:fontRef idx="minor">
            <a:schemeClr val="tx1"/>
          </a:fontRef>
        </p:style>
      </p:cxnSp>
      <p:sp>
        <p:nvSpPr>
          <p:cNvPr id="29" name="矩形 28">
            <a:extLst>
              <a:ext uri="{FF2B5EF4-FFF2-40B4-BE49-F238E27FC236}">
                <a16:creationId xmlns:a16="http://schemas.microsoft.com/office/drawing/2014/main" id="{63AB7F0A-8E4E-26F0-6D13-DF138E5E874F}"/>
              </a:ext>
            </a:extLst>
          </p:cNvPr>
          <p:cNvSpPr/>
          <p:nvPr/>
        </p:nvSpPr>
        <p:spPr>
          <a:xfrm>
            <a:off x="9711781" y="2383589"/>
            <a:ext cx="331749" cy="331749"/>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altLang="zh-CN" dirty="0"/>
              <a:t>1</a:t>
            </a:r>
            <a:endParaRPr lang="zh-CN" altLang="en-US" dirty="0"/>
          </a:p>
        </p:txBody>
      </p:sp>
      <mc:AlternateContent xmlns:mc="http://schemas.openxmlformats.org/markup-compatibility/2006">
        <mc:Choice xmlns:a14="http://schemas.microsoft.com/office/drawing/2010/main" Requires="a14">
          <p:sp>
            <p:nvSpPr>
              <p:cNvPr id="44" name="矩形: 圆角 43">
                <a:extLst>
                  <a:ext uri="{FF2B5EF4-FFF2-40B4-BE49-F238E27FC236}">
                    <a16:creationId xmlns:a16="http://schemas.microsoft.com/office/drawing/2014/main" id="{DC6FA3B2-44A2-98A9-0F8B-9C683036C53A}"/>
                  </a:ext>
                </a:extLst>
              </p:cNvPr>
              <p:cNvSpPr/>
              <p:nvPr/>
            </p:nvSpPr>
            <p:spPr>
              <a:xfrm>
                <a:off x="3465377" y="3061546"/>
                <a:ext cx="3065429" cy="1110250"/>
              </a:xfrm>
              <a:prstGeom prst="round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14:m>
                  <m:oMath xmlns:m="http://schemas.openxmlformats.org/officeDocument/2006/math">
                    <m:acc>
                      <m:accPr>
                        <m:chr m:val="̅"/>
                        <m:ctrlPr>
                          <a:rPr lang="en-US" altLang="zh-CN" i="1" smtClean="0">
                            <a:latin typeface="Cambria Math" panose="02040503050406030204" pitchFamily="18" charset="0"/>
                          </a:rPr>
                        </m:ctrlPr>
                      </m:accPr>
                      <m:e>
                        <m:r>
                          <a:rPr lang="en-US" altLang="zh-CN" i="1">
                            <a:latin typeface="Cambria Math" panose="02040503050406030204" pitchFamily="18" charset="0"/>
                          </a:rPr>
                          <m:t>𝑓</m:t>
                        </m:r>
                      </m:e>
                    </m:acc>
                    <m:d>
                      <m:dPr>
                        <m:ctrlPr>
                          <a:rPr lang="en-US" altLang="zh-CN" i="1">
                            <a:latin typeface="Cambria Math" panose="02040503050406030204" pitchFamily="18" charset="0"/>
                          </a:rPr>
                        </m:ctrlPr>
                      </m:dPr>
                      <m:e>
                        <m:r>
                          <a:rPr lang="en-US" altLang="zh-CN" i="1">
                            <a:latin typeface="Cambria Math" panose="02040503050406030204" pitchFamily="18" charset="0"/>
                          </a:rPr>
                          <m:t>𝑇</m:t>
                        </m:r>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limLow>
                          <m:limLowPr>
                            <m:ctrlPr>
                              <a:rPr lang="en-US" altLang="zh-CN" b="0" i="0" smtClean="0">
                                <a:latin typeface="Cambria Math" panose="02040503050406030204" pitchFamily="18" charset="0"/>
                              </a:rPr>
                            </m:ctrlPr>
                          </m:limLowPr>
                          <m:e>
                            <m:r>
                              <m:rPr>
                                <m:sty m:val="p"/>
                              </m:rPr>
                              <a:rPr lang="en-US" altLang="zh-CN" b="0" i="0" smtClean="0">
                                <a:latin typeface="Cambria Math" panose="02040503050406030204" pitchFamily="18" charset="0"/>
                              </a:rPr>
                              <m:t>max</m:t>
                            </m:r>
                          </m:e>
                          <m:lim>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lim>
                        </m:limLow>
                      </m:fName>
                      <m:e>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𝑡</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e>
                        </m:nary>
                      </m:e>
                    </m:func>
                  </m:oMath>
                </a14:m>
                <a:r>
                  <a:rPr lang="en-US" altLang="zh-CN" b="0" dirty="0"/>
                  <a:t> </a:t>
                </a:r>
              </a:p>
              <a:p>
                <a:pPr algn="ctr"/>
                <a14:m>
                  <m:oMath xmlns:m="http://schemas.openxmlformats.org/officeDocument/2006/math">
                    <m:r>
                      <a:rPr lang="en-US" altLang="zh-CN" b="0" i="1" smtClean="0">
                        <a:latin typeface="Cambria Math" panose="02040503050406030204" pitchFamily="18" charset="0"/>
                      </a:rPr>
                      <m:t>𝑠</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r>
                      <a:rPr lang="en-US" altLang="zh-CN" b="0" i="1" smtClean="0">
                        <a:latin typeface="Cambria Math" panose="02040503050406030204" pitchFamily="18" charset="0"/>
                      </a:rPr>
                      <m:t>.    </m:t>
                    </m:r>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𝑡</m:t>
                        </m:r>
                        <m:r>
                          <a:rPr lang="en-US" altLang="zh-CN" b="0" i="1" smtClean="0">
                            <a:latin typeface="Cambria Math" panose="02040503050406030204" pitchFamily="18" charset="0"/>
                          </a:rPr>
                          <m:t>:</m:t>
                        </m:r>
                        <m:r>
                          <a:rPr lang="en-US" altLang="zh-CN" b="0" i="1" smtClean="0">
                            <a:latin typeface="Cambria Math" panose="02040503050406030204" pitchFamily="18" charset="0"/>
                          </a:rPr>
                          <m:t>𝑢</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𝑡</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𝜏</m:t>
                        </m:r>
                      </m:e>
                    </m:nary>
                  </m:oMath>
                </a14:m>
                <a:r>
                  <a:rPr lang="zh-CN" altLang="en-US" dirty="0"/>
                  <a:t> </a:t>
                </a:r>
                <a:r>
                  <a:rPr lang="en-US" altLang="zh-CN" dirty="0"/>
                  <a:t>for any </a:t>
                </a:r>
                <a14:m>
                  <m:oMath xmlns:m="http://schemas.openxmlformats.org/officeDocument/2006/math">
                    <m:r>
                      <a:rPr lang="en-US" altLang="zh-CN" b="0" i="1" smtClean="0">
                        <a:latin typeface="Cambria Math" panose="02040503050406030204" pitchFamily="18" charset="0"/>
                      </a:rPr>
                      <m:t>𝑢</m:t>
                    </m:r>
                  </m:oMath>
                </a14:m>
                <a:endParaRPr lang="en-US" altLang="zh-CN" dirty="0"/>
              </a:p>
              <a:p>
                <a:pPr algn="ctr"/>
                <a14:m>
                  <m:oMath xmlns:m="http://schemas.openxmlformats.org/officeDocument/2006/math">
                    <m:r>
                      <a:rPr lang="en-US" altLang="zh-CN" b="0" i="1" smtClean="0">
                        <a:latin typeface="Cambria Math" panose="02040503050406030204" pitchFamily="18" charset="0"/>
                      </a:rPr>
                      <m:t>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𝑥</m:t>
                        </m:r>
                      </m:e>
                      <m:sub>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𝑡</m:t>
                        </m:r>
                      </m:sub>
                    </m:sSub>
                  </m:oMath>
                </a14:m>
                <a:r>
                  <a:rPr lang="zh-CN" altLang="en-US" dirty="0"/>
                  <a:t> </a:t>
                </a:r>
                <a:r>
                  <a:rPr lang="en-US" altLang="zh-CN" dirty="0"/>
                  <a:t>for any </a:t>
                </a:r>
                <a14:m>
                  <m:oMath xmlns:m="http://schemas.openxmlformats.org/officeDocument/2006/math">
                    <m:r>
                      <a:rPr lang="en-US" altLang="zh-CN" b="0" i="1" smtClean="0">
                        <a:latin typeface="Cambria Math" panose="02040503050406030204" pitchFamily="18" charset="0"/>
                      </a:rPr>
                      <m:t>𝑡</m:t>
                    </m:r>
                  </m:oMath>
                </a14:m>
                <a:endParaRPr lang="en-US" altLang="zh-CN" dirty="0"/>
              </a:p>
            </p:txBody>
          </p:sp>
        </mc:Choice>
        <mc:Fallback>
          <p:sp>
            <p:nvSpPr>
              <p:cNvPr id="44" name="矩形: 圆角 43">
                <a:extLst>
                  <a:ext uri="{FF2B5EF4-FFF2-40B4-BE49-F238E27FC236}">
                    <a16:creationId xmlns:a16="http://schemas.microsoft.com/office/drawing/2014/main" id="{DC6FA3B2-44A2-98A9-0F8B-9C683036C53A}"/>
                  </a:ext>
                </a:extLst>
              </p:cNvPr>
              <p:cNvSpPr>
                <a:spLocks noRot="1" noChangeAspect="1" noMove="1" noResize="1" noEditPoints="1" noAdjustHandles="1" noChangeArrowheads="1" noChangeShapeType="1" noTextEdit="1"/>
              </p:cNvSpPr>
              <p:nvPr/>
            </p:nvSpPr>
            <p:spPr>
              <a:xfrm>
                <a:off x="3465377" y="3061546"/>
                <a:ext cx="3065429" cy="1110250"/>
              </a:xfrm>
              <a:prstGeom prst="roundRect">
                <a:avLst/>
              </a:prstGeom>
              <a:blipFill>
                <a:blip r:embed="rId7"/>
                <a:stretch>
                  <a:fillRect t="-30435" b="-29891"/>
                </a:stretch>
              </a:blipFill>
              <a:ln/>
            </p:spPr>
            <p:txBody>
              <a:bodyPr/>
              <a:lstStyle/>
              <a:p>
                <a:r>
                  <a:rPr lang="zh-CN" altLang="en-US">
                    <a:noFill/>
                  </a:rPr>
                  <a:t> </a:t>
                </a:r>
              </a:p>
            </p:txBody>
          </p:sp>
        </mc:Fallback>
      </mc:AlternateContent>
      <p:sp>
        <p:nvSpPr>
          <p:cNvPr id="79" name="箭头: 右 78">
            <a:extLst>
              <a:ext uri="{FF2B5EF4-FFF2-40B4-BE49-F238E27FC236}">
                <a16:creationId xmlns:a16="http://schemas.microsoft.com/office/drawing/2014/main" id="{09E8FD4A-CC46-9757-7932-8222DA5E5AAF}"/>
              </a:ext>
            </a:extLst>
          </p:cNvPr>
          <p:cNvSpPr/>
          <p:nvPr/>
        </p:nvSpPr>
        <p:spPr>
          <a:xfrm>
            <a:off x="2647515" y="2337149"/>
            <a:ext cx="691179" cy="262602"/>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81" name="矩形: 圆角 80">
            <a:extLst>
              <a:ext uri="{FF2B5EF4-FFF2-40B4-BE49-F238E27FC236}">
                <a16:creationId xmlns:a16="http://schemas.microsoft.com/office/drawing/2014/main" id="{D12C6E8E-D5AB-D30E-8D6C-52A135E4017C}"/>
              </a:ext>
            </a:extLst>
          </p:cNvPr>
          <p:cNvSpPr/>
          <p:nvPr/>
        </p:nvSpPr>
        <p:spPr>
          <a:xfrm>
            <a:off x="1976384" y="3396198"/>
            <a:ext cx="1913886"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Scalar query</a:t>
            </a:r>
          </a:p>
          <a:p>
            <a:pPr algn="ctr"/>
            <a:r>
              <a:rPr lang="en-US" altLang="zh-CN" sz="1400" dirty="0"/>
              <a:t>(LP)</a:t>
            </a:r>
            <a:endParaRPr lang="zh-CN" altLang="en-US" sz="1400" dirty="0"/>
          </a:p>
        </p:txBody>
      </p:sp>
      <p:sp>
        <p:nvSpPr>
          <p:cNvPr id="82" name="矩形: 圆角 81">
            <a:extLst>
              <a:ext uri="{FF2B5EF4-FFF2-40B4-BE49-F238E27FC236}">
                <a16:creationId xmlns:a16="http://schemas.microsoft.com/office/drawing/2014/main" id="{95351A91-5D13-4557-BA0D-CB5676EED8E5}"/>
              </a:ext>
            </a:extLst>
          </p:cNvPr>
          <p:cNvSpPr/>
          <p:nvPr/>
        </p:nvSpPr>
        <p:spPr>
          <a:xfrm>
            <a:off x="1976384" y="5610476"/>
            <a:ext cx="1913886"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Vector query</a:t>
            </a:r>
          </a:p>
          <a:p>
            <a:pPr algn="ctr"/>
            <a:r>
              <a:rPr lang="en-US" altLang="zh-CN" sz="1400" dirty="0"/>
              <a:t>(QCQP)</a:t>
            </a:r>
            <a:endParaRPr lang="zh-CN" altLang="en-US" sz="1400" dirty="0"/>
          </a:p>
        </p:txBody>
      </p:sp>
      <p:sp>
        <p:nvSpPr>
          <p:cNvPr id="84" name="箭头: 右 83">
            <a:extLst>
              <a:ext uri="{FF2B5EF4-FFF2-40B4-BE49-F238E27FC236}">
                <a16:creationId xmlns:a16="http://schemas.microsoft.com/office/drawing/2014/main" id="{9FD206F6-B6F3-86F5-B9E5-8DE9B99947B2}"/>
              </a:ext>
            </a:extLst>
          </p:cNvPr>
          <p:cNvSpPr/>
          <p:nvPr/>
        </p:nvSpPr>
        <p:spPr>
          <a:xfrm rot="1606666">
            <a:off x="2649608" y="5043281"/>
            <a:ext cx="748145" cy="262602"/>
          </a:xfrm>
          <a:prstGeom prst="rightArrow">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mc:AlternateContent xmlns:mc="http://schemas.openxmlformats.org/markup-compatibility/2006">
        <mc:Choice xmlns:a14="http://schemas.microsoft.com/office/drawing/2010/main" Requires="a14">
          <p:sp>
            <p:nvSpPr>
              <p:cNvPr id="86" name="矩形: 圆角 85">
                <a:extLst>
                  <a:ext uri="{FF2B5EF4-FFF2-40B4-BE49-F238E27FC236}">
                    <a16:creationId xmlns:a16="http://schemas.microsoft.com/office/drawing/2014/main" id="{EA279A4C-D0B1-CFCB-75A9-CF0F5D24F199}"/>
                  </a:ext>
                </a:extLst>
              </p:cNvPr>
              <p:cNvSpPr/>
              <p:nvPr/>
            </p:nvSpPr>
            <p:spPr>
              <a:xfrm>
                <a:off x="3465120" y="4551557"/>
                <a:ext cx="4409739" cy="2003422"/>
              </a:xfrm>
              <a:prstGeom prst="round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14:m>
                  <m:oMath xmlns:m="http://schemas.openxmlformats.org/officeDocument/2006/math">
                    <m:acc>
                      <m:accPr>
                        <m:chr m:val="̅"/>
                        <m:ctrlPr>
                          <a:rPr lang="en-US" altLang="zh-CN" i="1" smtClean="0">
                            <a:latin typeface="Cambria Math" panose="02040503050406030204" pitchFamily="18" charset="0"/>
                          </a:rPr>
                        </m:ctrlPr>
                      </m:accPr>
                      <m:e>
                        <m:r>
                          <a:rPr lang="en-US" altLang="zh-CN" i="1">
                            <a:latin typeface="Cambria Math" panose="02040503050406030204" pitchFamily="18" charset="0"/>
                          </a:rPr>
                          <m:t>𝑓</m:t>
                        </m:r>
                      </m:e>
                    </m:acc>
                    <m:d>
                      <m:dPr>
                        <m:ctrlPr>
                          <a:rPr lang="en-US" altLang="zh-CN" i="1">
                            <a:latin typeface="Cambria Math" panose="02040503050406030204" pitchFamily="18" charset="0"/>
                          </a:rPr>
                        </m:ctrlPr>
                      </m:dPr>
                      <m:e>
                        <m:r>
                          <a:rPr lang="en-US" altLang="zh-CN" i="1">
                            <a:latin typeface="Cambria Math" panose="02040503050406030204" pitchFamily="18" charset="0"/>
                          </a:rPr>
                          <m:t>𝑇</m:t>
                        </m:r>
                      </m:e>
                    </m:d>
                    <m:r>
                      <a:rPr lang="en-US" altLang="zh-CN" b="0" i="1" smtClean="0">
                        <a:latin typeface="Cambria Math" panose="02040503050406030204" pitchFamily="18" charset="0"/>
                      </a:rPr>
                      <m:t>≔</m:t>
                    </m:r>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𝑡</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sub>
                          <m:sup>
                            <m:r>
                              <a:rPr lang="en-US" altLang="zh-CN" b="0" i="1" smtClean="0">
                                <a:latin typeface="Cambria Math" panose="02040503050406030204" pitchFamily="18" charset="0"/>
                              </a:rPr>
                              <m:t>∗</m:t>
                            </m:r>
                          </m:sup>
                        </m:sSubSup>
                      </m:e>
                    </m:nary>
                  </m:oMath>
                </a14:m>
                <a:r>
                  <a:rPr lang="en-US" altLang="zh-CN" b="0" dirty="0"/>
                  <a:t> </a:t>
                </a:r>
                <a:r>
                  <a:rPr lang="en-US" altLang="zh-CN" dirty="0"/>
                  <a:t>, </a:t>
                </a:r>
                <a:r>
                  <a:rPr lang="en-US" altLang="zh-CN" b="0" dirty="0"/>
                  <a:t>w</a:t>
                </a:r>
                <a:r>
                  <a:rPr lang="en-US" altLang="zh-CN" dirty="0"/>
                  <a:t>here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𝑧</m:t>
                        </m:r>
                      </m:e>
                      <m:sup>
                        <m:r>
                          <a:rPr lang="en-US" altLang="zh-CN" b="0" i="1" smtClean="0">
                            <a:latin typeface="Cambria Math" panose="02040503050406030204" pitchFamily="18" charset="0"/>
                          </a:rPr>
                          <m:t>∗</m:t>
                        </m:r>
                      </m:sup>
                    </m:sSup>
                  </m:oMath>
                </a14:m>
                <a:r>
                  <a:rPr lang="en-US" altLang="zh-CN" b="0" dirty="0"/>
                  <a:t> is the optimal solution to</a:t>
                </a:r>
                <a14:m>
                  <m:oMath xmlns:m="http://schemas.openxmlformats.org/officeDocument/2006/math">
                    <m:func>
                      <m:funcPr>
                        <m:ctrlPr>
                          <a:rPr lang="en-US" altLang="zh-CN" i="1">
                            <a:latin typeface="Cambria Math" panose="02040503050406030204" pitchFamily="18" charset="0"/>
                          </a:rPr>
                        </m:ctrlPr>
                      </m:funcPr>
                      <m:fName>
                        <m:limLow>
                          <m:limLowPr>
                            <m:ctrlPr>
                              <a:rPr lang="en-US" altLang="zh-CN" i="1">
                                <a:latin typeface="Cambria Math" panose="02040503050406030204" pitchFamily="18" charset="0"/>
                              </a:rPr>
                            </m:ctrlPr>
                          </m:limLowPr>
                          <m:e>
                            <m:r>
                              <m:rPr>
                                <m:sty m:val="p"/>
                              </m:rPr>
                              <a:rPr lang="en-US" altLang="zh-CN">
                                <a:latin typeface="Cambria Math" panose="02040503050406030204" pitchFamily="18" charset="0"/>
                              </a:rPr>
                              <m:t>max</m:t>
                            </m:r>
                          </m:e>
                          <m:lim>
                            <m:sSub>
                              <m:sSubPr>
                                <m:ctrlPr>
                                  <a:rPr lang="en-US" altLang="zh-CN" i="1">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𝑢</m:t>
                                </m:r>
                              </m:sub>
                            </m:sSub>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sub>
                            </m:sSub>
                          </m:lim>
                        </m:limLow>
                      </m:fName>
                      <m:e>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𝑢</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𝑢</m:t>
                                </m:r>
                              </m:sub>
                            </m:sSub>
                          </m:e>
                        </m:nary>
                      </m:e>
                    </m:func>
                  </m:oMath>
                </a14:m>
                <a:r>
                  <a:rPr lang="en-US" altLang="zh-CN" dirty="0"/>
                  <a:t> </a:t>
                </a:r>
              </a:p>
              <a:p>
                <a:pPr algn="ctr"/>
                <a14:m>
                  <m:oMath xmlns:m="http://schemas.openxmlformats.org/officeDocument/2006/math">
                    <m:r>
                      <a:rPr lang="en-US" altLang="zh-CN" i="1">
                        <a:latin typeface="Cambria Math" panose="02040503050406030204" pitchFamily="18" charset="0"/>
                      </a:rPr>
                      <m:t>𝑠</m:t>
                    </m:r>
                    <m:r>
                      <a:rPr lang="en-US" altLang="zh-CN" i="1">
                        <a:latin typeface="Cambria Math" panose="02040503050406030204" pitchFamily="18" charset="0"/>
                      </a:rPr>
                      <m:t>.</m:t>
                    </m:r>
                    <m:r>
                      <a:rPr lang="en-US" altLang="zh-CN" i="1">
                        <a:latin typeface="Cambria Math" panose="02040503050406030204" pitchFamily="18" charset="0"/>
                      </a:rPr>
                      <m:t>𝑡</m:t>
                    </m:r>
                    <m:r>
                      <a:rPr lang="en-US" altLang="zh-CN" i="1">
                        <a:latin typeface="Cambria Math" panose="02040503050406030204" pitchFamily="18" charset="0"/>
                      </a:rPr>
                      <m:t>.  </m:t>
                    </m:r>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𝑓</m:t>
                        </m:r>
                      </m:sub>
                      <m:sup/>
                      <m:e>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nary>
                                  <m:naryPr>
                                    <m:chr m:val="∑"/>
                                    <m:supHide m:val="on"/>
                                    <m:ctrlPr>
                                      <a:rPr lang="en-US" altLang="zh-CN" b="0" i="1" smtClean="0">
                                        <a:latin typeface="Cambria Math" panose="02040503050406030204" pitchFamily="18" charset="0"/>
                                      </a:rPr>
                                    </m:ctrlPr>
                                  </m:naryPr>
                                  <m:sub>
                                    <m:r>
                                      <a:rPr lang="en-US" altLang="zh-CN" i="1">
                                        <a:latin typeface="Cambria Math" panose="02040503050406030204" pitchFamily="18" charset="0"/>
                                      </a:rPr>
                                      <m:t>𝑡</m:t>
                                    </m:r>
                                    <m:r>
                                      <a:rPr lang="en-US" altLang="zh-CN" i="1">
                                        <a:latin typeface="Cambria Math" panose="02040503050406030204" pitchFamily="18" charset="0"/>
                                      </a:rPr>
                                      <m:t>:</m:t>
                                    </m:r>
                                    <m:r>
                                      <a:rPr lang="en-US" altLang="zh-CN" i="1">
                                        <a:latin typeface="Cambria Math" panose="02040503050406030204" pitchFamily="18" charset="0"/>
                                      </a:rPr>
                                      <m:t>𝑢</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𝑡</m:t>
                                    </m:r>
                                  </m:sub>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𝑤</m:t>
                                        </m:r>
                                      </m:e>
                                      <m:sub>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sub>
                                    </m:sSub>
                                  </m:e>
                                </m:nary>
                              </m:e>
                            </m:d>
                          </m:e>
                          <m:sup>
                            <m:r>
                              <a:rPr lang="en-US" altLang="zh-CN" b="0" i="1" smtClean="0">
                                <a:latin typeface="Cambria Math" panose="02040503050406030204" pitchFamily="18" charset="0"/>
                              </a:rPr>
                              <m:t>2</m:t>
                            </m:r>
                          </m:sup>
                        </m:sSup>
                      </m:e>
                    </m:nary>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𝜏</m:t>
                        </m:r>
                      </m:e>
                      <m:sup>
                        <m:r>
                          <a:rPr lang="en-US" altLang="zh-CN" b="0" i="1" smtClean="0">
                            <a:latin typeface="Cambria Math" panose="02040503050406030204" pitchFamily="18" charset="0"/>
                          </a:rPr>
                          <m:t>2</m:t>
                        </m:r>
                      </m:sup>
                    </m:sSup>
                  </m:oMath>
                </a14:m>
                <a:r>
                  <a:rPr lang="en-US" altLang="zh-CN" dirty="0"/>
                  <a:t> for any </a:t>
                </a:r>
                <a14:m>
                  <m:oMath xmlns:m="http://schemas.openxmlformats.org/officeDocument/2006/math">
                    <m:r>
                      <a:rPr lang="en-US" altLang="zh-CN" i="1">
                        <a:latin typeface="Cambria Math" panose="02040503050406030204" pitchFamily="18" charset="0"/>
                      </a:rPr>
                      <m:t>𝑢</m:t>
                    </m:r>
                  </m:oMath>
                </a14:m>
                <a:endParaRPr lang="en-US" altLang="zh-CN" dirty="0"/>
              </a:p>
              <a:p>
                <a:pPr algn="ctr"/>
                <a14:m>
                  <m:oMath xmlns:m="http://schemas.openxmlformats.org/officeDocument/2006/math">
                    <m:nary>
                      <m:naryPr>
                        <m:chr m:val="∑"/>
                        <m:supHide m:val="on"/>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𝑢</m:t>
                        </m:r>
                        <m:r>
                          <a:rPr lang="en-US" altLang="zh-CN" i="1">
                            <a:latin typeface="Cambria Math" panose="02040503050406030204" pitchFamily="18" charset="0"/>
                          </a:rPr>
                          <m:t>:</m:t>
                        </m:r>
                        <m:r>
                          <a:rPr lang="en-US" altLang="zh-CN" i="1">
                            <a:latin typeface="Cambria Math" panose="02040503050406030204" pitchFamily="18" charset="0"/>
                          </a:rPr>
                          <m:t>𝑢</m:t>
                        </m:r>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𝑡</m:t>
                        </m:r>
                      </m:sub>
                      <m:sup/>
                      <m:e>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𝑢</m:t>
                                </m:r>
                              </m:sub>
                            </m:sSub>
                            <m:r>
                              <a:rPr lang="en-US" altLang="zh-CN" b="0" i="1" smtClean="0">
                                <a:latin typeface="Cambria Math" panose="02040503050406030204" pitchFamily="18" charset="0"/>
                              </a:rPr>
                              <m:t>−1</m:t>
                            </m:r>
                          </m:e>
                        </m:d>
                      </m:e>
                    </m:nary>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−1</m:t>
                    </m:r>
                  </m:oMath>
                </a14:m>
                <a:r>
                  <a:rPr lang="en-US" altLang="zh-CN" dirty="0"/>
                  <a:t> for any </a:t>
                </a:r>
                <a14:m>
                  <m:oMath xmlns:m="http://schemas.openxmlformats.org/officeDocument/2006/math">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oMath>
                </a14:m>
                <a:r>
                  <a:rPr lang="en-US" altLang="zh-CN" dirty="0"/>
                  <a:t> </a:t>
                </a:r>
              </a:p>
              <a:p>
                <a:pPr algn="ctr"/>
                <a14:m>
                  <m:oMath xmlns:m="http://schemas.openxmlformats.org/officeDocument/2006/math">
                    <m:r>
                      <a:rPr lang="en-US" altLang="zh-CN" i="1">
                        <a:latin typeface="Cambria Math" panose="02040503050406030204" pitchFamily="18" charset="0"/>
                      </a:rPr>
                      <m:t>0≤</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𝑦</m:t>
                        </m:r>
                      </m:e>
                      <m:sub>
                        <m:r>
                          <a:rPr lang="en-US" altLang="zh-CN" b="0" i="1" smtClean="0">
                            <a:latin typeface="Cambria Math" panose="02040503050406030204" pitchFamily="18" charset="0"/>
                          </a:rPr>
                          <m:t>𝑢</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𝑧</m:t>
                        </m:r>
                      </m:e>
                      <m:sub>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sub>
                    </m:sSub>
                    <m:r>
                      <a:rPr lang="en-US" altLang="zh-CN" b="0" i="1" smtClean="0">
                        <a:latin typeface="Cambria Math" panose="02040503050406030204" pitchFamily="18" charset="0"/>
                      </a:rPr>
                      <m:t>≤1</m:t>
                    </m:r>
                  </m:oMath>
                </a14:m>
                <a:r>
                  <a:rPr lang="en-US" altLang="zh-CN" dirty="0"/>
                  <a:t> for any </a:t>
                </a:r>
                <a14:m>
                  <m:oMath xmlns:m="http://schemas.openxmlformats.org/officeDocument/2006/math">
                    <m:r>
                      <a:rPr lang="en-US" altLang="zh-CN" b="0" i="1" smtClean="0">
                        <a:latin typeface="Cambria Math" panose="02040503050406030204" pitchFamily="18" charset="0"/>
                      </a:rPr>
                      <m:t>𝑢</m:t>
                    </m:r>
                    <m:r>
                      <a:rPr lang="en-US" altLang="zh-CN" b="0" i="1" smtClean="0">
                        <a:latin typeface="Cambria Math" panose="02040503050406030204" pitchFamily="18" charset="0"/>
                      </a:rPr>
                      <m:t>,</m:t>
                    </m:r>
                    <m:r>
                      <a:rPr lang="en-US" altLang="zh-CN" b="0" i="1" smtClean="0">
                        <a:latin typeface="Cambria Math" panose="02040503050406030204" pitchFamily="18" charset="0"/>
                      </a:rPr>
                      <m:t>𝑓</m:t>
                    </m:r>
                    <m:r>
                      <a:rPr lang="en-US" altLang="zh-CN" b="0" i="1" smtClean="0">
                        <a:latin typeface="Cambria Math" panose="02040503050406030204" pitchFamily="18" charset="0"/>
                      </a:rPr>
                      <m:t>,</m:t>
                    </m:r>
                    <m:r>
                      <a:rPr lang="en-US" altLang="zh-CN" b="0" i="1" smtClean="0">
                        <a:latin typeface="Cambria Math" panose="02040503050406030204" pitchFamily="18" charset="0"/>
                      </a:rPr>
                      <m:t>𝑡</m:t>
                    </m:r>
                  </m:oMath>
                </a14:m>
                <a:endParaRPr lang="en-US" altLang="zh-CN" dirty="0"/>
              </a:p>
            </p:txBody>
          </p:sp>
        </mc:Choice>
        <mc:Fallback>
          <p:sp>
            <p:nvSpPr>
              <p:cNvPr id="86" name="矩形: 圆角 85">
                <a:extLst>
                  <a:ext uri="{FF2B5EF4-FFF2-40B4-BE49-F238E27FC236}">
                    <a16:creationId xmlns:a16="http://schemas.microsoft.com/office/drawing/2014/main" id="{EA279A4C-D0B1-CFCB-75A9-CF0F5D24F199}"/>
                  </a:ext>
                </a:extLst>
              </p:cNvPr>
              <p:cNvSpPr>
                <a:spLocks noRot="1" noChangeAspect="1" noMove="1" noResize="1" noEditPoints="1" noAdjustHandles="1" noChangeArrowheads="1" noChangeShapeType="1" noTextEdit="1"/>
              </p:cNvSpPr>
              <p:nvPr/>
            </p:nvSpPr>
            <p:spPr>
              <a:xfrm>
                <a:off x="3465120" y="4551557"/>
                <a:ext cx="4409739" cy="2003422"/>
              </a:xfrm>
              <a:prstGeom prst="roundRect">
                <a:avLst/>
              </a:prstGeom>
              <a:blipFill>
                <a:blip r:embed="rId8"/>
                <a:stretch>
                  <a:fillRect l="-275" t="-16061" b="-13333"/>
                </a:stretch>
              </a:blipFill>
              <a:ln/>
            </p:spPr>
            <p:txBody>
              <a:bodyPr/>
              <a:lstStyle/>
              <a:p>
                <a:r>
                  <a:rPr lang="zh-CN" altLang="en-US">
                    <a:noFill/>
                  </a:rPr>
                  <a:t> </a:t>
                </a:r>
              </a:p>
            </p:txBody>
          </p:sp>
        </mc:Fallback>
      </mc:AlternateContent>
      <p:sp>
        <p:nvSpPr>
          <p:cNvPr id="87" name="箭头: 右 86">
            <a:extLst>
              <a:ext uri="{FF2B5EF4-FFF2-40B4-BE49-F238E27FC236}">
                <a16:creationId xmlns:a16="http://schemas.microsoft.com/office/drawing/2014/main" id="{E91940A7-F1E3-7416-0055-821CA549C338}"/>
              </a:ext>
            </a:extLst>
          </p:cNvPr>
          <p:cNvSpPr/>
          <p:nvPr/>
        </p:nvSpPr>
        <p:spPr>
          <a:xfrm rot="19993334" flipV="1">
            <a:off x="2649609" y="4245104"/>
            <a:ext cx="748145" cy="262602"/>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pic>
        <p:nvPicPr>
          <p:cNvPr id="88" name="图形 87" descr="女性形象 纯色填充">
            <a:extLst>
              <a:ext uri="{FF2B5EF4-FFF2-40B4-BE49-F238E27FC236}">
                <a16:creationId xmlns:a16="http://schemas.microsoft.com/office/drawing/2014/main" id="{D4E27A5C-28FF-2CB6-DE57-086457256BB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15375" y="3319373"/>
            <a:ext cx="387531" cy="387531"/>
          </a:xfrm>
          <a:prstGeom prst="rect">
            <a:avLst/>
          </a:prstGeom>
        </p:spPr>
      </p:pic>
      <p:pic>
        <p:nvPicPr>
          <p:cNvPr id="91" name="图形 90" descr="男性形象 纯色填充">
            <a:extLst>
              <a:ext uri="{FF2B5EF4-FFF2-40B4-BE49-F238E27FC236}">
                <a16:creationId xmlns:a16="http://schemas.microsoft.com/office/drawing/2014/main" id="{25B39408-AFA2-9ABE-FF17-C84B11CFB47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58245" y="3319373"/>
            <a:ext cx="387531" cy="387531"/>
          </a:xfrm>
          <a:prstGeom prst="rect">
            <a:avLst/>
          </a:prstGeom>
        </p:spPr>
      </p:pic>
      <p:pic>
        <p:nvPicPr>
          <p:cNvPr id="93" name="图形 92" descr="用户 纯色填充">
            <a:extLst>
              <a:ext uri="{FF2B5EF4-FFF2-40B4-BE49-F238E27FC236}">
                <a16:creationId xmlns:a16="http://schemas.microsoft.com/office/drawing/2014/main" id="{9F199756-8D25-07E1-B265-B603F115B4E4}"/>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401115" y="3307545"/>
            <a:ext cx="411187" cy="411187"/>
          </a:xfrm>
          <a:prstGeom prst="rect">
            <a:avLst/>
          </a:prstGeom>
        </p:spPr>
      </p:pic>
      <p:cxnSp>
        <p:nvCxnSpPr>
          <p:cNvPr id="94" name="直接连接符 93">
            <a:extLst>
              <a:ext uri="{FF2B5EF4-FFF2-40B4-BE49-F238E27FC236}">
                <a16:creationId xmlns:a16="http://schemas.microsoft.com/office/drawing/2014/main" id="{64066112-3B10-3B99-429A-33C6DED08BF8}"/>
              </a:ext>
            </a:extLst>
          </p:cNvPr>
          <p:cNvCxnSpPr>
            <a:cxnSpLocks/>
            <a:stCxn id="88" idx="3"/>
            <a:endCxn id="91" idx="1"/>
          </p:cNvCxnSpPr>
          <p:nvPr/>
        </p:nvCxnSpPr>
        <p:spPr>
          <a:xfrm>
            <a:off x="8302906" y="3513139"/>
            <a:ext cx="355339"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97" name="直接连接符 96">
            <a:extLst>
              <a:ext uri="{FF2B5EF4-FFF2-40B4-BE49-F238E27FC236}">
                <a16:creationId xmlns:a16="http://schemas.microsoft.com/office/drawing/2014/main" id="{5B9FE71A-1AD6-1CAC-DA41-1F7529123FB4}"/>
              </a:ext>
            </a:extLst>
          </p:cNvPr>
          <p:cNvCxnSpPr>
            <a:cxnSpLocks/>
            <a:stCxn id="91" idx="3"/>
            <a:endCxn id="93" idx="1"/>
          </p:cNvCxnSpPr>
          <p:nvPr/>
        </p:nvCxnSpPr>
        <p:spPr>
          <a:xfrm>
            <a:off x="9045776" y="3513139"/>
            <a:ext cx="355339" cy="0"/>
          </a:xfrm>
          <a:prstGeom prst="line">
            <a:avLst/>
          </a:prstGeom>
          <a:ln>
            <a:prstDash val="sysDot"/>
          </a:ln>
        </p:spPr>
        <p:style>
          <a:lnRef idx="2">
            <a:schemeClr val="accent1"/>
          </a:lnRef>
          <a:fillRef idx="0">
            <a:schemeClr val="accent1"/>
          </a:fillRef>
          <a:effectRef idx="1">
            <a:schemeClr val="accent1"/>
          </a:effectRef>
          <a:fontRef idx="minor">
            <a:schemeClr val="tx1"/>
          </a:fontRef>
        </p:style>
      </p:cxnSp>
      <p:pic>
        <p:nvPicPr>
          <p:cNvPr id="102" name="图形 101" descr="女性形象 纯色填充">
            <a:extLst>
              <a:ext uri="{FF2B5EF4-FFF2-40B4-BE49-F238E27FC236}">
                <a16:creationId xmlns:a16="http://schemas.microsoft.com/office/drawing/2014/main" id="{50D7BC8C-FD35-8368-3F0C-16653762F9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67641" y="3322319"/>
            <a:ext cx="387531" cy="387531"/>
          </a:xfrm>
          <a:prstGeom prst="rect">
            <a:avLst/>
          </a:prstGeom>
        </p:spPr>
      </p:pic>
      <p:cxnSp>
        <p:nvCxnSpPr>
          <p:cNvPr id="103" name="直接连接符 102">
            <a:extLst>
              <a:ext uri="{FF2B5EF4-FFF2-40B4-BE49-F238E27FC236}">
                <a16:creationId xmlns:a16="http://schemas.microsoft.com/office/drawing/2014/main" id="{F3BA8DDE-3115-91FA-322D-A507567AE5B4}"/>
              </a:ext>
            </a:extLst>
          </p:cNvPr>
          <p:cNvCxnSpPr>
            <a:cxnSpLocks/>
            <a:stCxn id="102" idx="1"/>
            <a:endCxn id="93" idx="3"/>
          </p:cNvCxnSpPr>
          <p:nvPr/>
        </p:nvCxnSpPr>
        <p:spPr>
          <a:xfrm flipH="1" flipV="1">
            <a:off x="9812302" y="3513139"/>
            <a:ext cx="355339" cy="2946"/>
          </a:xfrm>
          <a:prstGeom prst="line">
            <a:avLst/>
          </a:prstGeom>
        </p:spPr>
        <p:style>
          <a:lnRef idx="2">
            <a:schemeClr val="accent1"/>
          </a:lnRef>
          <a:fillRef idx="0">
            <a:schemeClr val="accent1"/>
          </a:fillRef>
          <a:effectRef idx="1">
            <a:schemeClr val="accent1"/>
          </a:effectRef>
          <a:fontRef idx="minor">
            <a:schemeClr val="tx1"/>
          </a:fontRef>
        </p:style>
      </p:cxnSp>
      <p:sp>
        <p:nvSpPr>
          <p:cNvPr id="108" name="箭头: 右 107">
            <a:extLst>
              <a:ext uri="{FF2B5EF4-FFF2-40B4-BE49-F238E27FC236}">
                <a16:creationId xmlns:a16="http://schemas.microsoft.com/office/drawing/2014/main" id="{4DCA55D9-AFD8-36C8-3F61-23CA95F8FCCA}"/>
              </a:ext>
            </a:extLst>
          </p:cNvPr>
          <p:cNvSpPr/>
          <p:nvPr/>
        </p:nvSpPr>
        <p:spPr>
          <a:xfrm>
            <a:off x="6841799" y="2326450"/>
            <a:ext cx="748145" cy="262602"/>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109" name="箭头: 右 108">
            <a:extLst>
              <a:ext uri="{FF2B5EF4-FFF2-40B4-BE49-F238E27FC236}">
                <a16:creationId xmlns:a16="http://schemas.microsoft.com/office/drawing/2014/main" id="{4BAF79CA-7026-F8F2-E368-25500F700C9D}"/>
              </a:ext>
            </a:extLst>
          </p:cNvPr>
          <p:cNvSpPr/>
          <p:nvPr/>
        </p:nvSpPr>
        <p:spPr>
          <a:xfrm flipV="1">
            <a:off x="6841800" y="3444466"/>
            <a:ext cx="748145" cy="262602"/>
          </a:xfrm>
          <a:prstGeom prst="rightArrow">
            <a:avLst/>
          </a:prstGeom>
        </p:spPr>
        <p:style>
          <a:lnRef idx="1">
            <a:schemeClr val="accent3"/>
          </a:lnRef>
          <a:fillRef idx="2">
            <a:schemeClr val="accent3"/>
          </a:fillRef>
          <a:effectRef idx="1">
            <a:schemeClr val="accent3"/>
          </a:effectRef>
          <a:fontRef idx="minor">
            <a:schemeClr val="dk1"/>
          </a:fontRef>
        </p:style>
        <p:txBody>
          <a:bodyPr rtlCol="0" anchor="ctr"/>
          <a:lstStyle/>
          <a:p>
            <a:pPr algn="ctr"/>
            <a:endParaRPr lang="zh-CN" altLang="en-US"/>
          </a:p>
        </p:txBody>
      </p:sp>
      <p:sp>
        <p:nvSpPr>
          <p:cNvPr id="110" name="矩形: 圆角 109">
            <a:extLst>
              <a:ext uri="{FF2B5EF4-FFF2-40B4-BE49-F238E27FC236}">
                <a16:creationId xmlns:a16="http://schemas.microsoft.com/office/drawing/2014/main" id="{499997DB-5F84-A32A-7375-F51EB7A440DD}"/>
              </a:ext>
            </a:extLst>
          </p:cNvPr>
          <p:cNvSpPr/>
          <p:nvPr/>
        </p:nvSpPr>
        <p:spPr>
          <a:xfrm>
            <a:off x="8305510" y="2701655"/>
            <a:ext cx="1913886"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(truncate 5 to 1)</a:t>
            </a:r>
            <a:endParaRPr lang="zh-CN" altLang="en-US" sz="1400" dirty="0"/>
          </a:p>
        </p:txBody>
      </p:sp>
      <p:sp>
        <p:nvSpPr>
          <p:cNvPr id="111" name="矩形: 圆角 110">
            <a:extLst>
              <a:ext uri="{FF2B5EF4-FFF2-40B4-BE49-F238E27FC236}">
                <a16:creationId xmlns:a16="http://schemas.microsoft.com/office/drawing/2014/main" id="{688CB660-18AB-718F-9D6F-435D4DD3626E}"/>
              </a:ext>
            </a:extLst>
          </p:cNvPr>
          <p:cNvSpPr/>
          <p:nvPr/>
        </p:nvSpPr>
        <p:spPr>
          <a:xfrm>
            <a:off x="8199041" y="3718026"/>
            <a:ext cx="2121616"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(truncate the middle edge)</a:t>
            </a:r>
            <a:endParaRPr lang="zh-CN" altLang="en-US" sz="1400" dirty="0"/>
          </a:p>
        </p:txBody>
      </p:sp>
      <p:pic>
        <p:nvPicPr>
          <p:cNvPr id="112" name="图形 111" descr="女性形象 纯色填充">
            <a:extLst>
              <a:ext uri="{FF2B5EF4-FFF2-40B4-BE49-F238E27FC236}">
                <a16:creationId xmlns:a16="http://schemas.microsoft.com/office/drawing/2014/main" id="{15E76973-707E-F473-1E39-DB2922EDA58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15375" y="4888830"/>
            <a:ext cx="387531" cy="387531"/>
          </a:xfrm>
          <a:prstGeom prst="rect">
            <a:avLst/>
          </a:prstGeom>
        </p:spPr>
      </p:pic>
      <p:pic>
        <p:nvPicPr>
          <p:cNvPr id="113" name="图形 112" descr="男性形象 纯色填充">
            <a:extLst>
              <a:ext uri="{FF2B5EF4-FFF2-40B4-BE49-F238E27FC236}">
                <a16:creationId xmlns:a16="http://schemas.microsoft.com/office/drawing/2014/main" id="{052F349B-69B7-1FF2-7446-5969BE911206}"/>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58245" y="4888830"/>
            <a:ext cx="387531" cy="387531"/>
          </a:xfrm>
          <a:prstGeom prst="rect">
            <a:avLst/>
          </a:prstGeom>
        </p:spPr>
      </p:pic>
      <p:pic>
        <p:nvPicPr>
          <p:cNvPr id="114" name="图形 113" descr="用户 纯色填充">
            <a:extLst>
              <a:ext uri="{FF2B5EF4-FFF2-40B4-BE49-F238E27FC236}">
                <a16:creationId xmlns:a16="http://schemas.microsoft.com/office/drawing/2014/main" id="{94C92BF1-3D7B-B831-4608-EE7C1E7AECCB}"/>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401115" y="4877002"/>
            <a:ext cx="411187" cy="411187"/>
          </a:xfrm>
          <a:prstGeom prst="rect">
            <a:avLst/>
          </a:prstGeom>
        </p:spPr>
      </p:pic>
      <p:cxnSp>
        <p:nvCxnSpPr>
          <p:cNvPr id="115" name="直接连接符 114">
            <a:extLst>
              <a:ext uri="{FF2B5EF4-FFF2-40B4-BE49-F238E27FC236}">
                <a16:creationId xmlns:a16="http://schemas.microsoft.com/office/drawing/2014/main" id="{50A1DE2A-4966-5317-40F3-FA9C147250DC}"/>
              </a:ext>
            </a:extLst>
          </p:cNvPr>
          <p:cNvCxnSpPr>
            <a:cxnSpLocks/>
            <a:stCxn id="112" idx="3"/>
            <a:endCxn id="113" idx="1"/>
          </p:cNvCxnSpPr>
          <p:nvPr/>
        </p:nvCxnSpPr>
        <p:spPr>
          <a:xfrm>
            <a:off x="8302906" y="5082596"/>
            <a:ext cx="355339" cy="0"/>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p:cxnSp>
        <p:nvCxnSpPr>
          <p:cNvPr id="116" name="直接连接符 115">
            <a:extLst>
              <a:ext uri="{FF2B5EF4-FFF2-40B4-BE49-F238E27FC236}">
                <a16:creationId xmlns:a16="http://schemas.microsoft.com/office/drawing/2014/main" id="{9ABEFB1B-C81C-321D-E6CF-E6205EFBB8CE}"/>
              </a:ext>
            </a:extLst>
          </p:cNvPr>
          <p:cNvCxnSpPr>
            <a:cxnSpLocks/>
            <a:stCxn id="113" idx="3"/>
            <a:endCxn id="114" idx="1"/>
          </p:cNvCxnSpPr>
          <p:nvPr/>
        </p:nvCxnSpPr>
        <p:spPr>
          <a:xfrm>
            <a:off x="9045776" y="5082596"/>
            <a:ext cx="355339" cy="0"/>
          </a:xfrm>
          <a:prstGeom prst="line">
            <a:avLst/>
          </a:prstGeom>
          <a:ln>
            <a:solidFill>
              <a:srgbClr val="0070C0"/>
            </a:solidFill>
            <a:prstDash val="solid"/>
          </a:ln>
        </p:spPr>
        <p:style>
          <a:lnRef idx="2">
            <a:schemeClr val="accent1"/>
          </a:lnRef>
          <a:fillRef idx="0">
            <a:schemeClr val="accent1"/>
          </a:fillRef>
          <a:effectRef idx="1">
            <a:schemeClr val="accent1"/>
          </a:effectRef>
          <a:fontRef idx="minor">
            <a:schemeClr val="tx1"/>
          </a:fontRef>
        </p:style>
      </p:cxnSp>
      <p:pic>
        <p:nvPicPr>
          <p:cNvPr id="117" name="图形 116" descr="女性形象 纯色填充">
            <a:extLst>
              <a:ext uri="{FF2B5EF4-FFF2-40B4-BE49-F238E27FC236}">
                <a16:creationId xmlns:a16="http://schemas.microsoft.com/office/drawing/2014/main" id="{B4319E89-C5CC-0998-2128-2D12634771D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67641" y="4891776"/>
            <a:ext cx="387531" cy="387531"/>
          </a:xfrm>
          <a:prstGeom prst="rect">
            <a:avLst/>
          </a:prstGeom>
        </p:spPr>
      </p:pic>
      <p:cxnSp>
        <p:nvCxnSpPr>
          <p:cNvPr id="118" name="直接连接符 117">
            <a:extLst>
              <a:ext uri="{FF2B5EF4-FFF2-40B4-BE49-F238E27FC236}">
                <a16:creationId xmlns:a16="http://schemas.microsoft.com/office/drawing/2014/main" id="{495C3425-2036-193F-2292-47B2606A7CC8}"/>
              </a:ext>
            </a:extLst>
          </p:cNvPr>
          <p:cNvCxnSpPr>
            <a:cxnSpLocks/>
            <a:stCxn id="117" idx="1"/>
            <a:endCxn id="114" idx="3"/>
          </p:cNvCxnSpPr>
          <p:nvPr/>
        </p:nvCxnSpPr>
        <p:spPr>
          <a:xfrm flipH="1" flipV="1">
            <a:off x="9812302" y="5082596"/>
            <a:ext cx="355339" cy="2946"/>
          </a:xfrm>
          <a:prstGeom prst="line">
            <a:avLst/>
          </a:prstGeom>
          <a:ln>
            <a:solidFill>
              <a:srgbClr val="C00000"/>
            </a:solidFill>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120" name="矩形: 圆角 119">
                <a:extLst>
                  <a:ext uri="{FF2B5EF4-FFF2-40B4-BE49-F238E27FC236}">
                    <a16:creationId xmlns:a16="http://schemas.microsoft.com/office/drawing/2014/main" id="{29F0237C-E8DB-E9D7-B427-8A11C930C28E}"/>
                  </a:ext>
                </a:extLst>
              </p:cNvPr>
              <p:cNvSpPr/>
              <p:nvPr/>
            </p:nvSpPr>
            <p:spPr>
              <a:xfrm>
                <a:off x="8735251" y="4444125"/>
                <a:ext cx="411187"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400" b="0" i="1" smtClean="0">
                              <a:solidFill>
                                <a:srgbClr val="C00000"/>
                              </a:solidFill>
                              <a:latin typeface="Cambria Math" panose="02040503050406030204" pitchFamily="18" charset="0"/>
                            </a:rPr>
                          </m:ctrlPr>
                        </m:sSubPr>
                        <m:e>
                          <m:r>
                            <a:rPr lang="en-US" altLang="zh-CN" sz="1400" b="0" i="1" smtClean="0">
                              <a:solidFill>
                                <a:srgbClr val="C00000"/>
                              </a:solidFill>
                              <a:latin typeface="Cambria Math" panose="02040503050406030204" pitchFamily="18" charset="0"/>
                            </a:rPr>
                            <m:t>𝑓</m:t>
                          </m:r>
                        </m:e>
                        <m:sub>
                          <m:r>
                            <a:rPr lang="en-US" altLang="zh-CN" sz="1400" b="0" i="1" smtClean="0">
                              <a:solidFill>
                                <a:srgbClr val="C00000"/>
                              </a:solidFill>
                              <a:latin typeface="Cambria Math" panose="02040503050406030204" pitchFamily="18" charset="0"/>
                            </a:rPr>
                            <m:t>1</m:t>
                          </m:r>
                        </m:sub>
                      </m:sSub>
                    </m:oMath>
                  </m:oMathPara>
                </a14:m>
                <a:endParaRPr lang="zh-CN" altLang="en-US" sz="1400" dirty="0"/>
              </a:p>
            </p:txBody>
          </p:sp>
        </mc:Choice>
        <mc:Fallback>
          <p:sp>
            <p:nvSpPr>
              <p:cNvPr id="120" name="矩形: 圆角 119">
                <a:extLst>
                  <a:ext uri="{FF2B5EF4-FFF2-40B4-BE49-F238E27FC236}">
                    <a16:creationId xmlns:a16="http://schemas.microsoft.com/office/drawing/2014/main" id="{29F0237C-E8DB-E9D7-B427-8A11C930C28E}"/>
                  </a:ext>
                </a:extLst>
              </p:cNvPr>
              <p:cNvSpPr>
                <a:spLocks noRot="1" noChangeAspect="1" noMove="1" noResize="1" noEditPoints="1" noAdjustHandles="1" noChangeArrowheads="1" noChangeShapeType="1" noTextEdit="1"/>
              </p:cNvSpPr>
              <p:nvPr/>
            </p:nvSpPr>
            <p:spPr>
              <a:xfrm>
                <a:off x="8735251" y="4444125"/>
                <a:ext cx="411187" cy="433583"/>
              </a:xfrm>
              <a:prstGeom prst="roundRect">
                <a:avLst/>
              </a:prstGeom>
              <a:blipFill>
                <a:blip r:embed="rId13"/>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23" name="矩形: 圆角 122">
                <a:extLst>
                  <a:ext uri="{FF2B5EF4-FFF2-40B4-BE49-F238E27FC236}">
                    <a16:creationId xmlns:a16="http://schemas.microsoft.com/office/drawing/2014/main" id="{A5CADE6A-CDF2-8100-47D2-4AEA2CF936FB}"/>
                  </a:ext>
                </a:extLst>
              </p:cNvPr>
              <p:cNvSpPr/>
              <p:nvPr/>
            </p:nvSpPr>
            <p:spPr>
              <a:xfrm>
                <a:off x="9288645" y="4445957"/>
                <a:ext cx="411187"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altLang="zh-CN" sz="1400" b="0" i="1" smtClean="0">
                              <a:solidFill>
                                <a:srgbClr val="0070C0"/>
                              </a:solidFill>
                              <a:latin typeface="Cambria Math" panose="02040503050406030204" pitchFamily="18" charset="0"/>
                            </a:rPr>
                          </m:ctrlPr>
                        </m:sSubPr>
                        <m:e>
                          <m:r>
                            <a:rPr lang="en-US" altLang="zh-CN" sz="1400" b="0" i="1" smtClean="0">
                              <a:solidFill>
                                <a:srgbClr val="0070C0"/>
                              </a:solidFill>
                              <a:latin typeface="Cambria Math" panose="02040503050406030204" pitchFamily="18" charset="0"/>
                            </a:rPr>
                            <m:t>𝑓</m:t>
                          </m:r>
                        </m:e>
                        <m:sub>
                          <m:r>
                            <a:rPr lang="en-US" altLang="zh-CN" sz="1400" b="0" i="1" smtClean="0">
                              <a:solidFill>
                                <a:srgbClr val="0070C0"/>
                              </a:solidFill>
                              <a:latin typeface="Cambria Math" panose="02040503050406030204" pitchFamily="18" charset="0"/>
                            </a:rPr>
                            <m:t>2</m:t>
                          </m:r>
                        </m:sub>
                      </m:sSub>
                    </m:oMath>
                  </m:oMathPara>
                </a14:m>
                <a:endParaRPr lang="zh-CN" altLang="en-US" sz="1400" dirty="0"/>
              </a:p>
            </p:txBody>
          </p:sp>
        </mc:Choice>
        <mc:Fallback>
          <p:sp>
            <p:nvSpPr>
              <p:cNvPr id="123" name="矩形: 圆角 122">
                <a:extLst>
                  <a:ext uri="{FF2B5EF4-FFF2-40B4-BE49-F238E27FC236}">
                    <a16:creationId xmlns:a16="http://schemas.microsoft.com/office/drawing/2014/main" id="{A5CADE6A-CDF2-8100-47D2-4AEA2CF936FB}"/>
                  </a:ext>
                </a:extLst>
              </p:cNvPr>
              <p:cNvSpPr>
                <a:spLocks noRot="1" noChangeAspect="1" noMove="1" noResize="1" noEditPoints="1" noAdjustHandles="1" noChangeArrowheads="1" noChangeShapeType="1" noTextEdit="1"/>
              </p:cNvSpPr>
              <p:nvPr/>
            </p:nvSpPr>
            <p:spPr>
              <a:xfrm>
                <a:off x="9288645" y="4445957"/>
                <a:ext cx="411187" cy="433583"/>
              </a:xfrm>
              <a:prstGeom prst="roundRect">
                <a:avLst/>
              </a:prstGeom>
              <a:blipFill>
                <a:blip r:embed="rId14"/>
                <a:stretch>
                  <a:fillRect/>
                </a:stretch>
              </a:blipFill>
              <a:ln>
                <a:noFill/>
              </a:ln>
            </p:spPr>
            <p:txBody>
              <a:bodyPr/>
              <a:lstStyle/>
              <a:p>
                <a:r>
                  <a:rPr lang="zh-CN" altLang="en-US">
                    <a:noFill/>
                  </a:rPr>
                  <a:t> </a:t>
                </a:r>
              </a:p>
            </p:txBody>
          </p:sp>
        </mc:Fallback>
      </mc:AlternateContent>
      <p:cxnSp>
        <p:nvCxnSpPr>
          <p:cNvPr id="125" name="连接符: 肘形 124">
            <a:extLst>
              <a:ext uri="{FF2B5EF4-FFF2-40B4-BE49-F238E27FC236}">
                <a16:creationId xmlns:a16="http://schemas.microsoft.com/office/drawing/2014/main" id="{6C949EFD-D88C-C1E1-6C21-1A8DE51DFAA0}"/>
              </a:ext>
            </a:extLst>
          </p:cNvPr>
          <p:cNvCxnSpPr>
            <a:endCxn id="120" idx="1"/>
          </p:cNvCxnSpPr>
          <p:nvPr/>
        </p:nvCxnSpPr>
        <p:spPr>
          <a:xfrm rot="5400000" flipH="1" flipV="1">
            <a:off x="8390286" y="4737631"/>
            <a:ext cx="421678" cy="268251"/>
          </a:xfrm>
          <a:prstGeom prst="bentConnector2">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26" name="连接符: 肘形 125">
            <a:extLst>
              <a:ext uri="{FF2B5EF4-FFF2-40B4-BE49-F238E27FC236}">
                <a16:creationId xmlns:a16="http://schemas.microsoft.com/office/drawing/2014/main" id="{7BD981C3-AFE9-B4E2-CBD8-414384A33DEF}"/>
              </a:ext>
            </a:extLst>
          </p:cNvPr>
          <p:cNvCxnSpPr>
            <a:cxnSpLocks/>
          </p:cNvCxnSpPr>
          <p:nvPr/>
        </p:nvCxnSpPr>
        <p:spPr>
          <a:xfrm rot="10800000">
            <a:off x="8899345" y="4509743"/>
            <a:ext cx="1090627" cy="572852"/>
          </a:xfrm>
          <a:prstGeom prst="bentConnector3">
            <a:avLst>
              <a:gd name="adj1" fmla="val -215"/>
            </a:avLst>
          </a:prstGeom>
          <a:ln>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132" name="连接符: 肘形 131">
            <a:extLst>
              <a:ext uri="{FF2B5EF4-FFF2-40B4-BE49-F238E27FC236}">
                <a16:creationId xmlns:a16="http://schemas.microsoft.com/office/drawing/2014/main" id="{90E9ACBE-C1AC-7ABB-5700-D0DE5FDAE27B}"/>
              </a:ext>
            </a:extLst>
          </p:cNvPr>
          <p:cNvCxnSpPr>
            <a:cxnSpLocks/>
          </p:cNvCxnSpPr>
          <p:nvPr/>
        </p:nvCxnSpPr>
        <p:spPr>
          <a:xfrm rot="5400000" flipH="1" flipV="1">
            <a:off x="9195310" y="4819829"/>
            <a:ext cx="285311" cy="237994"/>
          </a:xfrm>
          <a:prstGeom prst="bentConnector3">
            <a:avLst>
              <a:gd name="adj1" fmla="val 50000"/>
            </a:avLst>
          </a:prstGeom>
          <a:ln>
            <a:solidFill>
              <a:srgbClr val="0070C0"/>
            </a:solidFill>
            <a:tailEnd type="triangle"/>
          </a:ln>
        </p:spPr>
        <p:style>
          <a:lnRef idx="2">
            <a:schemeClr val="accent1"/>
          </a:lnRef>
          <a:fillRef idx="0">
            <a:schemeClr val="accent1"/>
          </a:fillRef>
          <a:effectRef idx="1">
            <a:schemeClr val="accent1"/>
          </a:effectRef>
          <a:fontRef idx="minor">
            <a:schemeClr val="tx1"/>
          </a:fontRef>
        </p:style>
      </p:cxnSp>
      <p:pic>
        <p:nvPicPr>
          <p:cNvPr id="136" name="图形 135" descr="女性形象 纯色填充">
            <a:extLst>
              <a:ext uri="{FF2B5EF4-FFF2-40B4-BE49-F238E27FC236}">
                <a16:creationId xmlns:a16="http://schemas.microsoft.com/office/drawing/2014/main" id="{9F13F347-2EEB-D12D-5DB0-B0992560E7E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15375" y="5750723"/>
            <a:ext cx="387531" cy="387531"/>
          </a:xfrm>
          <a:prstGeom prst="rect">
            <a:avLst/>
          </a:prstGeom>
        </p:spPr>
      </p:pic>
      <p:pic>
        <p:nvPicPr>
          <p:cNvPr id="137" name="图形 136" descr="男性形象 纯色填充">
            <a:extLst>
              <a:ext uri="{FF2B5EF4-FFF2-40B4-BE49-F238E27FC236}">
                <a16:creationId xmlns:a16="http://schemas.microsoft.com/office/drawing/2014/main" id="{D19566DC-4715-5AD3-8456-D08293E8DBE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58245" y="5750723"/>
            <a:ext cx="387531" cy="387531"/>
          </a:xfrm>
          <a:prstGeom prst="rect">
            <a:avLst/>
          </a:prstGeom>
        </p:spPr>
      </p:pic>
      <p:pic>
        <p:nvPicPr>
          <p:cNvPr id="138" name="图形 137" descr="用户 纯色填充">
            <a:extLst>
              <a:ext uri="{FF2B5EF4-FFF2-40B4-BE49-F238E27FC236}">
                <a16:creationId xmlns:a16="http://schemas.microsoft.com/office/drawing/2014/main" id="{EB47523B-C7DB-421F-F941-1FF2E0CECAB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9401115" y="5738895"/>
            <a:ext cx="411187" cy="411187"/>
          </a:xfrm>
          <a:prstGeom prst="rect">
            <a:avLst/>
          </a:prstGeom>
        </p:spPr>
      </p:pic>
      <p:cxnSp>
        <p:nvCxnSpPr>
          <p:cNvPr id="139" name="直接连接符 138">
            <a:extLst>
              <a:ext uri="{FF2B5EF4-FFF2-40B4-BE49-F238E27FC236}">
                <a16:creationId xmlns:a16="http://schemas.microsoft.com/office/drawing/2014/main" id="{8FDE8676-5418-2ECB-5973-1F6F4EAFC86F}"/>
              </a:ext>
            </a:extLst>
          </p:cNvPr>
          <p:cNvCxnSpPr>
            <a:cxnSpLocks/>
            <a:stCxn id="136" idx="3"/>
            <a:endCxn id="137" idx="1"/>
          </p:cNvCxnSpPr>
          <p:nvPr/>
        </p:nvCxnSpPr>
        <p:spPr>
          <a:xfrm>
            <a:off x="8302906" y="5944489"/>
            <a:ext cx="355339" cy="0"/>
          </a:xfrm>
          <a:prstGeom prst="line">
            <a:avLst/>
          </a:prstGeom>
          <a:ln>
            <a:solidFill>
              <a:srgbClr val="C00000"/>
            </a:solidFill>
            <a:prstDash val="sysDot"/>
          </a:ln>
        </p:spPr>
        <p:style>
          <a:lnRef idx="2">
            <a:schemeClr val="accent1"/>
          </a:lnRef>
          <a:fillRef idx="0">
            <a:schemeClr val="accent1"/>
          </a:fillRef>
          <a:effectRef idx="1">
            <a:schemeClr val="accent1"/>
          </a:effectRef>
          <a:fontRef idx="minor">
            <a:schemeClr val="tx1"/>
          </a:fontRef>
        </p:style>
      </p:cxnSp>
      <p:cxnSp>
        <p:nvCxnSpPr>
          <p:cNvPr id="140" name="直接连接符 139">
            <a:extLst>
              <a:ext uri="{FF2B5EF4-FFF2-40B4-BE49-F238E27FC236}">
                <a16:creationId xmlns:a16="http://schemas.microsoft.com/office/drawing/2014/main" id="{085AAD0C-45DB-7A68-49F6-0F685952BDED}"/>
              </a:ext>
            </a:extLst>
          </p:cNvPr>
          <p:cNvCxnSpPr>
            <a:cxnSpLocks/>
            <a:stCxn id="137" idx="3"/>
            <a:endCxn id="138" idx="1"/>
          </p:cNvCxnSpPr>
          <p:nvPr/>
        </p:nvCxnSpPr>
        <p:spPr>
          <a:xfrm>
            <a:off x="9045776" y="5944489"/>
            <a:ext cx="355339" cy="0"/>
          </a:xfrm>
          <a:prstGeom prst="line">
            <a:avLst/>
          </a:prstGeom>
          <a:ln>
            <a:solidFill>
              <a:srgbClr val="0070C0"/>
            </a:solidFill>
            <a:prstDash val="sysDot"/>
          </a:ln>
        </p:spPr>
        <p:style>
          <a:lnRef idx="2">
            <a:schemeClr val="accent1"/>
          </a:lnRef>
          <a:fillRef idx="0">
            <a:schemeClr val="accent1"/>
          </a:fillRef>
          <a:effectRef idx="1">
            <a:schemeClr val="accent1"/>
          </a:effectRef>
          <a:fontRef idx="minor">
            <a:schemeClr val="tx1"/>
          </a:fontRef>
        </p:style>
      </p:cxnSp>
      <p:pic>
        <p:nvPicPr>
          <p:cNvPr id="141" name="图形 140" descr="女性形象 纯色填充">
            <a:extLst>
              <a:ext uri="{FF2B5EF4-FFF2-40B4-BE49-F238E27FC236}">
                <a16:creationId xmlns:a16="http://schemas.microsoft.com/office/drawing/2014/main" id="{456C104A-8A81-074A-12F6-2414B1B32CF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167641" y="5753669"/>
            <a:ext cx="387531" cy="387531"/>
          </a:xfrm>
          <a:prstGeom prst="rect">
            <a:avLst/>
          </a:prstGeom>
        </p:spPr>
      </p:pic>
      <p:cxnSp>
        <p:nvCxnSpPr>
          <p:cNvPr id="142" name="直接连接符 141">
            <a:extLst>
              <a:ext uri="{FF2B5EF4-FFF2-40B4-BE49-F238E27FC236}">
                <a16:creationId xmlns:a16="http://schemas.microsoft.com/office/drawing/2014/main" id="{9F402205-310B-79FD-443D-79D1596093E5}"/>
              </a:ext>
            </a:extLst>
          </p:cNvPr>
          <p:cNvCxnSpPr>
            <a:cxnSpLocks/>
            <a:stCxn id="141" idx="1"/>
            <a:endCxn id="138" idx="3"/>
          </p:cNvCxnSpPr>
          <p:nvPr/>
        </p:nvCxnSpPr>
        <p:spPr>
          <a:xfrm flipH="1" flipV="1">
            <a:off x="9812302" y="5944489"/>
            <a:ext cx="355339" cy="2946"/>
          </a:xfrm>
          <a:prstGeom prst="line">
            <a:avLst/>
          </a:prstGeom>
          <a:ln>
            <a:solidFill>
              <a:srgbClr val="C00000"/>
            </a:solidFill>
            <a:prstDash val="sysDot"/>
          </a:ln>
        </p:spPr>
        <p:style>
          <a:lnRef idx="2">
            <a:schemeClr val="accent1"/>
          </a:lnRef>
          <a:fillRef idx="0">
            <a:schemeClr val="accent1"/>
          </a:fillRef>
          <a:effectRef idx="1">
            <a:schemeClr val="accent1"/>
          </a:effectRef>
          <a:fontRef idx="minor">
            <a:schemeClr val="tx1"/>
          </a:fontRef>
        </p:style>
      </p:cxnSp>
      <p:sp>
        <p:nvSpPr>
          <p:cNvPr id="143" name="矩形: 圆角 142">
            <a:extLst>
              <a:ext uri="{FF2B5EF4-FFF2-40B4-BE49-F238E27FC236}">
                <a16:creationId xmlns:a16="http://schemas.microsoft.com/office/drawing/2014/main" id="{F8F7E584-2B6A-0A93-4499-89A6BBE1DE61}"/>
              </a:ext>
            </a:extLst>
          </p:cNvPr>
          <p:cNvSpPr/>
          <p:nvPr/>
        </p:nvSpPr>
        <p:spPr>
          <a:xfrm>
            <a:off x="8198751" y="5274575"/>
            <a:ext cx="2121616"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(truncate weights)</a:t>
            </a:r>
            <a:endParaRPr lang="zh-CN" altLang="en-US" sz="1400" dirty="0"/>
          </a:p>
        </p:txBody>
      </p:sp>
      <p:sp>
        <p:nvSpPr>
          <p:cNvPr id="147" name="矩形: 圆角 146">
            <a:extLst>
              <a:ext uri="{FF2B5EF4-FFF2-40B4-BE49-F238E27FC236}">
                <a16:creationId xmlns:a16="http://schemas.microsoft.com/office/drawing/2014/main" id="{1EE0674B-86F0-2D4A-7A51-ACD5387F86FA}"/>
              </a:ext>
            </a:extLst>
          </p:cNvPr>
          <p:cNvSpPr/>
          <p:nvPr/>
        </p:nvSpPr>
        <p:spPr>
          <a:xfrm>
            <a:off x="8361210" y="3573939"/>
            <a:ext cx="259458" cy="256467"/>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1</a:t>
            </a:r>
            <a:endParaRPr lang="zh-CN" altLang="en-US" sz="1400" dirty="0"/>
          </a:p>
        </p:txBody>
      </p:sp>
      <mc:AlternateContent xmlns:mc="http://schemas.openxmlformats.org/markup-compatibility/2006">
        <mc:Choice xmlns:a14="http://schemas.microsoft.com/office/drawing/2010/main" Requires="a14">
          <p:sp>
            <p:nvSpPr>
              <p:cNvPr id="148" name="矩形: 圆角 147">
                <a:extLst>
                  <a:ext uri="{FF2B5EF4-FFF2-40B4-BE49-F238E27FC236}">
                    <a16:creationId xmlns:a16="http://schemas.microsoft.com/office/drawing/2014/main" id="{4B467E26-8CB8-E5EB-9D76-2BBBE66A7394}"/>
                  </a:ext>
                </a:extLst>
              </p:cNvPr>
              <p:cNvSpPr/>
              <p:nvPr/>
            </p:nvSpPr>
            <p:spPr>
              <a:xfrm>
                <a:off x="8361210" y="6092384"/>
                <a:ext cx="259458" cy="256467"/>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1</m:t>
                          </m:r>
                        </m:num>
                        <m:den>
                          <m:rad>
                            <m:radPr>
                              <m:degHide m:val="on"/>
                              <m:ctrlPr>
                                <a:rPr lang="en-US" altLang="zh-CN" sz="1400" b="0" i="1" smtClean="0">
                                  <a:latin typeface="Cambria Math" panose="02040503050406030204" pitchFamily="18" charset="0"/>
                                </a:rPr>
                              </m:ctrlPr>
                            </m:radPr>
                            <m:deg/>
                            <m:e>
                              <m:r>
                                <a:rPr lang="en-US" altLang="zh-CN" sz="1400" b="0" i="1" smtClean="0">
                                  <a:latin typeface="Cambria Math" panose="02040503050406030204" pitchFamily="18" charset="0"/>
                                </a:rPr>
                                <m:t>2</m:t>
                              </m:r>
                            </m:e>
                          </m:rad>
                        </m:den>
                      </m:f>
                    </m:oMath>
                  </m:oMathPara>
                </a14:m>
                <a:endParaRPr lang="zh-CN" altLang="en-US" sz="1400" dirty="0"/>
              </a:p>
            </p:txBody>
          </p:sp>
        </mc:Choice>
        <mc:Fallback>
          <p:sp>
            <p:nvSpPr>
              <p:cNvPr id="148" name="矩形: 圆角 147">
                <a:extLst>
                  <a:ext uri="{FF2B5EF4-FFF2-40B4-BE49-F238E27FC236}">
                    <a16:creationId xmlns:a16="http://schemas.microsoft.com/office/drawing/2014/main" id="{4B467E26-8CB8-E5EB-9D76-2BBBE66A7394}"/>
                  </a:ext>
                </a:extLst>
              </p:cNvPr>
              <p:cNvSpPr>
                <a:spLocks noRot="1" noChangeAspect="1" noMove="1" noResize="1" noEditPoints="1" noAdjustHandles="1" noChangeArrowheads="1" noChangeShapeType="1" noTextEdit="1"/>
              </p:cNvSpPr>
              <p:nvPr/>
            </p:nvSpPr>
            <p:spPr>
              <a:xfrm>
                <a:off x="8361210" y="6092384"/>
                <a:ext cx="259458" cy="256467"/>
              </a:xfrm>
              <a:prstGeom prst="roundRect">
                <a:avLst/>
              </a:prstGeom>
              <a:blipFill>
                <a:blip r:embed="rId15"/>
                <a:stretch>
                  <a:fillRect l="-2381" t="-35714" r="-7143" b="-57143"/>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49" name="矩形: 圆角 148">
                <a:extLst>
                  <a:ext uri="{FF2B5EF4-FFF2-40B4-BE49-F238E27FC236}">
                    <a16:creationId xmlns:a16="http://schemas.microsoft.com/office/drawing/2014/main" id="{4F4CFDBE-7938-7FA4-7A12-D308B4B39D4C}"/>
                  </a:ext>
                </a:extLst>
              </p:cNvPr>
              <p:cNvSpPr/>
              <p:nvPr/>
            </p:nvSpPr>
            <p:spPr>
              <a:xfrm>
                <a:off x="9115281" y="6090957"/>
                <a:ext cx="259458" cy="256467"/>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1</m:t>
                          </m:r>
                        </m:num>
                        <m:den>
                          <m:rad>
                            <m:radPr>
                              <m:degHide m:val="on"/>
                              <m:ctrlPr>
                                <a:rPr lang="en-US" altLang="zh-CN" sz="1400" b="0" i="1" smtClean="0">
                                  <a:latin typeface="Cambria Math" panose="02040503050406030204" pitchFamily="18" charset="0"/>
                                </a:rPr>
                              </m:ctrlPr>
                            </m:radPr>
                            <m:deg/>
                            <m:e>
                              <m:r>
                                <a:rPr lang="en-US" altLang="zh-CN" sz="1400" b="0" i="1" smtClean="0">
                                  <a:latin typeface="Cambria Math" panose="02040503050406030204" pitchFamily="18" charset="0"/>
                                </a:rPr>
                                <m:t>2</m:t>
                              </m:r>
                            </m:e>
                          </m:rad>
                        </m:den>
                      </m:f>
                    </m:oMath>
                  </m:oMathPara>
                </a14:m>
                <a:endParaRPr lang="zh-CN" altLang="en-US" sz="1400" dirty="0"/>
              </a:p>
            </p:txBody>
          </p:sp>
        </mc:Choice>
        <mc:Fallback>
          <p:sp>
            <p:nvSpPr>
              <p:cNvPr id="149" name="矩形: 圆角 148">
                <a:extLst>
                  <a:ext uri="{FF2B5EF4-FFF2-40B4-BE49-F238E27FC236}">
                    <a16:creationId xmlns:a16="http://schemas.microsoft.com/office/drawing/2014/main" id="{4F4CFDBE-7938-7FA4-7A12-D308B4B39D4C}"/>
                  </a:ext>
                </a:extLst>
              </p:cNvPr>
              <p:cNvSpPr>
                <a:spLocks noRot="1" noChangeAspect="1" noMove="1" noResize="1" noEditPoints="1" noAdjustHandles="1" noChangeArrowheads="1" noChangeShapeType="1" noTextEdit="1"/>
              </p:cNvSpPr>
              <p:nvPr/>
            </p:nvSpPr>
            <p:spPr>
              <a:xfrm>
                <a:off x="9115281" y="6090957"/>
                <a:ext cx="259458" cy="256467"/>
              </a:xfrm>
              <a:prstGeom prst="roundRect">
                <a:avLst/>
              </a:prstGeom>
              <a:blipFill>
                <a:blip r:embed="rId16"/>
                <a:stretch>
                  <a:fillRect l="-2326" t="-35714" r="-4651" b="-57143"/>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50" name="矩形: 圆角 149">
                <a:extLst>
                  <a:ext uri="{FF2B5EF4-FFF2-40B4-BE49-F238E27FC236}">
                    <a16:creationId xmlns:a16="http://schemas.microsoft.com/office/drawing/2014/main" id="{1BCC38F6-C85E-D11E-FE81-0F1D50CCD45A}"/>
                  </a:ext>
                </a:extLst>
              </p:cNvPr>
              <p:cNvSpPr/>
              <p:nvPr/>
            </p:nvSpPr>
            <p:spPr>
              <a:xfrm>
                <a:off x="9877655" y="6090957"/>
                <a:ext cx="259458" cy="256467"/>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1</m:t>
                          </m:r>
                        </m:num>
                        <m:den>
                          <m:rad>
                            <m:radPr>
                              <m:degHide m:val="on"/>
                              <m:ctrlPr>
                                <a:rPr lang="en-US" altLang="zh-CN" sz="1400" b="0" i="1" smtClean="0">
                                  <a:latin typeface="Cambria Math" panose="02040503050406030204" pitchFamily="18" charset="0"/>
                                </a:rPr>
                              </m:ctrlPr>
                            </m:radPr>
                            <m:deg/>
                            <m:e>
                              <m:r>
                                <a:rPr lang="en-US" altLang="zh-CN" sz="1400" b="0" i="1" smtClean="0">
                                  <a:latin typeface="Cambria Math" panose="02040503050406030204" pitchFamily="18" charset="0"/>
                                </a:rPr>
                                <m:t>2</m:t>
                              </m:r>
                            </m:e>
                          </m:rad>
                        </m:den>
                      </m:f>
                    </m:oMath>
                  </m:oMathPara>
                </a14:m>
                <a:endParaRPr lang="zh-CN" altLang="en-US" sz="1400" dirty="0"/>
              </a:p>
            </p:txBody>
          </p:sp>
        </mc:Choice>
        <mc:Fallback>
          <p:sp>
            <p:nvSpPr>
              <p:cNvPr id="150" name="矩形: 圆角 149">
                <a:extLst>
                  <a:ext uri="{FF2B5EF4-FFF2-40B4-BE49-F238E27FC236}">
                    <a16:creationId xmlns:a16="http://schemas.microsoft.com/office/drawing/2014/main" id="{1BCC38F6-C85E-D11E-FE81-0F1D50CCD45A}"/>
                  </a:ext>
                </a:extLst>
              </p:cNvPr>
              <p:cNvSpPr>
                <a:spLocks noRot="1" noChangeAspect="1" noMove="1" noResize="1" noEditPoints="1" noAdjustHandles="1" noChangeArrowheads="1" noChangeShapeType="1" noTextEdit="1"/>
              </p:cNvSpPr>
              <p:nvPr/>
            </p:nvSpPr>
            <p:spPr>
              <a:xfrm>
                <a:off x="9877655" y="6090957"/>
                <a:ext cx="259458" cy="256467"/>
              </a:xfrm>
              <a:prstGeom prst="roundRect">
                <a:avLst/>
              </a:prstGeom>
              <a:blipFill>
                <a:blip r:embed="rId17"/>
                <a:stretch>
                  <a:fillRect l="-2326" t="-35714" r="-4651" b="-57143"/>
                </a:stretch>
              </a:blipFill>
              <a:ln>
                <a:noFill/>
              </a:ln>
            </p:spPr>
            <p:txBody>
              <a:bodyPr/>
              <a:lstStyle/>
              <a:p>
                <a:r>
                  <a:rPr lang="zh-CN" altLang="en-US">
                    <a:noFill/>
                  </a:rPr>
                  <a:t> </a:t>
                </a:r>
              </a:p>
            </p:txBody>
          </p:sp>
        </mc:Fallback>
      </mc:AlternateContent>
      <p:sp>
        <p:nvSpPr>
          <p:cNvPr id="151" name="矩形: 圆角 150">
            <a:extLst>
              <a:ext uri="{FF2B5EF4-FFF2-40B4-BE49-F238E27FC236}">
                <a16:creationId xmlns:a16="http://schemas.microsoft.com/office/drawing/2014/main" id="{A1368F58-66E9-A46D-D292-C22C68962A00}"/>
              </a:ext>
            </a:extLst>
          </p:cNvPr>
          <p:cNvSpPr/>
          <p:nvPr/>
        </p:nvSpPr>
        <p:spPr>
          <a:xfrm>
            <a:off x="9093716" y="3579603"/>
            <a:ext cx="259458" cy="256467"/>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0</a:t>
            </a:r>
            <a:endParaRPr lang="zh-CN" altLang="en-US" sz="1400" dirty="0"/>
          </a:p>
        </p:txBody>
      </p:sp>
      <p:sp>
        <p:nvSpPr>
          <p:cNvPr id="152" name="矩形: 圆角 151">
            <a:extLst>
              <a:ext uri="{FF2B5EF4-FFF2-40B4-BE49-F238E27FC236}">
                <a16:creationId xmlns:a16="http://schemas.microsoft.com/office/drawing/2014/main" id="{33839959-C772-E4E5-B59F-17AF93AE7784}"/>
              </a:ext>
            </a:extLst>
          </p:cNvPr>
          <p:cNvSpPr/>
          <p:nvPr/>
        </p:nvSpPr>
        <p:spPr>
          <a:xfrm>
            <a:off x="9858072" y="3573314"/>
            <a:ext cx="259458" cy="256467"/>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1</a:t>
            </a:r>
            <a:endParaRPr lang="zh-CN" altLang="en-US" sz="1400" dirty="0"/>
          </a:p>
        </p:txBody>
      </p:sp>
      <p:sp>
        <p:nvSpPr>
          <p:cNvPr id="153" name="文本框 152">
            <a:extLst>
              <a:ext uri="{FF2B5EF4-FFF2-40B4-BE49-F238E27FC236}">
                <a16:creationId xmlns:a16="http://schemas.microsoft.com/office/drawing/2014/main" id="{21471AAD-5324-0E98-C9F9-2A60B01ED731}"/>
              </a:ext>
            </a:extLst>
          </p:cNvPr>
          <p:cNvSpPr txBox="1"/>
          <p:nvPr/>
        </p:nvSpPr>
        <p:spPr>
          <a:xfrm>
            <a:off x="11005599" y="1460541"/>
            <a:ext cx="725263" cy="523220"/>
          </a:xfrm>
          <a:prstGeom prst="rect">
            <a:avLst/>
          </a:prstGeom>
          <a:noFill/>
        </p:spPr>
        <p:txBody>
          <a:bodyPr wrap="none" rtlCol="0">
            <a:spAutoFit/>
          </a:bodyPr>
          <a:lstStyle/>
          <a:p>
            <a:pPr algn="ctr"/>
            <a:r>
              <a:rPr lang="en-US" altLang="zh-CN" sz="2800" dirty="0">
                <a:latin typeface="+mj-lt"/>
              </a:rPr>
              <a:t>Ref.</a:t>
            </a:r>
            <a:endParaRPr lang="zh-CN" altLang="en-US" sz="2800" dirty="0">
              <a:latin typeface="+mj-lt"/>
            </a:endParaRPr>
          </a:p>
        </p:txBody>
      </p:sp>
      <p:sp>
        <p:nvSpPr>
          <p:cNvPr id="156" name="矩形: 圆角 155">
            <a:extLst>
              <a:ext uri="{FF2B5EF4-FFF2-40B4-BE49-F238E27FC236}">
                <a16:creationId xmlns:a16="http://schemas.microsoft.com/office/drawing/2014/main" id="{145E7EBF-74C6-E609-B169-C4CC30D53471}"/>
              </a:ext>
            </a:extLst>
          </p:cNvPr>
          <p:cNvSpPr/>
          <p:nvPr/>
        </p:nvSpPr>
        <p:spPr>
          <a:xfrm>
            <a:off x="10413393" y="2098477"/>
            <a:ext cx="1798967" cy="714534"/>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Strawman, e.g.</a:t>
            </a:r>
          </a:p>
          <a:p>
            <a:pPr algn="ctr"/>
            <a:r>
              <a:rPr lang="en-US" altLang="zh-CN" sz="1200" dirty="0"/>
              <a:t>[ACG+, CCS’16]</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Times New Roman"/>
                <a:ea typeface="微软雅黑"/>
                <a:cs typeface="+mn-cs"/>
              </a:rPr>
              <a:t>[QDY+, KDD’22]</a:t>
            </a:r>
          </a:p>
        </p:txBody>
      </p:sp>
      <p:sp>
        <p:nvSpPr>
          <p:cNvPr id="157" name="矩形: 圆角 156">
            <a:extLst>
              <a:ext uri="{FF2B5EF4-FFF2-40B4-BE49-F238E27FC236}">
                <a16:creationId xmlns:a16="http://schemas.microsoft.com/office/drawing/2014/main" id="{33B8987A-DEAB-2EC1-7FA5-1C5208066C36}"/>
              </a:ext>
            </a:extLst>
          </p:cNvPr>
          <p:cNvSpPr/>
          <p:nvPr/>
        </p:nvSpPr>
        <p:spPr>
          <a:xfrm>
            <a:off x="10399060" y="3155871"/>
            <a:ext cx="1909479" cy="714534"/>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200" dirty="0"/>
              <a:t>[KNR+, TCC’13]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Times New Roman"/>
                <a:ea typeface="微软雅黑"/>
                <a:cs typeface="+mn-cs"/>
              </a:rPr>
              <a:t>[DFY+, SIGMOD’22]</a:t>
            </a:r>
          </a:p>
        </p:txBody>
      </p:sp>
      <p:sp>
        <p:nvSpPr>
          <p:cNvPr id="158" name="矩形: 圆角 157">
            <a:extLst>
              <a:ext uri="{FF2B5EF4-FFF2-40B4-BE49-F238E27FC236}">
                <a16:creationId xmlns:a16="http://schemas.microsoft.com/office/drawing/2014/main" id="{3FEB530A-2B84-D36D-58B1-ED060C31081F}"/>
              </a:ext>
            </a:extLst>
          </p:cNvPr>
          <p:cNvSpPr/>
          <p:nvPr/>
        </p:nvSpPr>
        <p:spPr>
          <a:xfrm>
            <a:off x="10412631" y="5016380"/>
            <a:ext cx="1909479" cy="714534"/>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Times New Roman"/>
                <a:ea typeface="微软雅黑"/>
                <a:cs typeface="+mn-cs"/>
              </a:rPr>
              <a:t>[DSY, SIGMOD’23]</a:t>
            </a:r>
          </a:p>
        </p:txBody>
      </p:sp>
    </p:spTree>
    <p:extLst>
      <p:ext uri="{BB962C8B-B14F-4D97-AF65-F5344CB8AC3E}">
        <p14:creationId xmlns:p14="http://schemas.microsoft.com/office/powerpoint/2010/main" val="329929831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9A591B-0064-816F-F4A4-30DE2D1D6EA8}"/>
              </a:ext>
            </a:extLst>
          </p:cNvPr>
          <p:cNvSpPr>
            <a:spLocks noGrp="1"/>
          </p:cNvSpPr>
          <p:nvPr>
            <p:ph type="title"/>
          </p:nvPr>
        </p:nvSpPr>
        <p:spPr/>
        <p:txBody>
          <a:bodyPr/>
          <a:lstStyle/>
          <a:p>
            <a:r>
              <a:rPr lang="en-US" altLang="zh-CN" dirty="0"/>
              <a:t>Privacy Amplification by Subsampling</a:t>
            </a:r>
            <a:endParaRPr lang="zh-CN" altLang="en-US" dirty="0"/>
          </a:p>
        </p:txBody>
      </p:sp>
      <p:sp>
        <p:nvSpPr>
          <p:cNvPr id="4" name="灯片编号占位符 3">
            <a:extLst>
              <a:ext uri="{FF2B5EF4-FFF2-40B4-BE49-F238E27FC236}">
                <a16:creationId xmlns:a16="http://schemas.microsoft.com/office/drawing/2014/main" id="{BD9AD218-3E6B-6A21-3EDF-77BAB1A9CCBA}"/>
              </a:ext>
            </a:extLst>
          </p:cNvPr>
          <p:cNvSpPr>
            <a:spLocks noGrp="1"/>
          </p:cNvSpPr>
          <p:nvPr>
            <p:ph type="sldNum" sz="quarter" idx="12"/>
          </p:nvPr>
        </p:nvSpPr>
        <p:spPr/>
        <p:txBody>
          <a:bodyPr/>
          <a:lstStyle/>
          <a:p>
            <a:fld id="{B0AC98E8-77B5-4E71-A497-A3DCE01E87E0}" type="slidenum">
              <a:rPr lang="zh-CN" altLang="en-US" smtClean="0"/>
              <a:t>5</a:t>
            </a:fld>
            <a:endParaRPr lang="zh-CN" altLang="en-US" dirty="0"/>
          </a:p>
        </p:txBody>
      </p:sp>
      <p:sp>
        <p:nvSpPr>
          <p:cNvPr id="11" name="流程图: 多文档 10">
            <a:extLst>
              <a:ext uri="{FF2B5EF4-FFF2-40B4-BE49-F238E27FC236}">
                <a16:creationId xmlns:a16="http://schemas.microsoft.com/office/drawing/2014/main" id="{A3150048-BBB4-B3CA-A13D-F83F438B7397}"/>
              </a:ext>
            </a:extLst>
          </p:cNvPr>
          <p:cNvSpPr/>
          <p:nvPr/>
        </p:nvSpPr>
        <p:spPr>
          <a:xfrm>
            <a:off x="1923297" y="1822688"/>
            <a:ext cx="1277957" cy="914400"/>
          </a:xfrm>
          <a:prstGeom prst="flowChartMulti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流程图: 文档 11">
            <a:extLst>
              <a:ext uri="{FF2B5EF4-FFF2-40B4-BE49-F238E27FC236}">
                <a16:creationId xmlns:a16="http://schemas.microsoft.com/office/drawing/2014/main" id="{9A244D2B-A637-BBA1-BE62-F4AAFBCCA775}"/>
              </a:ext>
            </a:extLst>
          </p:cNvPr>
          <p:cNvSpPr/>
          <p:nvPr/>
        </p:nvSpPr>
        <p:spPr>
          <a:xfrm>
            <a:off x="2009723" y="3403328"/>
            <a:ext cx="1105103" cy="740419"/>
          </a:xfrm>
          <a:prstGeom prst="flowChartDocumen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4" name="图形 13" descr="显示器 纯色填充">
            <a:extLst>
              <a:ext uri="{FF2B5EF4-FFF2-40B4-BE49-F238E27FC236}">
                <a16:creationId xmlns:a16="http://schemas.microsoft.com/office/drawing/2014/main" id="{A9B899DF-F855-7999-2FD8-26A91C615F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490901" y="2651232"/>
            <a:ext cx="914400" cy="914400"/>
          </a:xfrm>
          <a:prstGeom prst="rect">
            <a:avLst/>
          </a:prstGeom>
        </p:spPr>
      </p:pic>
      <p:sp>
        <p:nvSpPr>
          <p:cNvPr id="15" name="箭头: 右 14">
            <a:extLst>
              <a:ext uri="{FF2B5EF4-FFF2-40B4-BE49-F238E27FC236}">
                <a16:creationId xmlns:a16="http://schemas.microsoft.com/office/drawing/2014/main" id="{FD3F7918-3A22-DAE2-B404-DBEC507C4762}"/>
              </a:ext>
            </a:extLst>
          </p:cNvPr>
          <p:cNvSpPr/>
          <p:nvPr/>
        </p:nvSpPr>
        <p:spPr>
          <a:xfrm>
            <a:off x="3571674" y="2009723"/>
            <a:ext cx="4941537" cy="250133"/>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mc:AlternateContent xmlns:mc="http://schemas.openxmlformats.org/markup-compatibility/2006">
        <mc:Choice xmlns:a14="http://schemas.microsoft.com/office/drawing/2010/main" Requires="a14">
          <p:sp>
            <p:nvSpPr>
              <p:cNvPr id="16" name="矩形: 圆角 15">
                <a:extLst>
                  <a:ext uri="{FF2B5EF4-FFF2-40B4-BE49-F238E27FC236}">
                    <a16:creationId xmlns:a16="http://schemas.microsoft.com/office/drawing/2014/main" id="{C63D386C-B97D-18AA-9E04-AB9D5CC5D9A8}"/>
                  </a:ext>
                </a:extLst>
              </p:cNvPr>
              <p:cNvSpPr/>
              <p:nvPr/>
            </p:nvSpPr>
            <p:spPr>
              <a:xfrm>
                <a:off x="4991158" y="2354080"/>
                <a:ext cx="1913886"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14:m>
                  <m:oMath xmlns:m="http://schemas.openxmlformats.org/officeDocument/2006/math">
                    <m:r>
                      <a:rPr lang="en-US" altLang="zh-CN" sz="1400" b="0" i="1" dirty="0" smtClean="0">
                        <a:latin typeface="Cambria Math" panose="02040503050406030204" pitchFamily="18" charset="0"/>
                      </a:rPr>
                      <m:t>𝜀</m:t>
                    </m:r>
                  </m:oMath>
                </a14:m>
                <a:r>
                  <a:rPr lang="en-US" altLang="zh-CN" sz="1400" dirty="0"/>
                  <a:t>-DP Mechanism</a:t>
                </a:r>
                <a:endParaRPr lang="zh-CN" altLang="en-US" sz="1400" dirty="0"/>
              </a:p>
            </p:txBody>
          </p:sp>
        </mc:Choice>
        <mc:Fallback>
          <p:sp>
            <p:nvSpPr>
              <p:cNvPr id="16" name="矩形: 圆角 15">
                <a:extLst>
                  <a:ext uri="{FF2B5EF4-FFF2-40B4-BE49-F238E27FC236}">
                    <a16:creationId xmlns:a16="http://schemas.microsoft.com/office/drawing/2014/main" id="{C63D386C-B97D-18AA-9E04-AB9D5CC5D9A8}"/>
                  </a:ext>
                </a:extLst>
              </p:cNvPr>
              <p:cNvSpPr>
                <a:spLocks noRot="1" noChangeAspect="1" noMove="1" noResize="1" noEditPoints="1" noAdjustHandles="1" noChangeArrowheads="1" noChangeShapeType="1" noTextEdit="1"/>
              </p:cNvSpPr>
              <p:nvPr/>
            </p:nvSpPr>
            <p:spPr>
              <a:xfrm>
                <a:off x="4991158" y="2354080"/>
                <a:ext cx="1913886" cy="433583"/>
              </a:xfrm>
              <a:prstGeom prst="roundRect">
                <a:avLst/>
              </a:prstGeom>
              <a:blipFill>
                <a:blip r:embed="rId5"/>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19" name="矩形: 圆角 18">
                <a:extLst>
                  <a:ext uri="{FF2B5EF4-FFF2-40B4-BE49-F238E27FC236}">
                    <a16:creationId xmlns:a16="http://schemas.microsoft.com/office/drawing/2014/main" id="{39573E0A-5A90-ED38-0B84-5239690792A0}"/>
                  </a:ext>
                </a:extLst>
              </p:cNvPr>
              <p:cNvSpPr/>
              <p:nvPr/>
            </p:nvSpPr>
            <p:spPr>
              <a:xfrm>
                <a:off x="1657788" y="1407026"/>
                <a:ext cx="1913886"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Dataset </a:t>
                </a:r>
                <a14:m>
                  <m:oMath xmlns:m="http://schemas.openxmlformats.org/officeDocument/2006/math">
                    <m:r>
                      <a:rPr lang="en-US" altLang="zh-CN" sz="1400" b="0" i="1" smtClean="0">
                        <a:latin typeface="Cambria Math" panose="02040503050406030204" pitchFamily="18" charset="0"/>
                      </a:rPr>
                      <m:t>𝐷</m:t>
                    </m:r>
                  </m:oMath>
                </a14:m>
                <a:endParaRPr lang="zh-CN" altLang="en-US" sz="1400" dirty="0"/>
              </a:p>
            </p:txBody>
          </p:sp>
        </mc:Choice>
        <mc:Fallback>
          <p:sp>
            <p:nvSpPr>
              <p:cNvPr id="19" name="矩形: 圆角 18">
                <a:extLst>
                  <a:ext uri="{FF2B5EF4-FFF2-40B4-BE49-F238E27FC236}">
                    <a16:creationId xmlns:a16="http://schemas.microsoft.com/office/drawing/2014/main" id="{39573E0A-5A90-ED38-0B84-5239690792A0}"/>
                  </a:ext>
                </a:extLst>
              </p:cNvPr>
              <p:cNvSpPr>
                <a:spLocks noRot="1" noChangeAspect="1" noMove="1" noResize="1" noEditPoints="1" noAdjustHandles="1" noChangeArrowheads="1" noChangeShapeType="1" noTextEdit="1"/>
              </p:cNvSpPr>
              <p:nvPr/>
            </p:nvSpPr>
            <p:spPr>
              <a:xfrm>
                <a:off x="1657788" y="1407026"/>
                <a:ext cx="1913886" cy="433583"/>
              </a:xfrm>
              <a:prstGeom prst="roundRect">
                <a:avLst/>
              </a:prstGeom>
              <a:blipFill>
                <a:blip r:embed="rId6"/>
                <a:stretch>
                  <a:fillRect/>
                </a:stretch>
              </a:blipFill>
              <a:ln>
                <a:noFill/>
              </a:ln>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20" name="矩形: 圆角 19">
                <a:extLst>
                  <a:ext uri="{FF2B5EF4-FFF2-40B4-BE49-F238E27FC236}">
                    <a16:creationId xmlns:a16="http://schemas.microsoft.com/office/drawing/2014/main" id="{D2DDED17-B460-4E6B-136A-605EE4351FDA}"/>
                  </a:ext>
                </a:extLst>
              </p:cNvPr>
              <p:cNvSpPr/>
              <p:nvPr/>
            </p:nvSpPr>
            <p:spPr>
              <a:xfrm>
                <a:off x="1657788" y="4214609"/>
                <a:ext cx="1913886"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Sample </a:t>
                </a:r>
                <a14:m>
                  <m:oMath xmlns:m="http://schemas.openxmlformats.org/officeDocument/2006/math">
                    <m:r>
                      <a:rPr lang="zh-CN" altLang="en-US" sz="1400" i="1">
                        <a:latin typeface="Cambria Math" panose="02040503050406030204" pitchFamily="18" charset="0"/>
                        <a:ea typeface="Cambria Math" panose="02040503050406030204" pitchFamily="18" charset="0"/>
                      </a:rPr>
                      <m:t>𝒮</m:t>
                    </m:r>
                    <m:d>
                      <m:dPr>
                        <m:ctrlPr>
                          <a:rPr lang="en-US" altLang="zh-CN" sz="1400" b="0" i="1" smtClean="0">
                            <a:latin typeface="Cambria Math" panose="02040503050406030204" pitchFamily="18" charset="0"/>
                            <a:ea typeface="Cambria Math" panose="02040503050406030204" pitchFamily="18" charset="0"/>
                          </a:rPr>
                        </m:ctrlPr>
                      </m:dPr>
                      <m:e>
                        <m:r>
                          <a:rPr lang="en-US" altLang="zh-CN" sz="1400" b="0" i="1" smtClean="0">
                            <a:latin typeface="Cambria Math" panose="02040503050406030204" pitchFamily="18" charset="0"/>
                            <a:ea typeface="Cambria Math" panose="02040503050406030204" pitchFamily="18" charset="0"/>
                          </a:rPr>
                          <m:t>𝐷</m:t>
                        </m:r>
                      </m:e>
                    </m:d>
                  </m:oMath>
                </a14:m>
                <a:endParaRPr lang="zh-CN" altLang="en-US" sz="1400" dirty="0"/>
              </a:p>
            </p:txBody>
          </p:sp>
        </mc:Choice>
        <mc:Fallback>
          <p:sp>
            <p:nvSpPr>
              <p:cNvPr id="20" name="矩形: 圆角 19">
                <a:extLst>
                  <a:ext uri="{FF2B5EF4-FFF2-40B4-BE49-F238E27FC236}">
                    <a16:creationId xmlns:a16="http://schemas.microsoft.com/office/drawing/2014/main" id="{D2DDED17-B460-4E6B-136A-605EE4351FDA}"/>
                  </a:ext>
                </a:extLst>
              </p:cNvPr>
              <p:cNvSpPr>
                <a:spLocks noRot="1" noChangeAspect="1" noMove="1" noResize="1" noEditPoints="1" noAdjustHandles="1" noChangeArrowheads="1" noChangeShapeType="1" noTextEdit="1"/>
              </p:cNvSpPr>
              <p:nvPr/>
            </p:nvSpPr>
            <p:spPr>
              <a:xfrm>
                <a:off x="1657788" y="4214609"/>
                <a:ext cx="1913886" cy="433583"/>
              </a:xfrm>
              <a:prstGeom prst="roundRect">
                <a:avLst/>
              </a:prstGeom>
              <a:blipFill>
                <a:blip r:embed="rId7"/>
                <a:stretch>
                  <a:fillRect/>
                </a:stretch>
              </a:blipFill>
              <a:ln>
                <a:noFill/>
              </a:ln>
            </p:spPr>
            <p:txBody>
              <a:bodyPr/>
              <a:lstStyle/>
              <a:p>
                <a:r>
                  <a:rPr lang="zh-CN" altLang="en-US">
                    <a:noFill/>
                  </a:rPr>
                  <a:t> </a:t>
                </a:r>
              </a:p>
            </p:txBody>
          </p:sp>
        </mc:Fallback>
      </mc:AlternateContent>
      <p:cxnSp>
        <p:nvCxnSpPr>
          <p:cNvPr id="22" name="直接箭头连接符 21">
            <a:extLst>
              <a:ext uri="{FF2B5EF4-FFF2-40B4-BE49-F238E27FC236}">
                <a16:creationId xmlns:a16="http://schemas.microsoft.com/office/drawing/2014/main" id="{BD618901-65BD-9498-99FA-17CDF5696F86}"/>
              </a:ext>
            </a:extLst>
          </p:cNvPr>
          <p:cNvCxnSpPr>
            <a:cxnSpLocks/>
          </p:cNvCxnSpPr>
          <p:nvPr/>
        </p:nvCxnSpPr>
        <p:spPr>
          <a:xfrm>
            <a:off x="2562275" y="2737088"/>
            <a:ext cx="0" cy="56844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25" name="矩形: 圆角 24">
                <a:extLst>
                  <a:ext uri="{FF2B5EF4-FFF2-40B4-BE49-F238E27FC236}">
                    <a16:creationId xmlns:a16="http://schemas.microsoft.com/office/drawing/2014/main" id="{07EC6270-9D2A-BB1D-8173-115AEDF5E83C}"/>
                  </a:ext>
                </a:extLst>
              </p:cNvPr>
              <p:cNvSpPr/>
              <p:nvPr/>
            </p:nvSpPr>
            <p:spPr>
              <a:xfrm>
                <a:off x="788729" y="2774413"/>
                <a:ext cx="1913886"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Subsampling with Probability </a:t>
                </a:r>
                <a14:m>
                  <m:oMath xmlns:m="http://schemas.openxmlformats.org/officeDocument/2006/math">
                    <m:r>
                      <a:rPr lang="en-US" altLang="zh-CN" sz="1400" b="0" i="1" smtClean="0">
                        <a:latin typeface="Cambria Math" panose="02040503050406030204" pitchFamily="18" charset="0"/>
                      </a:rPr>
                      <m:t>𝑞</m:t>
                    </m:r>
                  </m:oMath>
                </a14:m>
                <a:endParaRPr lang="zh-CN" altLang="en-US" sz="1400" dirty="0"/>
              </a:p>
            </p:txBody>
          </p:sp>
        </mc:Choice>
        <mc:Fallback>
          <p:sp>
            <p:nvSpPr>
              <p:cNvPr id="25" name="矩形: 圆角 24">
                <a:extLst>
                  <a:ext uri="{FF2B5EF4-FFF2-40B4-BE49-F238E27FC236}">
                    <a16:creationId xmlns:a16="http://schemas.microsoft.com/office/drawing/2014/main" id="{07EC6270-9D2A-BB1D-8173-115AEDF5E83C}"/>
                  </a:ext>
                </a:extLst>
              </p:cNvPr>
              <p:cNvSpPr>
                <a:spLocks noRot="1" noChangeAspect="1" noMove="1" noResize="1" noEditPoints="1" noAdjustHandles="1" noChangeArrowheads="1" noChangeShapeType="1" noTextEdit="1"/>
              </p:cNvSpPr>
              <p:nvPr/>
            </p:nvSpPr>
            <p:spPr>
              <a:xfrm>
                <a:off x="788729" y="2774413"/>
                <a:ext cx="1913886" cy="433583"/>
              </a:xfrm>
              <a:prstGeom prst="roundRect">
                <a:avLst/>
              </a:prstGeom>
              <a:blipFill>
                <a:blip r:embed="rId8"/>
                <a:stretch>
                  <a:fillRect t="-12676" b="-25352"/>
                </a:stretch>
              </a:blipFill>
              <a:ln>
                <a:noFill/>
              </a:ln>
            </p:spPr>
            <p:txBody>
              <a:bodyPr/>
              <a:lstStyle/>
              <a:p>
                <a:r>
                  <a:rPr lang="zh-CN" altLang="en-US">
                    <a:noFill/>
                  </a:rPr>
                  <a:t> </a:t>
                </a:r>
              </a:p>
            </p:txBody>
          </p:sp>
        </mc:Fallback>
      </mc:AlternateContent>
      <p:pic>
        <p:nvPicPr>
          <p:cNvPr id="27" name="图形 26" descr="条形图 纯色填充">
            <a:extLst>
              <a:ext uri="{FF2B5EF4-FFF2-40B4-BE49-F238E27FC236}">
                <a16:creationId xmlns:a16="http://schemas.microsoft.com/office/drawing/2014/main" id="{1B80E635-20D3-A77C-61EA-91792828D96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694949" y="1840609"/>
            <a:ext cx="914400" cy="914400"/>
          </a:xfrm>
          <a:prstGeom prst="rect">
            <a:avLst/>
          </a:prstGeom>
        </p:spPr>
      </p:pic>
      <p:pic>
        <p:nvPicPr>
          <p:cNvPr id="28" name="图形 27" descr="条形图 纯色填充">
            <a:extLst>
              <a:ext uri="{FF2B5EF4-FFF2-40B4-BE49-F238E27FC236}">
                <a16:creationId xmlns:a16="http://schemas.microsoft.com/office/drawing/2014/main" id="{B1D46E0E-39C4-FA86-662D-1B7D4D11C0BC}"/>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855460" y="3537662"/>
            <a:ext cx="648977" cy="648977"/>
          </a:xfrm>
          <a:prstGeom prst="rect">
            <a:avLst/>
          </a:prstGeom>
        </p:spPr>
      </p:pic>
      <p:sp>
        <p:nvSpPr>
          <p:cNvPr id="31" name="矩形: 圆角 30">
            <a:extLst>
              <a:ext uri="{FF2B5EF4-FFF2-40B4-BE49-F238E27FC236}">
                <a16:creationId xmlns:a16="http://schemas.microsoft.com/office/drawing/2014/main" id="{DF174635-34C1-4BE7-05FC-66F1C4B27B76}"/>
              </a:ext>
            </a:extLst>
          </p:cNvPr>
          <p:cNvSpPr/>
          <p:nvPr/>
        </p:nvSpPr>
        <p:spPr>
          <a:xfrm>
            <a:off x="8195206" y="1440903"/>
            <a:ext cx="1913886"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Private Output</a:t>
            </a:r>
            <a:endParaRPr lang="zh-CN" altLang="en-US" sz="1400" dirty="0"/>
          </a:p>
        </p:txBody>
      </p:sp>
      <p:sp>
        <p:nvSpPr>
          <p:cNvPr id="32" name="矩形: 圆角 31">
            <a:extLst>
              <a:ext uri="{FF2B5EF4-FFF2-40B4-BE49-F238E27FC236}">
                <a16:creationId xmlns:a16="http://schemas.microsoft.com/office/drawing/2014/main" id="{B69F9DC2-2FDB-95D4-344D-A5B37C52BFE3}"/>
              </a:ext>
            </a:extLst>
          </p:cNvPr>
          <p:cNvSpPr/>
          <p:nvPr/>
        </p:nvSpPr>
        <p:spPr>
          <a:xfrm>
            <a:off x="8057802" y="4214608"/>
            <a:ext cx="2094645"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Private Output on Sample</a:t>
            </a:r>
            <a:endParaRPr lang="zh-CN" altLang="en-US" sz="1400" dirty="0"/>
          </a:p>
        </p:txBody>
      </p:sp>
      <p:sp>
        <p:nvSpPr>
          <p:cNvPr id="33" name="箭头: 右 32">
            <a:extLst>
              <a:ext uri="{FF2B5EF4-FFF2-40B4-BE49-F238E27FC236}">
                <a16:creationId xmlns:a16="http://schemas.microsoft.com/office/drawing/2014/main" id="{D7BD2C43-830B-256A-00CB-5F26C0019D78}"/>
              </a:ext>
            </a:extLst>
          </p:cNvPr>
          <p:cNvSpPr/>
          <p:nvPr/>
        </p:nvSpPr>
        <p:spPr>
          <a:xfrm>
            <a:off x="3571674" y="3719455"/>
            <a:ext cx="4941537" cy="250133"/>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zh-CN" altLang="en-US" dirty="0"/>
          </a:p>
        </p:txBody>
      </p:sp>
      <p:cxnSp>
        <p:nvCxnSpPr>
          <p:cNvPr id="35" name="直接箭头连接符 34">
            <a:extLst>
              <a:ext uri="{FF2B5EF4-FFF2-40B4-BE49-F238E27FC236}">
                <a16:creationId xmlns:a16="http://schemas.microsoft.com/office/drawing/2014/main" id="{D0774EA3-1D31-8DFA-C1E2-F397581C2808}"/>
              </a:ext>
            </a:extLst>
          </p:cNvPr>
          <p:cNvCxnSpPr>
            <a:cxnSpLocks/>
          </p:cNvCxnSpPr>
          <p:nvPr/>
        </p:nvCxnSpPr>
        <p:spPr>
          <a:xfrm flipV="1">
            <a:off x="9148890" y="2737088"/>
            <a:ext cx="0" cy="5977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37" name="矩形: 圆角 36">
            <a:extLst>
              <a:ext uri="{FF2B5EF4-FFF2-40B4-BE49-F238E27FC236}">
                <a16:creationId xmlns:a16="http://schemas.microsoft.com/office/drawing/2014/main" id="{4193F60D-EC7B-D15D-BFAB-1A0460B2611E}"/>
              </a:ext>
            </a:extLst>
          </p:cNvPr>
          <p:cNvSpPr/>
          <p:nvPr/>
        </p:nvSpPr>
        <p:spPr>
          <a:xfrm>
            <a:off x="9193587" y="2778338"/>
            <a:ext cx="2408411"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Amplified Privacy Guarantee</a:t>
            </a:r>
          </a:p>
        </p:txBody>
      </p:sp>
      <p:sp>
        <p:nvSpPr>
          <p:cNvPr id="39" name="矩形: 圆角 38">
            <a:extLst>
              <a:ext uri="{FF2B5EF4-FFF2-40B4-BE49-F238E27FC236}">
                <a16:creationId xmlns:a16="http://schemas.microsoft.com/office/drawing/2014/main" id="{BE035324-93C9-FFB6-DCCA-CC60DA839F19}"/>
              </a:ext>
            </a:extLst>
          </p:cNvPr>
          <p:cNvSpPr/>
          <p:nvPr/>
        </p:nvSpPr>
        <p:spPr>
          <a:xfrm>
            <a:off x="1258724" y="5186079"/>
            <a:ext cx="1856102" cy="83453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dirty="0"/>
              <a:t>Record-level DP</a:t>
            </a:r>
            <a:endParaRPr lang="zh-CN" altLang="en-US" dirty="0"/>
          </a:p>
        </p:txBody>
      </p:sp>
      <mc:AlternateContent xmlns:mc="http://schemas.openxmlformats.org/markup-compatibility/2006">
        <mc:Choice xmlns:a14="http://schemas.microsoft.com/office/drawing/2010/main" Requires="a14">
          <p:sp>
            <p:nvSpPr>
              <p:cNvPr id="40" name="矩形: 圆角 39">
                <a:extLst>
                  <a:ext uri="{FF2B5EF4-FFF2-40B4-BE49-F238E27FC236}">
                    <a16:creationId xmlns:a16="http://schemas.microsoft.com/office/drawing/2014/main" id="{94664ED0-4E40-1FA5-4EC5-39246F3F9DE6}"/>
                  </a:ext>
                </a:extLst>
              </p:cNvPr>
              <p:cNvSpPr/>
              <p:nvPr/>
            </p:nvSpPr>
            <p:spPr>
              <a:xfrm>
                <a:off x="4039063" y="5216490"/>
                <a:ext cx="6381185" cy="722090"/>
              </a:xfrm>
              <a:prstGeom prst="roundRect">
                <a:avLst/>
              </a:prstGeom>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altLang="zh-CN" dirty="0"/>
                  <a:t>If </a:t>
                </a:r>
                <a14:m>
                  <m:oMath xmlns:m="http://schemas.openxmlformats.org/officeDocument/2006/math">
                    <m:r>
                      <a:rPr lang="en-US" altLang="zh-CN" i="1" smtClean="0">
                        <a:latin typeface="Cambria Math" panose="02040503050406030204" pitchFamily="18" charset="0"/>
                        <a:ea typeface="Cambria Math" panose="02040503050406030204" pitchFamily="18" charset="0"/>
                      </a:rPr>
                      <m:t>ℳ</m:t>
                    </m:r>
                  </m:oMath>
                </a14:m>
                <a:r>
                  <a:rPr lang="zh-CN" altLang="en-US" dirty="0"/>
                  <a:t> </a:t>
                </a:r>
                <a:r>
                  <a:rPr lang="en-US" altLang="zh-CN" dirty="0"/>
                  <a:t>is </a:t>
                </a:r>
                <a14:m>
                  <m:oMath xmlns:m="http://schemas.openxmlformats.org/officeDocument/2006/math">
                    <m:r>
                      <a:rPr lang="en-US" altLang="zh-CN" b="0" i="1" smtClean="0">
                        <a:latin typeface="Cambria Math" panose="02040503050406030204" pitchFamily="18" charset="0"/>
                      </a:rPr>
                      <m:t>𝜀</m:t>
                    </m:r>
                  </m:oMath>
                </a14:m>
                <a:r>
                  <a:rPr lang="en-US" altLang="zh-CN" dirty="0"/>
                  <a:t>-DP, then </a:t>
                </a:r>
                <a14:m>
                  <m:oMath xmlns:m="http://schemas.openxmlformats.org/officeDocument/2006/math">
                    <m:r>
                      <a:rPr lang="en-US" altLang="zh-CN" i="1" smtClean="0">
                        <a:latin typeface="Cambria Math" panose="02040503050406030204" pitchFamily="18" charset="0"/>
                        <a:ea typeface="Cambria Math" panose="02040503050406030204" pitchFamily="18" charset="0"/>
                      </a:rPr>
                      <m:t>ℳ</m:t>
                    </m:r>
                    <m:r>
                      <a:rPr lang="en-US" altLang="zh-CN" b="0" i="1" smtClean="0">
                        <a:latin typeface="Cambria Math" panose="02040503050406030204" pitchFamily="18" charset="0"/>
                        <a:ea typeface="Cambria Math" panose="02040503050406030204" pitchFamily="18" charset="0"/>
                      </a:rPr>
                      <m:t>∘</m:t>
                    </m:r>
                    <m:r>
                      <a:rPr lang="zh-CN" altLang="en-US" b="0" i="1" smtClean="0">
                        <a:latin typeface="Cambria Math" panose="02040503050406030204" pitchFamily="18" charset="0"/>
                        <a:ea typeface="Cambria Math" panose="02040503050406030204" pitchFamily="18" charset="0"/>
                      </a:rPr>
                      <m:t>𝒮</m:t>
                    </m:r>
                  </m:oMath>
                </a14:m>
                <a:r>
                  <a:rPr lang="zh-CN" altLang="en-US" dirty="0"/>
                  <a:t> </a:t>
                </a:r>
                <a:r>
                  <a:rPr lang="en-US" altLang="zh-CN" dirty="0"/>
                  <a:t>is </a:t>
                </a:r>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𝜀</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ln</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en-US" altLang="zh-CN" b="0" i="1" smtClean="0">
                                <a:latin typeface="Cambria Math" panose="02040503050406030204" pitchFamily="18" charset="0"/>
                              </a:rPr>
                              <m:t>𝑞</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𝜀</m:t>
                                    </m:r>
                                  </m:sup>
                                </m:sSup>
                                <m:r>
                                  <a:rPr lang="en-US" altLang="zh-CN" b="0" i="1" smtClean="0">
                                    <a:latin typeface="Cambria Math" panose="02040503050406030204" pitchFamily="18" charset="0"/>
                                  </a:rPr>
                                  <m:t>−1</m:t>
                                </m:r>
                              </m:e>
                            </m:d>
                          </m:e>
                        </m:d>
                      </m:e>
                    </m:func>
                  </m:oMath>
                </a14:m>
                <a:r>
                  <a:rPr lang="en-US" altLang="zh-CN" dirty="0"/>
                  <a:t>-DP</a:t>
                </a:r>
                <a:endParaRPr lang="zh-CN" altLang="en-US" dirty="0"/>
              </a:p>
            </p:txBody>
          </p:sp>
        </mc:Choice>
        <mc:Fallback>
          <p:sp>
            <p:nvSpPr>
              <p:cNvPr id="40" name="矩形: 圆角 39">
                <a:extLst>
                  <a:ext uri="{FF2B5EF4-FFF2-40B4-BE49-F238E27FC236}">
                    <a16:creationId xmlns:a16="http://schemas.microsoft.com/office/drawing/2014/main" id="{94664ED0-4E40-1FA5-4EC5-39246F3F9DE6}"/>
                  </a:ext>
                </a:extLst>
              </p:cNvPr>
              <p:cNvSpPr>
                <a:spLocks noRot="1" noChangeAspect="1" noMove="1" noResize="1" noEditPoints="1" noAdjustHandles="1" noChangeArrowheads="1" noChangeShapeType="1" noTextEdit="1"/>
              </p:cNvSpPr>
              <p:nvPr/>
            </p:nvSpPr>
            <p:spPr>
              <a:xfrm>
                <a:off x="4039063" y="5216490"/>
                <a:ext cx="6381185" cy="722090"/>
              </a:xfrm>
              <a:prstGeom prst="roundRect">
                <a:avLst/>
              </a:prstGeom>
              <a:blipFill>
                <a:blip r:embed="rId11"/>
                <a:stretch>
                  <a:fillRect/>
                </a:stretch>
              </a:blipFill>
              <a:ln/>
            </p:spPr>
            <p:txBody>
              <a:bodyPr/>
              <a:lstStyle/>
              <a:p>
                <a:r>
                  <a:rPr lang="zh-CN" altLang="en-US">
                    <a:noFill/>
                  </a:rPr>
                  <a:t> </a:t>
                </a:r>
              </a:p>
            </p:txBody>
          </p:sp>
        </mc:Fallback>
      </mc:AlternateContent>
      <p:sp>
        <p:nvSpPr>
          <p:cNvPr id="41" name="箭头: 右 40">
            <a:extLst>
              <a:ext uri="{FF2B5EF4-FFF2-40B4-BE49-F238E27FC236}">
                <a16:creationId xmlns:a16="http://schemas.microsoft.com/office/drawing/2014/main" id="{1BBD4255-480E-A2DC-19D1-A9EEE10ACC27}"/>
              </a:ext>
            </a:extLst>
          </p:cNvPr>
          <p:cNvSpPr/>
          <p:nvPr/>
        </p:nvSpPr>
        <p:spPr>
          <a:xfrm>
            <a:off x="3221458" y="5471575"/>
            <a:ext cx="691179" cy="262602"/>
          </a:xfrm>
          <a:prstGeom prs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p:sp>
        <p:nvSpPr>
          <p:cNvPr id="42" name="矩形: 圆角 41">
            <a:extLst>
              <a:ext uri="{FF2B5EF4-FFF2-40B4-BE49-F238E27FC236}">
                <a16:creationId xmlns:a16="http://schemas.microsoft.com/office/drawing/2014/main" id="{96200566-5A7C-0029-17C3-582008CE264C}"/>
              </a:ext>
            </a:extLst>
          </p:cNvPr>
          <p:cNvSpPr/>
          <p:nvPr/>
        </p:nvSpPr>
        <p:spPr>
          <a:xfrm>
            <a:off x="10282521" y="5197992"/>
            <a:ext cx="1909479" cy="714534"/>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dirty="0">
                <a:ln>
                  <a:noFill/>
                </a:ln>
                <a:solidFill>
                  <a:prstClr val="black"/>
                </a:solidFill>
                <a:effectLst/>
                <a:uLnTx/>
                <a:uFillTx/>
                <a:latin typeface="Times New Roman"/>
                <a:ea typeface="微软雅黑"/>
                <a:cs typeface="+mn-cs"/>
              </a:rPr>
              <a:t>[BBG, NeurIPS’18]</a:t>
            </a:r>
          </a:p>
        </p:txBody>
      </p:sp>
      <mc:AlternateContent xmlns:mc="http://schemas.openxmlformats.org/markup-compatibility/2006">
        <mc:Choice xmlns:a14="http://schemas.microsoft.com/office/drawing/2010/main" Requires="a14">
          <p:sp>
            <p:nvSpPr>
              <p:cNvPr id="43" name="矩形: 圆角 42">
                <a:extLst>
                  <a:ext uri="{FF2B5EF4-FFF2-40B4-BE49-F238E27FC236}">
                    <a16:creationId xmlns:a16="http://schemas.microsoft.com/office/drawing/2014/main" id="{3B7008B5-5FED-9DD3-8DFF-C73C438A3B20}"/>
                  </a:ext>
                </a:extLst>
              </p:cNvPr>
              <p:cNvSpPr/>
              <p:nvPr/>
            </p:nvSpPr>
            <p:spPr>
              <a:xfrm>
                <a:off x="8195206" y="5905572"/>
                <a:ext cx="909919"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b="0" i="1" smtClean="0">
                          <a:latin typeface="Cambria Math" panose="02040503050406030204" pitchFamily="18" charset="0"/>
                        </a:rPr>
                        <m:t>≈</m:t>
                      </m:r>
                      <m:r>
                        <a:rPr lang="en-US" altLang="zh-CN" sz="1400" b="0" i="1" smtClean="0">
                          <a:latin typeface="Cambria Math" panose="02040503050406030204" pitchFamily="18" charset="0"/>
                        </a:rPr>
                        <m:t>𝑞</m:t>
                      </m:r>
                      <m:r>
                        <a:rPr lang="en-US" altLang="zh-CN" sz="1400" b="0" i="1" smtClean="0">
                          <a:latin typeface="Cambria Math" panose="02040503050406030204" pitchFamily="18" charset="0"/>
                        </a:rPr>
                        <m:t>𝜀</m:t>
                      </m:r>
                    </m:oMath>
                  </m:oMathPara>
                </a14:m>
                <a:endParaRPr lang="zh-CN" altLang="en-US" sz="1400" dirty="0"/>
              </a:p>
            </p:txBody>
          </p:sp>
        </mc:Choice>
        <mc:Fallback>
          <p:sp>
            <p:nvSpPr>
              <p:cNvPr id="43" name="矩形: 圆角 42">
                <a:extLst>
                  <a:ext uri="{FF2B5EF4-FFF2-40B4-BE49-F238E27FC236}">
                    <a16:creationId xmlns:a16="http://schemas.microsoft.com/office/drawing/2014/main" id="{3B7008B5-5FED-9DD3-8DFF-C73C438A3B20}"/>
                  </a:ext>
                </a:extLst>
              </p:cNvPr>
              <p:cNvSpPr>
                <a:spLocks noRot="1" noChangeAspect="1" noMove="1" noResize="1" noEditPoints="1" noAdjustHandles="1" noChangeArrowheads="1" noChangeShapeType="1" noTextEdit="1"/>
              </p:cNvSpPr>
              <p:nvPr/>
            </p:nvSpPr>
            <p:spPr>
              <a:xfrm>
                <a:off x="8195206" y="5905572"/>
                <a:ext cx="909919" cy="433583"/>
              </a:xfrm>
              <a:prstGeom prst="roundRect">
                <a:avLst/>
              </a:prstGeom>
              <a:blipFill>
                <a:blip r:embed="rId12"/>
                <a:stretch>
                  <a:fillRect/>
                </a:stretch>
              </a:blipFill>
              <a:ln>
                <a:noFill/>
              </a:ln>
            </p:spPr>
            <p:txBody>
              <a:bodyPr/>
              <a:lstStyle/>
              <a:p>
                <a:r>
                  <a:rPr lang="zh-CN" altLang="en-US">
                    <a:noFill/>
                  </a:rPr>
                  <a:t> </a:t>
                </a:r>
              </a:p>
            </p:txBody>
          </p:sp>
        </mc:Fallback>
      </mc:AlternateContent>
      <p:cxnSp>
        <p:nvCxnSpPr>
          <p:cNvPr id="45" name="直接箭头连接符 44">
            <a:extLst>
              <a:ext uri="{FF2B5EF4-FFF2-40B4-BE49-F238E27FC236}">
                <a16:creationId xmlns:a16="http://schemas.microsoft.com/office/drawing/2014/main" id="{2E967FF9-EE05-6B62-B57F-5EADC96185E3}"/>
              </a:ext>
            </a:extLst>
          </p:cNvPr>
          <p:cNvCxnSpPr>
            <a:cxnSpLocks/>
          </p:cNvCxnSpPr>
          <p:nvPr/>
        </p:nvCxnSpPr>
        <p:spPr>
          <a:xfrm>
            <a:off x="9822195" y="3965601"/>
            <a:ext cx="704137"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mc:Choice xmlns:a14="http://schemas.microsoft.com/office/drawing/2010/main" Requires="a14">
          <p:sp>
            <p:nvSpPr>
              <p:cNvPr id="48" name="矩形: 圆角 47">
                <a:extLst>
                  <a:ext uri="{FF2B5EF4-FFF2-40B4-BE49-F238E27FC236}">
                    <a16:creationId xmlns:a16="http://schemas.microsoft.com/office/drawing/2014/main" id="{04761917-5E26-4331-5101-882CFDF22C05}"/>
                  </a:ext>
                </a:extLst>
              </p:cNvPr>
              <p:cNvSpPr/>
              <p:nvPr/>
            </p:nvSpPr>
            <p:spPr>
              <a:xfrm>
                <a:off x="9961285" y="4010728"/>
                <a:ext cx="433102"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14:m>
                  <m:oMathPara xmlns:m="http://schemas.openxmlformats.org/officeDocument/2006/math">
                    <m:oMathParaPr>
                      <m:jc m:val="centerGroup"/>
                    </m:oMathParaPr>
                    <m:oMath xmlns:m="http://schemas.openxmlformats.org/officeDocument/2006/math">
                      <m:r>
                        <a:rPr lang="en-US" altLang="zh-CN" sz="1400" i="1" smtClean="0">
                          <a:latin typeface="Cambria Math" panose="02040503050406030204" pitchFamily="18" charset="0"/>
                        </a:rPr>
                        <m:t>×</m:t>
                      </m:r>
                      <m:f>
                        <m:fPr>
                          <m:ctrlPr>
                            <a:rPr lang="en-US" altLang="zh-CN" sz="1400" b="0" i="1" smtClean="0">
                              <a:latin typeface="Cambria Math" panose="02040503050406030204" pitchFamily="18" charset="0"/>
                            </a:rPr>
                          </m:ctrlPr>
                        </m:fPr>
                        <m:num>
                          <m:r>
                            <a:rPr lang="en-US" altLang="zh-CN" sz="1400" b="0" i="1" smtClean="0">
                              <a:latin typeface="Cambria Math" panose="02040503050406030204" pitchFamily="18" charset="0"/>
                            </a:rPr>
                            <m:t>1</m:t>
                          </m:r>
                        </m:num>
                        <m:den>
                          <m:r>
                            <a:rPr lang="en-US" altLang="zh-CN" sz="1400" b="0" i="1" smtClean="0">
                              <a:latin typeface="Cambria Math" panose="02040503050406030204" pitchFamily="18" charset="0"/>
                            </a:rPr>
                            <m:t>𝑞</m:t>
                          </m:r>
                        </m:den>
                      </m:f>
                    </m:oMath>
                  </m:oMathPara>
                </a14:m>
                <a:endParaRPr lang="en-US" altLang="zh-CN" sz="1400" dirty="0"/>
              </a:p>
            </p:txBody>
          </p:sp>
        </mc:Choice>
        <mc:Fallback>
          <p:sp>
            <p:nvSpPr>
              <p:cNvPr id="48" name="矩形: 圆角 47">
                <a:extLst>
                  <a:ext uri="{FF2B5EF4-FFF2-40B4-BE49-F238E27FC236}">
                    <a16:creationId xmlns:a16="http://schemas.microsoft.com/office/drawing/2014/main" id="{04761917-5E26-4331-5101-882CFDF22C05}"/>
                  </a:ext>
                </a:extLst>
              </p:cNvPr>
              <p:cNvSpPr>
                <a:spLocks noRot="1" noChangeAspect="1" noMove="1" noResize="1" noEditPoints="1" noAdjustHandles="1" noChangeArrowheads="1" noChangeShapeType="1" noTextEdit="1"/>
              </p:cNvSpPr>
              <p:nvPr/>
            </p:nvSpPr>
            <p:spPr>
              <a:xfrm>
                <a:off x="9961285" y="4010728"/>
                <a:ext cx="433102" cy="433583"/>
              </a:xfrm>
              <a:prstGeom prst="roundRect">
                <a:avLst/>
              </a:prstGeom>
              <a:blipFill>
                <a:blip r:embed="rId13"/>
                <a:stretch>
                  <a:fillRect t="-1408" b="-14085"/>
                </a:stretch>
              </a:blipFill>
              <a:ln>
                <a:noFill/>
              </a:ln>
            </p:spPr>
            <p:txBody>
              <a:bodyPr/>
              <a:lstStyle/>
              <a:p>
                <a:r>
                  <a:rPr lang="zh-CN" altLang="en-US">
                    <a:noFill/>
                  </a:rPr>
                  <a:t> </a:t>
                </a:r>
              </a:p>
            </p:txBody>
          </p:sp>
        </mc:Fallback>
      </mc:AlternateContent>
      <p:sp>
        <p:nvSpPr>
          <p:cNvPr id="49" name="矩形: 圆角 48">
            <a:extLst>
              <a:ext uri="{FF2B5EF4-FFF2-40B4-BE49-F238E27FC236}">
                <a16:creationId xmlns:a16="http://schemas.microsoft.com/office/drawing/2014/main" id="{6C29A7B2-69AA-65F3-CECA-93604FB67C61}"/>
              </a:ext>
            </a:extLst>
          </p:cNvPr>
          <p:cNvSpPr/>
          <p:nvPr/>
        </p:nvSpPr>
        <p:spPr>
          <a:xfrm>
            <a:off x="10526332" y="4214607"/>
            <a:ext cx="1585801" cy="433583"/>
          </a:xfrm>
          <a:prstGeom prst="roundRect">
            <a:avLst/>
          </a:prstGeom>
          <a:noFill/>
          <a:ln>
            <a:noFill/>
          </a:ln>
        </p:spPr>
        <p:style>
          <a:lnRef idx="0">
            <a:scrgbClr r="0" g="0" b="0"/>
          </a:lnRef>
          <a:fillRef idx="0">
            <a:scrgbClr r="0" g="0" b="0"/>
          </a:fillRef>
          <a:effectRef idx="0">
            <a:scrgbClr r="0" g="0" b="0"/>
          </a:effectRef>
          <a:fontRef idx="minor">
            <a:schemeClr val="dk1"/>
          </a:fontRef>
        </p:style>
        <p:txBody>
          <a:bodyPr rtlCol="0" anchor="ctr"/>
          <a:lstStyle/>
          <a:p>
            <a:pPr algn="ctr"/>
            <a:r>
              <a:rPr lang="en-US" altLang="zh-CN" sz="1400" dirty="0"/>
              <a:t>Unbiased Estimate</a:t>
            </a:r>
            <a:endParaRPr lang="zh-CN" altLang="en-US" sz="1400" dirty="0"/>
          </a:p>
        </p:txBody>
      </p:sp>
      <p:pic>
        <p:nvPicPr>
          <p:cNvPr id="50" name="图形 49" descr="条形图 纯色填充">
            <a:extLst>
              <a:ext uri="{FF2B5EF4-FFF2-40B4-BE49-F238E27FC236}">
                <a16:creationId xmlns:a16="http://schemas.microsoft.com/office/drawing/2014/main" id="{E7FB2F52-9354-033E-17CB-35877104101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614176" y="3300419"/>
            <a:ext cx="914400" cy="914400"/>
          </a:xfrm>
          <a:prstGeom prst="rect">
            <a:avLst/>
          </a:prstGeom>
        </p:spPr>
      </p:pic>
    </p:spTree>
    <p:extLst>
      <p:ext uri="{BB962C8B-B14F-4D97-AF65-F5344CB8AC3E}">
        <p14:creationId xmlns:p14="http://schemas.microsoft.com/office/powerpoint/2010/main" val="1696134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522646-E49E-4C11-3300-0B7391DB3149}"/>
              </a:ext>
            </a:extLst>
          </p:cNvPr>
          <p:cNvSpPr>
            <a:spLocks noGrp="1"/>
          </p:cNvSpPr>
          <p:nvPr>
            <p:ph type="title"/>
          </p:nvPr>
        </p:nvSpPr>
        <p:spPr/>
        <p:txBody>
          <a:bodyPr>
            <a:normAutofit fontScale="90000"/>
          </a:bodyPr>
          <a:lstStyle/>
          <a:p>
            <a:r>
              <a:rPr lang="en-US" altLang="zh-CN" dirty="0"/>
              <a:t>Our Contribution (1): Sample-and-Truncate Amplification</a:t>
            </a:r>
            <a:endParaRPr lang="zh-CN" altLang="en-US" dirty="0"/>
          </a:p>
        </p:txBody>
      </p:sp>
      <mc:AlternateContent xmlns:mc="http://schemas.openxmlformats.org/markup-compatibility/2006">
        <mc:Choice xmlns:a14="http://schemas.microsoft.com/office/drawing/2010/main" Requires="a14">
          <p:sp>
            <p:nvSpPr>
              <p:cNvPr id="3" name="内容占位符 2">
                <a:extLst>
                  <a:ext uri="{FF2B5EF4-FFF2-40B4-BE49-F238E27FC236}">
                    <a16:creationId xmlns:a16="http://schemas.microsoft.com/office/drawing/2014/main" id="{CC249370-501E-86EA-7AAC-CB083DC19A3D}"/>
                  </a:ext>
                </a:extLst>
              </p:cNvPr>
              <p:cNvSpPr>
                <a:spLocks noGrp="1"/>
              </p:cNvSpPr>
              <p:nvPr>
                <p:ph sz="half" idx="1"/>
              </p:nvPr>
            </p:nvSpPr>
            <p:spPr>
              <a:xfrm>
                <a:off x="347179" y="1825624"/>
                <a:ext cx="5672621" cy="4809887"/>
              </a:xfrm>
            </p:spPr>
            <p:txBody>
              <a:bodyPr>
                <a:normAutofit/>
              </a:bodyPr>
              <a:lstStyle/>
              <a:p>
                <a:r>
                  <a:rPr lang="en-US" altLang="zh-CN" dirty="0"/>
                  <a:t>S&amp;E </a:t>
                </a:r>
                <a:r>
                  <a:rPr lang="en-US" altLang="zh-CN" sz="1800" dirty="0"/>
                  <a:t>[FY,</a:t>
                </a:r>
                <a:r>
                  <a:rPr lang="zh-CN" altLang="en-US" sz="1800" dirty="0"/>
                  <a:t> </a:t>
                </a:r>
                <a:r>
                  <a:rPr lang="en-US" altLang="zh-CN" sz="1800" dirty="0"/>
                  <a:t>SIGMOD’24]</a:t>
                </a:r>
                <a:endParaRPr lang="en-US" altLang="zh-CN" dirty="0"/>
              </a:p>
              <a:p>
                <a:pPr lvl="1"/>
                <a:r>
                  <a:rPr lang="en-US" altLang="zh-CN" dirty="0"/>
                  <a:t>Sample </a:t>
                </a:r>
                <a:r>
                  <a:rPr lang="en-US" altLang="zh-CN" dirty="0">
                    <a:solidFill>
                      <a:srgbClr val="C00000"/>
                    </a:solidFill>
                  </a:rPr>
                  <a:t>a user</a:t>
                </a:r>
                <a:r>
                  <a:rPr lang="en-US" altLang="zh-CN" dirty="0"/>
                  <a:t>, and Explore its collaborators</a:t>
                </a:r>
              </a:p>
              <a:p>
                <a:pPr lvl="1"/>
                <a:r>
                  <a:rPr lang="en-US" altLang="zh-CN" dirty="0"/>
                  <a:t>Each </a:t>
                </a:r>
                <a14:m>
                  <m:oMath xmlns:m="http://schemas.openxmlformats.org/officeDocument/2006/math">
                    <m:r>
                      <a:rPr lang="en-US" altLang="zh-CN" b="0" i="1" smtClean="0">
                        <a:latin typeface="Cambria Math" panose="02040503050406030204" pitchFamily="18" charset="0"/>
                      </a:rPr>
                      <m:t>𝑡</m:t>
                    </m:r>
                  </m:oMath>
                </a14:m>
                <a:r>
                  <a:rPr lang="zh-CN" altLang="en-US" dirty="0"/>
                  <a:t> </a:t>
                </a:r>
                <a:r>
                  <a:rPr lang="en-US" altLang="zh-CN" dirty="0"/>
                  <a:t>is sampled with prob </a:t>
                </a:r>
                <a14:m>
                  <m:oMath xmlns:m="http://schemas.openxmlformats.org/officeDocument/2006/math">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𝑈</m:t>
                            </m:r>
                          </m:e>
                        </m:d>
                      </m:den>
                    </m:f>
                  </m:oMath>
                </a14:m>
                <a:endParaRPr lang="en-US" altLang="zh-CN" dirty="0"/>
              </a:p>
              <a:p>
                <a:pPr lvl="1"/>
                <a14:m>
                  <m:oMath xmlns:m="http://schemas.openxmlformats.org/officeDocument/2006/math">
                    <m:r>
                      <a:rPr lang="en-US" altLang="zh-CN" b="0" i="1" smtClean="0">
                        <a:latin typeface="Cambria Math" panose="02040503050406030204" pitchFamily="18" charset="0"/>
                      </a:rPr>
                      <m:t>𝐶</m:t>
                    </m:r>
                  </m:oMath>
                </a14:m>
                <a:r>
                  <a:rPr lang="en-US" altLang="zh-CN" dirty="0"/>
                  <a:t>: the upper bound on the number of collaborators per user</a:t>
                </a:r>
              </a:p>
              <a:p>
                <a:pPr lvl="1"/>
                <a:r>
                  <a:rPr lang="en-US" altLang="zh-CN" dirty="0"/>
                  <a:t>Samples are </a:t>
                </a:r>
                <a:r>
                  <a:rPr lang="en-US" altLang="zh-CN" dirty="0">
                    <a:solidFill>
                      <a:srgbClr val="C00000"/>
                    </a:solidFill>
                  </a:rPr>
                  <a:t>identical</a:t>
                </a:r>
                <a:r>
                  <a:rPr lang="en-US" altLang="zh-CN" dirty="0"/>
                  <a:t> if the </a:t>
                </a:r>
                <a:r>
                  <a:rPr lang="en-US" altLang="zh-CN" i="1" dirty="0"/>
                  <a:t>witness</a:t>
                </a:r>
                <a:r>
                  <a:rPr lang="en-US" altLang="zh-CN" dirty="0"/>
                  <a:t> user is not in the sample, which happen with prob </a:t>
                </a:r>
                <a14:m>
                  <m:oMath xmlns:m="http://schemas.openxmlformats.org/officeDocument/2006/math">
                    <m:r>
                      <a:rPr lang="en-US" altLang="zh-CN" b="0" i="0" smtClean="0">
                        <a:latin typeface="Cambria Math" panose="02040503050406030204" pitchFamily="18" charset="0"/>
                      </a:rPr>
                      <m:t>1−</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𝐶</m:t>
                        </m:r>
                      </m:num>
                      <m:den>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𝑈</m:t>
                            </m:r>
                          </m:e>
                        </m:d>
                      </m:den>
                    </m:f>
                  </m:oMath>
                </a14:m>
                <a:endParaRPr lang="en-US" altLang="zh-CN" dirty="0"/>
              </a:p>
              <a:p>
                <a:pPr lvl="1"/>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𝜀</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ln</m:t>
                        </m:r>
                      </m:fName>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f>
                              <m:fPr>
                                <m:ctrlPr>
                                  <a:rPr lang="en-US" altLang="zh-CN" b="0" i="1" smtClean="0">
                                    <a:latin typeface="Cambria Math" panose="02040503050406030204" pitchFamily="18" charset="0"/>
                                  </a:rPr>
                                </m:ctrlPr>
                              </m:fPr>
                              <m:num>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𝑈</m:t>
                                    </m:r>
                                  </m:e>
                                </m:d>
                              </m:num>
                              <m:den>
                                <m:r>
                                  <a:rPr lang="en-US" altLang="zh-CN" b="0" i="1" smtClean="0">
                                    <a:latin typeface="Cambria Math" panose="02040503050406030204" pitchFamily="18" charset="0"/>
                                  </a:rPr>
                                  <m:t>𝐶</m:t>
                                </m:r>
                              </m:den>
                            </m:f>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𝜀</m:t>
                                    </m:r>
                                  </m:sup>
                                </m:sSup>
                                <m:r>
                                  <a:rPr lang="en-US" altLang="zh-CN" b="0" i="1" smtClean="0">
                                    <a:latin typeface="Cambria Math" panose="02040503050406030204" pitchFamily="18" charset="0"/>
                                  </a:rPr>
                                  <m:t>−1</m:t>
                                </m:r>
                              </m:e>
                            </m:d>
                          </m:e>
                        </m:d>
                      </m:e>
                    </m:func>
                  </m:oMath>
                </a14:m>
                <a:endParaRPr lang="zh-CN" altLang="en-US" dirty="0"/>
              </a:p>
            </p:txBody>
          </p:sp>
        </mc:Choice>
        <mc:Fallback>
          <p:sp>
            <p:nvSpPr>
              <p:cNvPr id="3" name="内容占位符 2">
                <a:extLst>
                  <a:ext uri="{FF2B5EF4-FFF2-40B4-BE49-F238E27FC236}">
                    <a16:creationId xmlns:a16="http://schemas.microsoft.com/office/drawing/2014/main" id="{CC249370-501E-86EA-7AAC-CB083DC19A3D}"/>
                  </a:ext>
                </a:extLst>
              </p:cNvPr>
              <p:cNvSpPr>
                <a:spLocks noGrp="1" noRot="1" noChangeAspect="1" noMove="1" noResize="1" noEditPoints="1" noAdjustHandles="1" noChangeArrowheads="1" noChangeShapeType="1" noTextEdit="1"/>
              </p:cNvSpPr>
              <p:nvPr>
                <p:ph sz="half" idx="1"/>
              </p:nvPr>
            </p:nvSpPr>
            <p:spPr>
              <a:xfrm>
                <a:off x="347179" y="1825624"/>
                <a:ext cx="5672621" cy="4809887"/>
              </a:xfrm>
              <a:blipFill>
                <a:blip r:embed="rId3"/>
                <a:stretch>
                  <a:fillRect l="-1933" t="-2152" r="-3008"/>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内容占位符 7">
                <a:extLst>
                  <a:ext uri="{FF2B5EF4-FFF2-40B4-BE49-F238E27FC236}">
                    <a16:creationId xmlns:a16="http://schemas.microsoft.com/office/drawing/2014/main" id="{CCEF9808-6D25-E35E-A7A8-684AC0B97BE0}"/>
                  </a:ext>
                </a:extLst>
              </p:cNvPr>
              <p:cNvSpPr>
                <a:spLocks noGrp="1"/>
              </p:cNvSpPr>
              <p:nvPr>
                <p:ph sz="half" idx="2"/>
              </p:nvPr>
            </p:nvSpPr>
            <p:spPr>
              <a:xfrm>
                <a:off x="6172199" y="1825625"/>
                <a:ext cx="5446059" cy="4809886"/>
              </a:xfrm>
            </p:spPr>
            <p:txBody>
              <a:bodyPr>
                <a:normAutofit/>
              </a:bodyPr>
              <a:lstStyle/>
              <a:p>
                <a:r>
                  <a:rPr lang="en-US" altLang="zh-CN" dirty="0"/>
                  <a:t>DP-S4S </a:t>
                </a:r>
                <a:r>
                  <a:rPr lang="en-US" altLang="zh-CN" sz="1800" dirty="0"/>
                  <a:t>(This work)</a:t>
                </a:r>
              </a:p>
              <a:p>
                <a:pPr lvl="1"/>
                <a:r>
                  <a:rPr lang="en-US" altLang="zh-CN" dirty="0"/>
                  <a:t>Sample an </a:t>
                </a:r>
                <a:r>
                  <a:rPr lang="en-US" altLang="zh-CN" dirty="0">
                    <a:solidFill>
                      <a:srgbClr val="0070C0"/>
                    </a:solidFill>
                  </a:rPr>
                  <a:t>aggregation unit</a:t>
                </a:r>
              </a:p>
              <a:p>
                <a:pPr lvl="1"/>
                <a:r>
                  <a:rPr lang="en-US" altLang="zh-CN" dirty="0"/>
                  <a:t>Each </a:t>
                </a:r>
                <a14:m>
                  <m:oMath xmlns:m="http://schemas.openxmlformats.org/officeDocument/2006/math">
                    <m:r>
                      <a:rPr lang="en-US" altLang="zh-CN" b="0" i="1" smtClean="0">
                        <a:latin typeface="Cambria Math" panose="02040503050406030204" pitchFamily="18" charset="0"/>
                      </a:rPr>
                      <m:t>𝑡</m:t>
                    </m:r>
                  </m:oMath>
                </a14:m>
                <a:r>
                  <a:rPr lang="zh-CN" altLang="en-US" dirty="0"/>
                  <a:t> </a:t>
                </a:r>
                <a:r>
                  <a:rPr lang="en-US" altLang="zh-CN" dirty="0"/>
                  <a:t>is sampled </a:t>
                </a:r>
                <a:r>
                  <a:rPr lang="en-US" altLang="zh-CN" dirty="0" err="1"/>
                  <a:t>i.i.d.</a:t>
                </a:r>
                <a:r>
                  <a:rPr lang="en-US" altLang="zh-CN" dirty="0"/>
                  <a:t> with prob </a:t>
                </a:r>
                <a14:m>
                  <m:oMath xmlns:m="http://schemas.openxmlformats.org/officeDocument/2006/math">
                    <m:r>
                      <a:rPr lang="en-US" altLang="zh-CN" b="0" i="1" smtClean="0">
                        <a:latin typeface="Cambria Math" panose="02040503050406030204" pitchFamily="18" charset="0"/>
                      </a:rPr>
                      <m:t>𝑞</m:t>
                    </m:r>
                  </m:oMath>
                </a14:m>
                <a:endParaRPr lang="en-US" altLang="zh-CN" dirty="0"/>
              </a:p>
              <a:p>
                <a:pPr lvl="1"/>
                <a14:m>
                  <m:oMath xmlns:m="http://schemas.openxmlformats.org/officeDocument/2006/math">
                    <m:r>
                      <m:rPr>
                        <m:sty m:val="p"/>
                      </m:rPr>
                      <a:rPr lang="en-US" altLang="zh-CN" b="0" i="0" smtClean="0">
                        <a:latin typeface="Cambria Math" panose="02040503050406030204" pitchFamily="18" charset="0"/>
                      </a:rPr>
                      <m:t>Δ</m:t>
                    </m:r>
                  </m:oMath>
                </a14:m>
                <a:r>
                  <a:rPr lang="en-US" altLang="zh-CN" dirty="0"/>
                  <a:t>: the upper bound on the number of aggregation units per user</a:t>
                </a:r>
              </a:p>
              <a:p>
                <a:pPr lvl="1"/>
                <a:r>
                  <a:rPr lang="en-US" altLang="zh-CN" dirty="0"/>
                  <a:t>Samples are </a:t>
                </a:r>
                <a:r>
                  <a:rPr lang="en-US" altLang="zh-CN" dirty="0">
                    <a:solidFill>
                      <a:srgbClr val="C00000"/>
                    </a:solidFill>
                  </a:rPr>
                  <a:t>identical</a:t>
                </a:r>
                <a:r>
                  <a:rPr lang="en-US" altLang="zh-CN" dirty="0"/>
                  <a:t> with probability</a:t>
                </a:r>
                <a:r>
                  <a:rPr lang="en-US" altLang="zh-CN" i="1" dirty="0"/>
                  <a:t>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0</m:t>
                        </m:r>
                      </m:sub>
                    </m:sSub>
                    <m:r>
                      <a:rPr lang="en-US" altLang="zh-CN" b="0" i="0" smtClean="0">
                        <a:latin typeface="Cambria Math" panose="02040503050406030204" pitchFamily="18" charset="0"/>
                      </a:rPr>
                      <m:t>=</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en-US" altLang="zh-CN" b="0" i="1" smtClean="0">
                                <a:latin typeface="Cambria Math" panose="02040503050406030204" pitchFamily="18" charset="0"/>
                              </a:rPr>
                              <m:t>𝑞</m:t>
                            </m:r>
                          </m:e>
                        </m:d>
                      </m:e>
                      <m:sup>
                        <m:r>
                          <m:rPr>
                            <m:sty m:val="p"/>
                          </m:rPr>
                          <a:rPr lang="en-US" altLang="zh-CN" b="0" i="0" smtClean="0">
                            <a:latin typeface="Cambria Math" panose="02040503050406030204" pitchFamily="18" charset="0"/>
                          </a:rPr>
                          <m:t>Δ</m:t>
                        </m:r>
                      </m:sup>
                    </m:sSup>
                  </m:oMath>
                </a14:m>
                <a:endParaRPr lang="en-US" altLang="zh-CN" dirty="0"/>
              </a:p>
              <a:p>
                <a:pPr lvl="1"/>
                <a:r>
                  <a:rPr lang="en-US" altLang="zh-CN" dirty="0"/>
                  <a:t>Samples </a:t>
                </a:r>
                <a:r>
                  <a:rPr lang="en-US" altLang="zh-CN" dirty="0">
                    <a:solidFill>
                      <a:srgbClr val="0070C0"/>
                    </a:solidFill>
                  </a:rPr>
                  <a:t>differ by 1 record </a:t>
                </a:r>
                <a:r>
                  <a:rPr lang="en-US" altLang="zh-CN" dirty="0"/>
                  <a:t>with probability </a:t>
                </a:r>
                <a14:m>
                  <m:oMath xmlns:m="http://schemas.openxmlformats.org/officeDocument/2006/math">
                    <m:sSub>
                      <m:sSubPr>
                        <m:ctrlPr>
                          <a:rPr lang="en-US" altLang="zh-CN" i="1">
                            <a:latin typeface="Cambria Math" panose="02040503050406030204" pitchFamily="18" charset="0"/>
                          </a:rPr>
                        </m:ctrlPr>
                      </m:sSubPr>
                      <m:e>
                        <m:r>
                          <a:rPr lang="en-US" altLang="zh-CN" i="1">
                            <a:latin typeface="Cambria Math" panose="02040503050406030204" pitchFamily="18" charset="0"/>
                          </a:rPr>
                          <m:t>𝑝</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d>
                      <m:dPr>
                        <m:ctrlPr>
                          <a:rPr lang="en-US" altLang="zh-CN" i="1" smtClean="0">
                            <a:latin typeface="Cambria Math" panose="02040503050406030204" pitchFamily="18" charset="0"/>
                          </a:rPr>
                        </m:ctrlPr>
                      </m:dPr>
                      <m:e>
                        <m:m>
                          <m:mPr>
                            <m:mcs>
                              <m:mc>
                                <m:mcPr>
                                  <m:count m:val="1"/>
                                  <m:mcJc m:val="center"/>
                                </m:mcPr>
                              </m:mc>
                            </m:mcs>
                            <m:ctrlPr>
                              <a:rPr lang="en-US" altLang="zh-CN" i="1" smtClean="0">
                                <a:latin typeface="Cambria Math" panose="02040503050406030204" pitchFamily="18" charset="0"/>
                              </a:rPr>
                            </m:ctrlPr>
                          </m:mPr>
                          <m:mr>
                            <m:e>
                              <m:r>
                                <m:rPr>
                                  <m:sty m:val="p"/>
                                </m:rPr>
                                <a:rPr lang="en-US" altLang="zh-CN" b="0" i="0" smtClean="0">
                                  <a:latin typeface="Cambria Math" panose="02040503050406030204" pitchFamily="18" charset="0"/>
                                </a:rPr>
                                <m:t>Δ</m:t>
                              </m:r>
                            </m:e>
                          </m:mr>
                          <m:mr>
                            <m:e>
                              <m:r>
                                <a:rPr lang="en-US" altLang="zh-CN" b="0" i="1" smtClean="0">
                                  <a:latin typeface="Cambria Math" panose="02040503050406030204" pitchFamily="18" charset="0"/>
                                </a:rPr>
                                <m:t>1</m:t>
                              </m:r>
                            </m:e>
                          </m:mr>
                        </m:m>
                      </m:e>
                    </m:d>
                    <m:r>
                      <a:rPr lang="en-US" altLang="zh-CN" b="0" i="1" smtClean="0">
                        <a:latin typeface="Cambria Math" panose="02040503050406030204" pitchFamily="18" charset="0"/>
                      </a:rPr>
                      <m:t>𝑞</m:t>
                    </m:r>
                    <m:sSup>
                      <m:sSupPr>
                        <m:ctrlPr>
                          <a:rPr lang="en-US" altLang="zh-CN" b="0" i="1" smtClean="0">
                            <a:latin typeface="Cambria Math" panose="02040503050406030204" pitchFamily="18" charset="0"/>
                          </a:rPr>
                        </m:ctrlPr>
                      </m:sSupPr>
                      <m:e>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1−</m:t>
                            </m:r>
                            <m:r>
                              <a:rPr lang="en-US" altLang="zh-CN" b="0" i="1" smtClean="0">
                                <a:latin typeface="Cambria Math" panose="02040503050406030204" pitchFamily="18" charset="0"/>
                              </a:rPr>
                              <m:t>𝑞</m:t>
                            </m:r>
                          </m:e>
                        </m:d>
                      </m:e>
                      <m:sup>
                        <m:r>
                          <m:rPr>
                            <m:sty m:val="p"/>
                          </m:rPr>
                          <a:rPr lang="en-US" altLang="zh-CN" b="0" i="0" smtClean="0">
                            <a:latin typeface="Cambria Math" panose="02040503050406030204" pitchFamily="18" charset="0"/>
                          </a:rPr>
                          <m:t>Δ</m:t>
                        </m:r>
                      </m:sup>
                    </m:sSup>
                  </m:oMath>
                </a14:m>
                <a:endParaRPr lang="en-US" altLang="zh-CN" dirty="0"/>
              </a:p>
              <a:p>
                <a:pPr lvl="1"/>
                <a:r>
                  <a:rPr lang="en-US" altLang="zh-CN" dirty="0"/>
                  <a:t>…</a:t>
                </a:r>
              </a:p>
              <a:p>
                <a:pPr lvl="1"/>
                <a14:m>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𝜀</m:t>
                        </m:r>
                      </m:e>
                      <m:sup>
                        <m:r>
                          <a:rPr lang="en-US" altLang="zh-CN" b="0" i="1" smtClean="0">
                            <a:latin typeface="Cambria Math" panose="02040503050406030204" pitchFamily="18" charset="0"/>
                          </a:rPr>
                          <m:t>′</m:t>
                        </m:r>
                      </m:sup>
                    </m:sSup>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ln</m:t>
                        </m:r>
                      </m:fName>
                      <m:e>
                        <m:d>
                          <m:dPr>
                            <m:ctrlPr>
                              <a:rPr lang="en-US" altLang="zh-CN" b="0" i="1" smtClean="0">
                                <a:latin typeface="Cambria Math" panose="02040503050406030204" pitchFamily="18" charset="0"/>
                              </a:rPr>
                            </m:ctrlPr>
                          </m:dPr>
                          <m:e>
                            <m:nary>
                              <m:naryPr>
                                <m:chr m:val="∑"/>
                                <m:ctrlPr>
                                  <a:rPr lang="en-US" altLang="zh-CN" b="0" i="1" smtClean="0">
                                    <a:latin typeface="Cambria Math" panose="02040503050406030204" pitchFamily="18" charset="0"/>
                                  </a:rPr>
                                </m:ctrlPr>
                              </m:naryPr>
                              <m:sub>
                                <m:r>
                                  <a:rPr lang="en-US" altLang="zh-CN" b="0" i="1" smtClean="0">
                                    <a:latin typeface="Cambria Math" panose="02040503050406030204" pitchFamily="18" charset="0"/>
                                  </a:rPr>
                                  <m:t>𝑘</m:t>
                                </m:r>
                                <m:r>
                                  <a:rPr lang="en-US" altLang="zh-CN" b="0" i="1" smtClean="0">
                                    <a:latin typeface="Cambria Math" panose="02040503050406030204" pitchFamily="18" charset="0"/>
                                  </a:rPr>
                                  <m:t>=0</m:t>
                                </m:r>
                              </m:sub>
                              <m:sup>
                                <m:r>
                                  <m:rPr>
                                    <m:sty m:val="p"/>
                                  </m:rPr>
                                  <a:rPr lang="en-US" altLang="zh-CN" b="0" i="0" smtClean="0">
                                    <a:latin typeface="Cambria Math" panose="02040503050406030204" pitchFamily="18" charset="0"/>
                                  </a:rPr>
                                  <m:t>Δ</m:t>
                                </m:r>
                              </m:sup>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𝑝</m:t>
                                    </m:r>
                                  </m:e>
                                  <m:sub>
                                    <m:r>
                                      <a:rPr lang="en-US" altLang="zh-CN" b="0" i="1" smtClean="0">
                                        <a:latin typeface="Cambria Math" panose="02040503050406030204" pitchFamily="18" charset="0"/>
                                      </a:rPr>
                                      <m:t>𝑘</m:t>
                                    </m:r>
                                  </m:sub>
                                </m:sSub>
                              </m:e>
                            </m:nary>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m:rPr>
                                    <m:sty m:val="p"/>
                                  </m:rPr>
                                  <a:rPr lang="en-US" altLang="zh-CN" b="0" i="0" smtClean="0">
                                    <a:latin typeface="Cambria Math" panose="02040503050406030204" pitchFamily="18" charset="0"/>
                                  </a:rPr>
                                  <m:t>min</m:t>
                                </m:r>
                                <m:r>
                                  <a:rPr lang="en-US" altLang="zh-CN" b="0" i="1" smtClean="0">
                                    <a:latin typeface="Cambria Math" panose="02040503050406030204" pitchFamily="18" charset="0"/>
                                  </a:rPr>
                                  <m:t>⁡{</m:t>
                                </m:r>
                                <m:r>
                                  <a:rPr lang="en-US" altLang="zh-CN" b="0" i="1" smtClean="0">
                                    <a:latin typeface="Cambria Math" panose="02040503050406030204" pitchFamily="18" charset="0"/>
                                  </a:rPr>
                                  <m:t>𝑘</m:t>
                                </m:r>
                                <m:r>
                                  <a:rPr lang="en-US" altLang="zh-CN" b="0" i="1" smtClean="0">
                                    <a:latin typeface="Cambria Math" panose="02040503050406030204" pitchFamily="18" charset="0"/>
                                  </a:rPr>
                                  <m:t>,</m:t>
                                </m:r>
                                <m:r>
                                  <a:rPr lang="en-US" altLang="zh-CN" b="0" i="1" smtClean="0">
                                    <a:latin typeface="Cambria Math" panose="02040503050406030204" pitchFamily="18" charset="0"/>
                                  </a:rPr>
                                  <m:t>𝜏</m:t>
                                </m:r>
                                <m:r>
                                  <a:rPr lang="en-US" altLang="zh-CN" b="0" i="1" smtClean="0">
                                    <a:latin typeface="Cambria Math" panose="02040503050406030204" pitchFamily="18" charset="0"/>
                                  </a:rPr>
                                  <m:t>}</m:t>
                                </m:r>
                                <m:r>
                                  <a:rPr lang="en-US" altLang="zh-CN" b="0" i="1" smtClean="0">
                                    <a:latin typeface="Cambria Math" panose="02040503050406030204" pitchFamily="18" charset="0"/>
                                  </a:rPr>
                                  <m:t>𝜀</m:t>
                                </m:r>
                                <m:r>
                                  <a:rPr lang="en-US" altLang="zh-CN" b="0" i="1" smtClean="0">
                                    <a:latin typeface="Cambria Math" panose="02040503050406030204" pitchFamily="18" charset="0"/>
                                  </a:rPr>
                                  <m:t>/</m:t>
                                </m:r>
                                <m:r>
                                  <a:rPr lang="en-US" altLang="zh-CN" b="0" i="1" smtClean="0">
                                    <a:latin typeface="Cambria Math" panose="02040503050406030204" pitchFamily="18" charset="0"/>
                                  </a:rPr>
                                  <m:t>𝜏</m:t>
                                </m:r>
                              </m:sup>
                            </m:sSup>
                          </m:e>
                        </m:d>
                      </m:e>
                    </m:func>
                  </m:oMath>
                </a14:m>
                <a:endParaRPr lang="zh-CN" altLang="en-US" dirty="0"/>
              </a:p>
            </p:txBody>
          </p:sp>
        </mc:Choice>
        <mc:Fallback>
          <p:sp>
            <p:nvSpPr>
              <p:cNvPr id="8" name="内容占位符 7">
                <a:extLst>
                  <a:ext uri="{FF2B5EF4-FFF2-40B4-BE49-F238E27FC236}">
                    <a16:creationId xmlns:a16="http://schemas.microsoft.com/office/drawing/2014/main" id="{CCEF9808-6D25-E35E-A7A8-684AC0B97BE0}"/>
                  </a:ext>
                </a:extLst>
              </p:cNvPr>
              <p:cNvSpPr>
                <a:spLocks noGrp="1" noRot="1" noChangeAspect="1" noMove="1" noResize="1" noEditPoints="1" noAdjustHandles="1" noChangeArrowheads="1" noChangeShapeType="1" noTextEdit="1"/>
              </p:cNvSpPr>
              <p:nvPr>
                <p:ph sz="half" idx="2"/>
              </p:nvPr>
            </p:nvSpPr>
            <p:spPr>
              <a:xfrm>
                <a:off x="6172199" y="1825625"/>
                <a:ext cx="5446059" cy="4809886"/>
              </a:xfrm>
              <a:blipFill>
                <a:blip r:embed="rId4"/>
                <a:stretch>
                  <a:fillRect l="-1902" t="-2152" r="-1566"/>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6BDFB563-FC59-6DD7-FB6E-BF3EF8472ECB}"/>
              </a:ext>
            </a:extLst>
          </p:cNvPr>
          <p:cNvSpPr>
            <a:spLocks noGrp="1"/>
          </p:cNvSpPr>
          <p:nvPr>
            <p:ph type="sldNum" sz="quarter" idx="12"/>
          </p:nvPr>
        </p:nvSpPr>
        <p:spPr/>
        <p:txBody>
          <a:bodyPr/>
          <a:lstStyle/>
          <a:p>
            <a:fld id="{B0AC98E8-77B5-4E71-A497-A3DCE01E87E0}" type="slidenum">
              <a:rPr lang="zh-CN" altLang="en-US" smtClean="0"/>
              <a:t>6</a:t>
            </a:fld>
            <a:endParaRPr lang="zh-CN" altLang="en-US" dirty="0"/>
          </a:p>
        </p:txBody>
      </p:sp>
    </p:spTree>
    <p:extLst>
      <p:ext uri="{BB962C8B-B14F-4D97-AF65-F5344CB8AC3E}">
        <p14:creationId xmlns:p14="http://schemas.microsoft.com/office/powerpoint/2010/main" val="3074822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9522646-E49E-4C11-3300-0B7391DB3149}"/>
              </a:ext>
            </a:extLst>
          </p:cNvPr>
          <p:cNvSpPr>
            <a:spLocks noGrp="1"/>
          </p:cNvSpPr>
          <p:nvPr>
            <p:ph type="title"/>
          </p:nvPr>
        </p:nvSpPr>
        <p:spPr/>
        <p:txBody>
          <a:bodyPr>
            <a:normAutofit fontScale="90000"/>
          </a:bodyPr>
          <a:lstStyle/>
          <a:p>
            <a:r>
              <a:rPr lang="en-US" altLang="zh-CN" dirty="0"/>
              <a:t>Our Contribution (2): Smooth Sensitivity under </a:t>
            </a:r>
            <a:r>
              <a:rPr lang="en-US" altLang="zh-CN" dirty="0" err="1"/>
              <a:t>Rényi</a:t>
            </a:r>
            <a:r>
              <a:rPr lang="en-US" altLang="zh-CN" dirty="0"/>
              <a:t>-DP</a:t>
            </a:r>
            <a:endParaRPr lang="zh-CN" altLang="en-US" dirty="0"/>
          </a:p>
        </p:txBody>
      </p:sp>
      <mc:AlternateContent xmlns:mc="http://schemas.openxmlformats.org/markup-compatibility/2006">
        <mc:Choice xmlns:a14="http://schemas.microsoft.com/office/drawing/2010/main" Requires="a14">
          <p:sp>
            <p:nvSpPr>
              <p:cNvPr id="8" name="内容占位符 7">
                <a:extLst>
                  <a:ext uri="{FF2B5EF4-FFF2-40B4-BE49-F238E27FC236}">
                    <a16:creationId xmlns:a16="http://schemas.microsoft.com/office/drawing/2014/main" id="{CCEF9808-6D25-E35E-A7A8-684AC0B97BE0}"/>
                  </a:ext>
                </a:extLst>
              </p:cNvPr>
              <p:cNvSpPr>
                <a:spLocks noGrp="1"/>
              </p:cNvSpPr>
              <p:nvPr>
                <p:ph sz="half" idx="2"/>
              </p:nvPr>
            </p:nvSpPr>
            <p:spPr>
              <a:xfrm>
                <a:off x="6172200" y="1825625"/>
                <a:ext cx="5534076" cy="4809886"/>
              </a:xfrm>
            </p:spPr>
            <p:txBody>
              <a:bodyPr>
                <a:normAutofit/>
              </a:bodyPr>
              <a:lstStyle/>
              <a:p>
                <a:r>
                  <a:rPr lang="en-US" altLang="zh-CN" dirty="0"/>
                  <a:t>RDP-SS </a:t>
                </a:r>
                <a:r>
                  <a:rPr lang="en-US" altLang="zh-CN" sz="1800" dirty="0"/>
                  <a:t>(This work)</a:t>
                </a:r>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ℳ</m:t>
                        </m:r>
                      </m:e>
                      <m:sub>
                        <m:r>
                          <a:rPr lang="en-US" altLang="zh-CN" b="0" i="1" smtClean="0">
                            <a:latin typeface="Cambria Math" panose="02040503050406030204" pitchFamily="18" charset="0"/>
                            <a:ea typeface="Cambria Math" panose="02040503050406030204" pitchFamily="18" charset="0"/>
                          </a:rPr>
                          <m:t>𝑅𝐷𝑃</m:t>
                        </m:r>
                        <m:r>
                          <a:rPr lang="en-US" altLang="zh-CN" b="0" i="1" smtClean="0">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rPr>
                          <m:t>𝑆𝑆</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e>
                    </m:d>
                    <m:r>
                      <a:rPr lang="en-US" altLang="zh-CN" b="0" i="1" smtClean="0">
                        <a:latin typeface="Cambria Math" panose="02040503050406030204" pitchFamily="18" charset="0"/>
                      </a:rPr>
                      <m:t>+</m:t>
                    </m:r>
                    <m:r>
                      <a:rPr lang="zh-CN" altLang="en-US" b="0" i="1" smtClean="0">
                        <a:latin typeface="Cambria Math" panose="02040503050406030204" pitchFamily="18" charset="0"/>
                      </a:rPr>
                      <m:t>𝒩</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0, </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𝜎</m:t>
                            </m:r>
                          </m:e>
                          <m:sup>
                            <m:r>
                              <a:rPr lang="en-US" altLang="zh-CN" b="0" i="1" smtClean="0">
                                <a:latin typeface="Cambria Math" panose="02040503050406030204" pitchFamily="18" charset="0"/>
                              </a:rPr>
                              <m:t>2</m:t>
                            </m:r>
                          </m:sup>
                        </m:sSup>
                      </m:e>
                    </m:d>
                  </m:oMath>
                </a14:m>
                <a:r>
                  <a:rPr lang="en-US" altLang="zh-CN" dirty="0"/>
                  <a:t> satisfies </a:t>
                </a:r>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𝛼</m:t>
                        </m:r>
                        <m:r>
                          <a:rPr lang="en-US" altLang="zh-CN" b="0" i="1" smtClean="0">
                            <a:latin typeface="Cambria Math" panose="02040503050406030204" pitchFamily="18" charset="0"/>
                          </a:rPr>
                          <m:t>,</m:t>
                        </m:r>
                        <m:r>
                          <a:rPr lang="en-US" altLang="zh-CN" b="0" i="1" smtClean="0">
                            <a:latin typeface="Cambria Math" panose="02040503050406030204" pitchFamily="18" charset="0"/>
                          </a:rPr>
                          <m:t>𝜌</m:t>
                        </m:r>
                      </m:e>
                    </m:d>
                  </m:oMath>
                </a14:m>
                <a:r>
                  <a:rPr lang="en-US" altLang="zh-CN" dirty="0"/>
                  <a:t>-RDP, for</a:t>
                </a:r>
              </a:p>
              <a:p>
                <a:pPr marL="457200" lvl="1" indent="0">
                  <a:lnSpc>
                    <a:spcPct val="120000"/>
                  </a:lnSpc>
                  <a:buNone/>
                </a:pPr>
                <a14:m>
                  <m:oMath xmlns:m="http://schemas.openxmlformats.org/officeDocument/2006/math">
                    <m:r>
                      <a:rPr lang="en-US" altLang="zh-CN" b="0" i="1" smtClean="0">
                        <a:latin typeface="Cambria Math" panose="02040503050406030204" pitchFamily="18" charset="0"/>
                      </a:rPr>
                      <m:t>𝜎</m:t>
                    </m:r>
                    <m:r>
                      <a:rPr lang="en-US" altLang="zh-CN" b="0" i="1" smtClean="0">
                        <a:latin typeface="Cambria Math" panose="02040503050406030204" pitchFamily="18" charset="0"/>
                      </a:rPr>
                      <m:t>=</m:t>
                    </m:r>
                    <m:r>
                      <a:rPr lang="en-US" altLang="zh-CN" b="0" i="1" smtClean="0">
                        <a:latin typeface="Cambria Math" panose="02040503050406030204" pitchFamily="18" charset="0"/>
                      </a:rPr>
                      <m:t>𝑆𝑆</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𝛾</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𝛼</m:t>
                            </m:r>
                            <m:r>
                              <a:rPr lang="en-US" altLang="zh-CN" b="0" i="1" smtClean="0">
                                <a:latin typeface="Cambria Math" panose="02040503050406030204" pitchFamily="18" charset="0"/>
                              </a:rPr>
                              <m:t>/</m:t>
                            </m:r>
                            <m:r>
                              <a:rPr lang="en-US" altLang="zh-CN" b="0" i="1" smtClean="0">
                                <a:latin typeface="Cambria Math" panose="02040503050406030204" pitchFamily="18" charset="0"/>
                              </a:rPr>
                              <m:t>𝜌</m:t>
                            </m:r>
                          </m:e>
                        </m:rad>
                      </m:num>
                      <m:den>
                        <m:r>
                          <a:rPr lang="en-US" altLang="zh-CN" b="0" i="1" smtClean="0">
                            <a:latin typeface="Cambria Math" panose="02040503050406030204" pitchFamily="18" charset="0"/>
                          </a:rPr>
                          <m:t>1−</m:t>
                        </m:r>
                        <m:r>
                          <a:rPr lang="en-US" altLang="zh-CN" b="0" i="1" smtClean="0">
                            <a:latin typeface="Cambria Math" panose="02040503050406030204" pitchFamily="18" charset="0"/>
                          </a:rPr>
                          <m:t>𝛼</m:t>
                        </m:r>
                        <m:r>
                          <a:rPr lang="en-US" altLang="zh-CN" b="0" i="1" smtClean="0">
                            <a:latin typeface="Cambria Math" panose="02040503050406030204" pitchFamily="18" charset="0"/>
                          </a:rPr>
                          <m:t>+</m:t>
                        </m:r>
                        <m:r>
                          <a:rPr lang="en-US" altLang="zh-CN" b="0" i="1" smtClean="0">
                            <a:latin typeface="Cambria Math" panose="02040503050406030204" pitchFamily="18" charset="0"/>
                          </a:rPr>
                          <m:t>𝛼</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−2</m:t>
                            </m:r>
                            <m:r>
                              <a:rPr lang="en-US" altLang="zh-CN" b="0" i="1" smtClean="0">
                                <a:latin typeface="Cambria Math" panose="02040503050406030204" pitchFamily="18" charset="0"/>
                              </a:rPr>
                              <m:t>𝛾</m:t>
                            </m:r>
                          </m:sup>
                        </m:sSup>
                      </m:den>
                    </m:f>
                  </m:oMath>
                </a14:m>
                <a:r>
                  <a:rPr lang="en-US" altLang="zh-CN" dirty="0"/>
                  <a:t>,</a:t>
                </a:r>
              </a:p>
              <a:p>
                <a:pPr marL="457200" lvl="1" indent="0">
                  <a:lnSpc>
                    <a:spcPct val="120000"/>
                  </a:lnSpc>
                  <a:buNone/>
                </a:pPr>
                <a:r>
                  <a:rPr lang="en-US" altLang="zh-CN" dirty="0"/>
                  <a:t>where </a:t>
                </a:r>
                <a14:m>
                  <m:oMath xmlns:m="http://schemas.openxmlformats.org/officeDocument/2006/math">
                    <m:r>
                      <a:rPr lang="en-US" altLang="zh-CN" b="0" i="1" smtClean="0">
                        <a:latin typeface="Cambria Math" panose="02040503050406030204" pitchFamily="18" charset="0"/>
                      </a:rPr>
                      <m:t>𝛾</m:t>
                    </m:r>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1</m:t>
                        </m:r>
                      </m:num>
                      <m:den>
                        <m:r>
                          <a:rPr lang="en-US" altLang="zh-CN" b="0" i="1" smtClean="0">
                            <a:latin typeface="Cambria Math" panose="02040503050406030204" pitchFamily="18" charset="0"/>
                          </a:rPr>
                          <m:t>2</m:t>
                        </m:r>
                      </m:den>
                    </m:f>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min</m:t>
                        </m:r>
                      </m:fName>
                      <m:e>
                        <m:d>
                          <m:dPr>
                            <m:begChr m:val="{"/>
                            <m:endChr m:val="}"/>
                            <m:ctrlPr>
                              <a:rPr lang="en-US" altLang="zh-CN" b="0" i="1" smtClean="0">
                                <a:latin typeface="Cambria Math" panose="02040503050406030204" pitchFamily="18" charset="0"/>
                              </a:rPr>
                            </m:ctrlPr>
                          </m:dPr>
                          <m:e>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1</m:t>
                                </m:r>
                              </m:sub>
                              <m:sup>
                                <m:r>
                                  <a:rPr lang="en-US" altLang="zh-CN" b="0" i="1" smtClean="0">
                                    <a:latin typeface="Cambria Math" panose="02040503050406030204" pitchFamily="18" charset="0"/>
                                  </a:rPr>
                                  <m:t>−1</m:t>
                                </m:r>
                              </m:sup>
                            </m:sSubSup>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2</m:t>
                                </m:r>
                              </m:sub>
                            </m:sSub>
                          </m:e>
                        </m:d>
                      </m:e>
                    </m:func>
                  </m:oMath>
                </a14:m>
                <a:r>
                  <a:rPr lang="en-US" altLang="zh-CN" dirty="0"/>
                  <a:t>,</a:t>
                </a:r>
              </a:p>
              <a:p>
                <a:pPr marL="457200" lvl="1" indent="0">
                  <a:lnSpc>
                    <a:spcPct val="120000"/>
                  </a:lnSpc>
                  <a:buNone/>
                </a:pPr>
                <a:r>
                  <a:rPr lang="en-US" altLang="zh-CN" dirty="0"/>
                  <a:t>where </a:t>
                </a:r>
                <a14:m>
                  <m:oMath xmlns:m="http://schemas.openxmlformats.org/officeDocument/2006/math">
                    <m:r>
                      <a:rPr lang="en-US" altLang="zh-CN" b="0" i="1" smtClean="0">
                        <a:latin typeface="Cambria Math" panose="02040503050406030204" pitchFamily="18" charset="0"/>
                      </a:rPr>
                      <m:t>0&lt;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&lt;1&lt;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𝑡</m:t>
                        </m:r>
                      </m:e>
                      <m:sub>
                        <m:r>
                          <a:rPr lang="en-US" altLang="zh-CN" b="0" i="1" smtClean="0">
                            <a:latin typeface="Cambria Math" panose="02040503050406030204" pitchFamily="18" charset="0"/>
                          </a:rPr>
                          <m:t>2</m:t>
                        </m:r>
                      </m:sub>
                    </m:sSub>
                  </m:oMath>
                </a14:m>
                <a:r>
                  <a:rPr lang="zh-CN" altLang="en-US" dirty="0"/>
                  <a:t> </a:t>
                </a:r>
                <a:r>
                  <a:rPr lang="en-US" altLang="zh-CN" dirty="0"/>
                  <a:t>are solutions to</a:t>
                </a:r>
              </a:p>
              <a:p>
                <a:pPr marL="457200" lvl="1" indent="0">
                  <a:lnSpc>
                    <a:spcPct val="120000"/>
                  </a:lnSpc>
                  <a:buNone/>
                </a:pPr>
                <a14:m>
                  <m:oMathPara xmlns:m="http://schemas.openxmlformats.org/officeDocument/2006/math">
                    <m:oMathParaPr>
                      <m:jc m:val="centerGroup"/>
                    </m:oMathParaPr>
                    <m:oMath xmlns:m="http://schemas.openxmlformats.org/officeDocument/2006/math">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𝑡</m:t>
                          </m:r>
                        </m:e>
                        <m:sup>
                          <m:r>
                            <a:rPr lang="en-US" altLang="zh-CN" b="0" i="1" smtClean="0">
                              <a:latin typeface="Cambria Math" panose="02040503050406030204" pitchFamily="18" charset="0"/>
                            </a:rPr>
                            <m:t>𝛼</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𝛼</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f>
                            <m:fPr>
                              <m:ctrlPr>
                                <a:rPr lang="en-US" altLang="zh-CN" b="0" i="1" smtClean="0">
                                  <a:latin typeface="Cambria Math" panose="02040503050406030204" pitchFamily="18" charset="0"/>
                                </a:rPr>
                              </m:ctrlPr>
                            </m:fPr>
                            <m:num>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𝛼</m:t>
                                  </m:r>
                                  <m:r>
                                    <a:rPr lang="en-US" altLang="zh-CN" b="0" i="1" smtClean="0">
                                      <a:latin typeface="Cambria Math" panose="02040503050406030204" pitchFamily="18" charset="0"/>
                                    </a:rPr>
                                    <m:t>−1</m:t>
                                  </m:r>
                                </m:e>
                              </m:d>
                              <m:r>
                                <a:rPr lang="en-US" altLang="zh-CN" b="0" i="1" smtClean="0">
                                  <a:latin typeface="Cambria Math" panose="02040503050406030204" pitchFamily="18" charset="0"/>
                                </a:rPr>
                                <m:t>𝜌</m:t>
                              </m:r>
                            </m:num>
                            <m:den>
                              <m:r>
                                <a:rPr lang="en-US" altLang="zh-CN" b="0" i="1" smtClean="0">
                                  <a:latin typeface="Cambria Math" panose="02040503050406030204" pitchFamily="18" charset="0"/>
                                </a:rPr>
                                <m:t>𝑑</m:t>
                              </m:r>
                            </m:den>
                          </m:f>
                        </m:sup>
                      </m:sSup>
                      <m:r>
                        <a:rPr lang="en-US" altLang="zh-CN" b="0" i="1" smtClean="0">
                          <a:latin typeface="Cambria Math" panose="02040503050406030204" pitchFamily="18" charset="0"/>
                        </a:rPr>
                        <m:t>𝑡</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𝛼</m:t>
                          </m:r>
                          <m:r>
                            <a:rPr lang="en-US" altLang="zh-CN" b="0" i="1" smtClean="0">
                              <a:latin typeface="Cambria Math" panose="02040503050406030204" pitchFamily="18" charset="0"/>
                            </a:rPr>
                            <m:t>−1</m:t>
                          </m:r>
                        </m:e>
                      </m:d>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f>
                            <m:fPr>
                              <m:ctrlPr>
                                <a:rPr lang="en-US" altLang="zh-CN" b="0" i="1" smtClean="0">
                                  <a:latin typeface="Cambria Math" panose="02040503050406030204" pitchFamily="18" charset="0"/>
                                </a:rPr>
                              </m:ctrlPr>
                            </m:fPr>
                            <m:num>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𝛼</m:t>
                                  </m:r>
                                  <m:r>
                                    <a:rPr lang="en-US" altLang="zh-CN" b="0" i="1" smtClean="0">
                                      <a:latin typeface="Cambria Math" panose="02040503050406030204" pitchFamily="18" charset="0"/>
                                    </a:rPr>
                                    <m:t>−1</m:t>
                                  </m:r>
                                </m:e>
                              </m:d>
                              <m:r>
                                <a:rPr lang="en-US" altLang="zh-CN" b="0" i="1" smtClean="0">
                                  <a:latin typeface="Cambria Math" panose="02040503050406030204" pitchFamily="18" charset="0"/>
                                </a:rPr>
                                <m:t>𝜌</m:t>
                              </m:r>
                            </m:num>
                            <m:den>
                              <m:r>
                                <a:rPr lang="en-US" altLang="zh-CN" b="0" i="1" smtClean="0">
                                  <a:latin typeface="Cambria Math" panose="02040503050406030204" pitchFamily="18" charset="0"/>
                                </a:rPr>
                                <m:t>𝑑</m:t>
                              </m:r>
                            </m:den>
                          </m:f>
                        </m:sup>
                      </m:sSup>
                      <m:r>
                        <a:rPr lang="en-US" altLang="zh-CN" b="0" i="1" smtClean="0">
                          <a:latin typeface="Cambria Math" panose="02040503050406030204" pitchFamily="18" charset="0"/>
                        </a:rPr>
                        <m:t>=0</m:t>
                      </m:r>
                    </m:oMath>
                  </m:oMathPara>
                </a14:m>
                <a:endParaRPr lang="zh-CN" altLang="en-US" dirty="0"/>
              </a:p>
            </p:txBody>
          </p:sp>
        </mc:Choice>
        <mc:Fallback>
          <p:sp>
            <p:nvSpPr>
              <p:cNvPr id="8" name="内容占位符 7">
                <a:extLst>
                  <a:ext uri="{FF2B5EF4-FFF2-40B4-BE49-F238E27FC236}">
                    <a16:creationId xmlns:a16="http://schemas.microsoft.com/office/drawing/2014/main" id="{CCEF9808-6D25-E35E-A7A8-684AC0B97BE0}"/>
                  </a:ext>
                </a:extLst>
              </p:cNvPr>
              <p:cNvSpPr>
                <a:spLocks noGrp="1" noRot="1" noChangeAspect="1" noMove="1" noResize="1" noEditPoints="1" noAdjustHandles="1" noChangeArrowheads="1" noChangeShapeType="1" noTextEdit="1"/>
              </p:cNvSpPr>
              <p:nvPr>
                <p:ph sz="half" idx="2"/>
              </p:nvPr>
            </p:nvSpPr>
            <p:spPr>
              <a:xfrm>
                <a:off x="6172200" y="1825625"/>
                <a:ext cx="5534076" cy="4809886"/>
              </a:xfrm>
              <a:blipFill>
                <a:blip r:embed="rId3"/>
                <a:stretch>
                  <a:fillRect l="-1985" t="-2152" r="-221"/>
                </a:stretch>
              </a:blipFill>
            </p:spPr>
            <p:txBody>
              <a:bodyPr/>
              <a:lstStyle/>
              <a:p>
                <a:r>
                  <a:rPr lang="zh-CN" altLang="en-US">
                    <a:noFill/>
                  </a:rPr>
                  <a:t> </a:t>
                </a:r>
              </a:p>
            </p:txBody>
          </p:sp>
        </mc:Fallback>
      </mc:AlternateContent>
      <p:sp>
        <p:nvSpPr>
          <p:cNvPr id="4" name="灯片编号占位符 3">
            <a:extLst>
              <a:ext uri="{FF2B5EF4-FFF2-40B4-BE49-F238E27FC236}">
                <a16:creationId xmlns:a16="http://schemas.microsoft.com/office/drawing/2014/main" id="{6BDFB563-FC59-6DD7-FB6E-BF3EF8472ECB}"/>
              </a:ext>
            </a:extLst>
          </p:cNvPr>
          <p:cNvSpPr>
            <a:spLocks noGrp="1"/>
          </p:cNvSpPr>
          <p:nvPr>
            <p:ph type="sldNum" sz="quarter" idx="12"/>
          </p:nvPr>
        </p:nvSpPr>
        <p:spPr/>
        <p:txBody>
          <a:bodyPr/>
          <a:lstStyle/>
          <a:p>
            <a:fld id="{B0AC98E8-77B5-4E71-A497-A3DCE01E87E0}" type="slidenum">
              <a:rPr lang="zh-CN" altLang="en-US" smtClean="0"/>
              <a:t>7</a:t>
            </a:fld>
            <a:endParaRPr lang="zh-CN" altLang="en-US" dirty="0"/>
          </a:p>
        </p:txBody>
      </p:sp>
      <mc:AlternateContent xmlns:mc="http://schemas.openxmlformats.org/markup-compatibility/2006">
        <mc:Choice xmlns:a14="http://schemas.microsoft.com/office/drawing/2010/main" Requires="a14">
          <p:sp>
            <p:nvSpPr>
              <p:cNvPr id="5" name="内容占位符 2">
                <a:extLst>
                  <a:ext uri="{FF2B5EF4-FFF2-40B4-BE49-F238E27FC236}">
                    <a16:creationId xmlns:a16="http://schemas.microsoft.com/office/drawing/2014/main" id="{3976AD5D-9197-6646-03CB-51E4D66FDBEB}"/>
                  </a:ext>
                </a:extLst>
              </p:cNvPr>
              <p:cNvSpPr txBox="1">
                <a:spLocks/>
              </p:cNvSpPr>
              <p:nvPr/>
            </p:nvSpPr>
            <p:spPr>
              <a:xfrm>
                <a:off x="347179" y="1825624"/>
                <a:ext cx="5672621" cy="4809887"/>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SS </a:t>
                </a:r>
                <a:r>
                  <a:rPr lang="en-US" altLang="zh-CN" sz="1800" dirty="0"/>
                  <a:t>[NRS,</a:t>
                </a:r>
                <a:r>
                  <a:rPr lang="zh-CN" altLang="en-US" sz="1800" dirty="0"/>
                  <a:t> </a:t>
                </a:r>
                <a:r>
                  <a:rPr lang="en-US" altLang="zh-CN" sz="1800" dirty="0"/>
                  <a:t>STOC’07]</a:t>
                </a:r>
                <a:endParaRPr lang="en-US" altLang="zh-CN" dirty="0"/>
              </a:p>
              <a:p>
                <a:pPr lvl="1"/>
                <a14:m>
                  <m:oMath xmlns:m="http://schemas.openxmlformats.org/officeDocument/2006/math">
                    <m:r>
                      <a:rPr lang="en-US" altLang="zh-CN" b="0" i="1" smtClean="0">
                        <a:latin typeface="Cambria Math" panose="02040503050406030204" pitchFamily="18" charset="0"/>
                      </a:rPr>
                      <m:t>𝑆</m:t>
                    </m:r>
                  </m:oMath>
                </a14:m>
                <a:r>
                  <a:rPr lang="zh-CN" altLang="en-US" dirty="0"/>
                  <a:t> </a:t>
                </a:r>
                <a:r>
                  <a:rPr lang="en-US" altLang="zh-CN" dirty="0"/>
                  <a:t>is a </a:t>
                </a:r>
                <a14:m>
                  <m:oMath xmlns:m="http://schemas.openxmlformats.org/officeDocument/2006/math">
                    <m:r>
                      <a:rPr lang="en-US" altLang="zh-CN" b="0" i="1" smtClean="0">
                        <a:latin typeface="Cambria Math" panose="02040503050406030204" pitchFamily="18" charset="0"/>
                      </a:rPr>
                      <m:t>𝛾</m:t>
                    </m:r>
                  </m:oMath>
                </a14:m>
                <a:r>
                  <a:rPr lang="en-US" altLang="zh-CN" dirty="0"/>
                  <a:t>-smooth bound for </a:t>
                </a:r>
                <a14:m>
                  <m:oMath xmlns:m="http://schemas.openxmlformats.org/officeDocument/2006/math">
                    <m:r>
                      <a:rPr lang="en-US" altLang="zh-CN" b="0" i="1" smtClean="0">
                        <a:latin typeface="Cambria Math" panose="02040503050406030204" pitchFamily="18" charset="0"/>
                      </a:rPr>
                      <m:t>𝐿</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𝑓</m:t>
                        </m:r>
                      </m:sub>
                    </m:sSub>
                  </m:oMath>
                </a14:m>
                <a:r>
                  <a:rPr lang="zh-CN" altLang="en-US" dirty="0"/>
                  <a:t> </a:t>
                </a:r>
                <a:r>
                  <a:rPr lang="en-US" altLang="zh-CN" dirty="0"/>
                  <a:t>if</a:t>
                </a:r>
              </a:p>
              <a:p>
                <a:pPr lvl="2"/>
                <a14:m>
                  <m:oMath xmlns:m="http://schemas.openxmlformats.org/officeDocument/2006/math">
                    <m:r>
                      <a:rPr lang="en-US" altLang="zh-CN" b="0" i="1" smtClean="0">
                        <a:latin typeface="Cambria Math" panose="02040503050406030204" pitchFamily="18" charset="0"/>
                      </a:rPr>
                      <m:t>𝑆</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𝐿</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𝑓</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e>
                    </m:d>
                  </m:oMath>
                </a14:m>
                <a:r>
                  <a:rPr lang="zh-CN" altLang="en-US" dirty="0"/>
                  <a:t> </a:t>
                </a:r>
                <a:r>
                  <a:rPr lang="en-US" altLang="zh-CN" dirty="0"/>
                  <a:t>for all </a:t>
                </a:r>
                <a14:m>
                  <m:oMath xmlns:m="http://schemas.openxmlformats.org/officeDocument/2006/math">
                    <m:r>
                      <a:rPr lang="en-US" altLang="zh-CN" b="0" i="1" smtClean="0">
                        <a:latin typeface="Cambria Math" panose="02040503050406030204" pitchFamily="18" charset="0"/>
                      </a:rPr>
                      <m:t>𝐷</m:t>
                    </m:r>
                  </m:oMath>
                </a14:m>
                <a:endParaRPr lang="en-US" altLang="zh-CN" dirty="0"/>
              </a:p>
              <a:p>
                <a:pPr lvl="2"/>
                <a14:m>
                  <m:oMath xmlns:m="http://schemas.openxmlformats.org/officeDocument/2006/math">
                    <m:r>
                      <a:rPr lang="en-US" altLang="zh-CN" b="0" i="1" smtClean="0">
                        <a:latin typeface="Cambria Math" panose="02040503050406030204" pitchFamily="18" charset="0"/>
                      </a:rPr>
                      <m:t>𝑆</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𝛾</m:t>
                        </m:r>
                      </m:sup>
                    </m:sSup>
                    <m:r>
                      <a:rPr lang="en-US" altLang="zh-CN" b="0" i="1" smtClean="0">
                        <a:latin typeface="Cambria Math" panose="02040503050406030204" pitchFamily="18" charset="0"/>
                      </a:rPr>
                      <m:t>⋅</m:t>
                    </m:r>
                    <m:r>
                      <a:rPr lang="en-US" altLang="zh-CN" b="0" i="1" smtClean="0">
                        <a:latin typeface="Cambria Math" panose="02040503050406030204" pitchFamily="18" charset="0"/>
                      </a:rPr>
                      <m:t>𝑆</m:t>
                    </m:r>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m:t>
                            </m:r>
                          </m:sup>
                        </m:sSup>
                      </m:e>
                    </m:d>
                  </m:oMath>
                </a14:m>
                <a:r>
                  <a:rPr lang="zh-CN" altLang="en-US" dirty="0"/>
                  <a:t> </a:t>
                </a:r>
                <a:r>
                  <a:rPr lang="en-US" altLang="zh-CN" dirty="0"/>
                  <a:t>for all </a:t>
                </a:r>
                <a14:m>
                  <m:oMath xmlns:m="http://schemas.openxmlformats.org/officeDocument/2006/math">
                    <m:r>
                      <a:rPr lang="en-US" altLang="zh-CN" b="0" i="1" smtClean="0">
                        <a:latin typeface="Cambria Math" panose="02040503050406030204" pitchFamily="18" charset="0"/>
                      </a:rPr>
                      <m:t>𝐷</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m:t>
                        </m:r>
                      </m:sup>
                    </m:sSup>
                  </m:oMath>
                </a14:m>
                <a:endParaRPr lang="en-US" altLang="zh-CN" dirty="0"/>
              </a:p>
              <a:p>
                <a:pPr lvl="1"/>
                <a:r>
                  <a:rPr lang="en-US" altLang="zh-CN" dirty="0"/>
                  <a:t>The smooth sensitivity</a:t>
                </a:r>
              </a:p>
              <a:p>
                <a:pPr marL="457200" lvl="1" indent="0">
                  <a:buNone/>
                </a:pPr>
                <a14:m>
                  <m:oMath xmlns:m="http://schemas.openxmlformats.org/officeDocument/2006/math">
                    <m:r>
                      <a:rPr lang="en-US" altLang="zh-CN" b="0" i="1" smtClean="0">
                        <a:latin typeface="Cambria Math" panose="02040503050406030204" pitchFamily="18" charset="0"/>
                      </a:rPr>
                      <m:t>𝑆𝑆</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𝛾</m:t>
                        </m:r>
                      </m:e>
                    </m:d>
                    <m:r>
                      <a:rPr lang="en-US" altLang="zh-CN" b="0" i="1" smtClean="0">
                        <a:latin typeface="Cambria Math" panose="02040503050406030204" pitchFamily="18" charset="0"/>
                      </a:rPr>
                      <m:t>≔</m:t>
                    </m:r>
                    <m:func>
                      <m:funcPr>
                        <m:ctrlPr>
                          <a:rPr lang="en-US" altLang="zh-CN" b="0" i="1" smtClean="0">
                            <a:latin typeface="Cambria Math" panose="02040503050406030204" pitchFamily="18" charset="0"/>
                          </a:rPr>
                        </m:ctrlPr>
                      </m:funcPr>
                      <m:fName>
                        <m:limLow>
                          <m:limLowPr>
                            <m:ctrlPr>
                              <a:rPr lang="en-US" altLang="zh-CN" b="0" i="1" smtClean="0">
                                <a:latin typeface="Cambria Math" panose="02040503050406030204" pitchFamily="18" charset="0"/>
                              </a:rPr>
                            </m:ctrlPr>
                          </m:limLowPr>
                          <m:e>
                            <m:r>
                              <m:rPr>
                                <m:sty m:val="p"/>
                              </m:rPr>
                              <a:rPr lang="en-US" altLang="zh-CN" b="0" i="0" smtClean="0">
                                <a:latin typeface="Cambria Math" panose="02040503050406030204" pitchFamily="18" charset="0"/>
                              </a:rPr>
                              <m:t>max</m:t>
                            </m:r>
                          </m:e>
                          <m:lim>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m:t>
                                </m:r>
                              </m:sup>
                            </m:sSup>
                          </m:lim>
                        </m:limLow>
                      </m:fName>
                      <m:e>
                        <m:r>
                          <a:rPr lang="en-US" altLang="zh-CN" b="0" i="1" smtClean="0">
                            <a:latin typeface="Cambria Math" panose="02040503050406030204" pitchFamily="18" charset="0"/>
                          </a:rPr>
                          <m:t>𝐿</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𝑓</m:t>
                            </m:r>
                          </m:sub>
                        </m:sSub>
                        <m:d>
                          <m:dPr>
                            <m:ctrlPr>
                              <a:rPr lang="en-US" altLang="zh-CN" b="0" i="1" smtClean="0">
                                <a:latin typeface="Cambria Math" panose="02040503050406030204" pitchFamily="18" charset="0"/>
                              </a:rPr>
                            </m:ctrlPr>
                          </m:dPr>
                          <m:e>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m:t>
                                </m:r>
                              </m:sup>
                            </m:sSup>
                          </m:e>
                        </m:d>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𝑒</m:t>
                            </m:r>
                          </m:e>
                          <m:sup>
                            <m:r>
                              <a:rPr lang="en-US" altLang="zh-CN" b="0" i="1" smtClean="0">
                                <a:latin typeface="Cambria Math" panose="02040503050406030204" pitchFamily="18" charset="0"/>
                              </a:rPr>
                              <m:t>−</m:t>
                            </m:r>
                            <m:r>
                              <a:rPr lang="en-US" altLang="zh-CN" b="0" i="1" smtClean="0">
                                <a:latin typeface="Cambria Math" panose="02040503050406030204" pitchFamily="18" charset="0"/>
                              </a:rPr>
                              <m:t>𝛾</m:t>
                            </m:r>
                            <m:r>
                              <a:rPr lang="en-US" altLang="zh-CN" b="0" i="1" smtClean="0">
                                <a:latin typeface="Cambria Math" panose="02040503050406030204" pitchFamily="18" charset="0"/>
                              </a:rPr>
                              <m:t> </m:t>
                            </m:r>
                            <m:r>
                              <a:rPr lang="en-US" altLang="zh-CN" b="0" i="1" smtClean="0">
                                <a:latin typeface="Cambria Math" panose="02040503050406030204" pitchFamily="18" charset="0"/>
                              </a:rPr>
                              <m:t>𝑑</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r>
                                  <a:rPr lang="en-US" altLang="zh-CN" b="0" i="1" smtClean="0">
                                    <a:latin typeface="Cambria Math" panose="02040503050406030204" pitchFamily="18" charset="0"/>
                                  </a:rPr>
                                  <m:t>,</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𝐷</m:t>
                                    </m:r>
                                  </m:e>
                                  <m:sup>
                                    <m:r>
                                      <a:rPr lang="en-US" altLang="zh-CN" b="0" i="1" smtClean="0">
                                        <a:latin typeface="Cambria Math" panose="02040503050406030204" pitchFamily="18" charset="0"/>
                                      </a:rPr>
                                      <m:t>∗</m:t>
                                    </m:r>
                                  </m:sup>
                                </m:sSup>
                              </m:e>
                            </m:d>
                          </m:sup>
                        </m:sSup>
                      </m:e>
                    </m:func>
                  </m:oMath>
                </a14:m>
                <a:r>
                  <a:rPr lang="zh-CN" altLang="en-US" dirty="0"/>
                  <a:t> </a:t>
                </a:r>
                <a:endParaRPr lang="en-US" altLang="zh-CN" dirty="0"/>
              </a:p>
              <a:p>
                <a:pPr marL="457200" lvl="1" indent="0">
                  <a:buNone/>
                </a:pPr>
                <a:r>
                  <a:rPr lang="en-US" altLang="zh-CN" dirty="0"/>
                  <a:t>is a </a:t>
                </a:r>
                <a14:m>
                  <m:oMath xmlns:m="http://schemas.openxmlformats.org/officeDocument/2006/math">
                    <m:r>
                      <a:rPr lang="en-US" altLang="zh-CN" b="0" i="1" smtClean="0">
                        <a:latin typeface="Cambria Math" panose="02040503050406030204" pitchFamily="18" charset="0"/>
                      </a:rPr>
                      <m:t>𝛾</m:t>
                    </m:r>
                  </m:oMath>
                </a14:m>
                <a:r>
                  <a:rPr lang="en-US" altLang="zh-CN" dirty="0"/>
                  <a:t>-smooth bound for </a:t>
                </a:r>
                <a14:m>
                  <m:oMath xmlns:m="http://schemas.openxmlformats.org/officeDocument/2006/math">
                    <m:r>
                      <a:rPr lang="en-US" altLang="zh-CN" b="0" i="1" smtClean="0">
                        <a:latin typeface="Cambria Math" panose="02040503050406030204" pitchFamily="18" charset="0"/>
                      </a:rPr>
                      <m:t>𝐿</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𝑆</m:t>
                        </m:r>
                      </m:e>
                      <m:sub>
                        <m:r>
                          <a:rPr lang="en-US" altLang="zh-CN" b="0" i="1" smtClean="0">
                            <a:latin typeface="Cambria Math" panose="02040503050406030204" pitchFamily="18" charset="0"/>
                          </a:rPr>
                          <m:t>𝑓</m:t>
                        </m:r>
                      </m:sub>
                    </m:sSub>
                  </m:oMath>
                </a14:m>
                <a:endParaRPr lang="en-US" altLang="zh-CN" dirty="0"/>
              </a:p>
              <a:p>
                <a:pPr lvl="1"/>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ea typeface="Cambria Math" panose="02040503050406030204" pitchFamily="18" charset="0"/>
                          </a:rPr>
                          <m:t>ℳ</m:t>
                        </m:r>
                      </m:e>
                      <m:sub>
                        <m:r>
                          <a:rPr lang="en-US" altLang="zh-CN" b="0" i="1" smtClean="0">
                            <a:latin typeface="Cambria Math" panose="02040503050406030204" pitchFamily="18" charset="0"/>
                          </a:rPr>
                          <m:t>𝑆𝑆</m:t>
                        </m:r>
                      </m:sub>
                    </m:sSub>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e>
                    </m:d>
                    <m:r>
                      <a:rPr lang="en-US" altLang="zh-CN" b="0" i="1" smtClean="0">
                        <a:latin typeface="Cambria Math" panose="02040503050406030204" pitchFamily="18" charset="0"/>
                      </a:rPr>
                      <m:t>≔</m:t>
                    </m:r>
                    <m:r>
                      <a:rPr lang="en-US" altLang="zh-CN" b="0" i="1" smtClean="0">
                        <a:latin typeface="Cambria Math" panose="02040503050406030204" pitchFamily="18" charset="0"/>
                      </a:rPr>
                      <m:t>𝑓</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e>
                    </m:d>
                    <m:r>
                      <a:rPr lang="en-US" altLang="zh-CN" b="0" i="1" smtClean="0">
                        <a:latin typeface="Cambria Math" panose="02040503050406030204" pitchFamily="18" charset="0"/>
                      </a:rPr>
                      <m:t>+</m:t>
                    </m:r>
                    <m:r>
                      <a:rPr lang="zh-CN" altLang="en-US" b="0" i="1" smtClean="0">
                        <a:latin typeface="Cambria Math" panose="02040503050406030204" pitchFamily="18" charset="0"/>
                      </a:rPr>
                      <m:t>𝒩</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0, </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𝜎</m:t>
                            </m:r>
                          </m:e>
                          <m:sup>
                            <m:r>
                              <a:rPr lang="en-US" altLang="zh-CN" b="0" i="1" smtClean="0">
                                <a:latin typeface="Cambria Math" panose="02040503050406030204" pitchFamily="18" charset="0"/>
                              </a:rPr>
                              <m:t>2</m:t>
                            </m:r>
                          </m:sup>
                        </m:sSup>
                      </m:e>
                    </m:d>
                  </m:oMath>
                </a14:m>
                <a:r>
                  <a:rPr lang="en-US" altLang="zh-CN" dirty="0"/>
                  <a:t> satisfies </a:t>
                </a:r>
                <a14:m>
                  <m:oMath xmlns:m="http://schemas.openxmlformats.org/officeDocument/2006/math">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𝜀</m:t>
                        </m:r>
                        <m:r>
                          <a:rPr lang="en-US" altLang="zh-CN" b="0" i="1" smtClean="0">
                            <a:latin typeface="Cambria Math" panose="02040503050406030204" pitchFamily="18" charset="0"/>
                          </a:rPr>
                          <m:t>,</m:t>
                        </m:r>
                        <m:r>
                          <a:rPr lang="en-US" altLang="zh-CN" b="0" i="1" smtClean="0">
                            <a:latin typeface="Cambria Math" panose="02040503050406030204" pitchFamily="18" charset="0"/>
                          </a:rPr>
                          <m:t>𝛿</m:t>
                        </m:r>
                      </m:e>
                    </m:d>
                  </m:oMath>
                </a14:m>
                <a:r>
                  <a:rPr lang="en-US" altLang="zh-CN" dirty="0"/>
                  <a:t>-DP, for</a:t>
                </a:r>
              </a:p>
              <a:p>
                <a:pPr marL="457200" lvl="1" indent="0">
                  <a:buNone/>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𝜎</m:t>
                      </m:r>
                      <m:r>
                        <a:rPr lang="en-US" altLang="zh-CN" b="0" i="1" smtClean="0">
                          <a:latin typeface="Cambria Math" panose="02040503050406030204" pitchFamily="18" charset="0"/>
                        </a:rPr>
                        <m:t>=</m:t>
                      </m:r>
                      <m:r>
                        <a:rPr lang="en-US" altLang="zh-CN" b="0" i="1" smtClean="0">
                          <a:latin typeface="Cambria Math" panose="02040503050406030204" pitchFamily="18" charset="0"/>
                        </a:rPr>
                        <m:t>𝑆𝑆</m:t>
                      </m:r>
                      <m:d>
                        <m:dPr>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𝐷</m:t>
                          </m:r>
                          <m:r>
                            <a:rPr lang="en-US" altLang="zh-CN" b="0" i="1" smtClean="0">
                              <a:latin typeface="Cambria Math" panose="02040503050406030204" pitchFamily="18" charset="0"/>
                            </a:rPr>
                            <m:t>,</m:t>
                          </m:r>
                          <m:r>
                            <a:rPr lang="en-US" altLang="zh-CN" b="0" i="1" smtClean="0">
                              <a:latin typeface="Cambria Math" panose="02040503050406030204" pitchFamily="18" charset="0"/>
                            </a:rPr>
                            <m:t>𝛾</m:t>
                          </m:r>
                        </m:e>
                      </m:d>
                      <m:r>
                        <a:rPr lang="en-US" altLang="zh-CN" b="0" i="1" smtClean="0">
                          <a:latin typeface="Cambria Math" panose="02040503050406030204" pitchFamily="18" charset="0"/>
                        </a:rPr>
                        <m:t>⋅</m:t>
                      </m:r>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5</m:t>
                          </m:r>
                          <m:rad>
                            <m:radPr>
                              <m:degHide m:val="on"/>
                              <m:ctrlPr>
                                <a:rPr lang="en-US" altLang="zh-CN" b="0" i="1" smtClean="0">
                                  <a:latin typeface="Cambria Math" panose="02040503050406030204" pitchFamily="18" charset="0"/>
                                </a:rPr>
                              </m:ctrlPr>
                            </m:radPr>
                            <m:deg/>
                            <m:e>
                              <m:r>
                                <a:rPr lang="en-US" altLang="zh-CN" b="0" i="1" smtClean="0">
                                  <a:latin typeface="Cambria Math" panose="02040503050406030204" pitchFamily="18" charset="0"/>
                                </a:rPr>
                                <m:t>2</m:t>
                              </m:r>
                              <m:func>
                                <m:funcPr>
                                  <m:ctrlPr>
                                    <a:rPr lang="en-US" altLang="zh-CN" b="0" i="1" smtClean="0">
                                      <a:latin typeface="Cambria Math" panose="02040503050406030204" pitchFamily="18" charset="0"/>
                                    </a:rPr>
                                  </m:ctrlPr>
                                </m:funcPr>
                                <m:fName>
                                  <m:r>
                                    <m:rPr>
                                      <m:sty m:val="p"/>
                                    </m:rPr>
                                    <a:rPr lang="en-US" altLang="zh-CN" b="0" i="0" smtClean="0">
                                      <a:latin typeface="Cambria Math" panose="02040503050406030204" pitchFamily="18" charset="0"/>
                                    </a:rPr>
                                    <m:t>ln</m:t>
                                  </m:r>
                                </m:fName>
                                <m:e>
                                  <m:f>
                                    <m:fPr>
                                      <m:ctrlPr>
                                        <a:rPr lang="en-US" altLang="zh-CN" b="0" i="1" smtClean="0">
                                          <a:latin typeface="Cambria Math" panose="02040503050406030204" pitchFamily="18" charset="0"/>
                                        </a:rPr>
                                      </m:ctrlPr>
                                    </m:fPr>
                                    <m:num>
                                      <m:r>
                                        <a:rPr lang="en-US" altLang="zh-CN" b="0" i="1" smtClean="0">
                                          <a:latin typeface="Cambria Math" panose="02040503050406030204" pitchFamily="18" charset="0"/>
                                        </a:rPr>
                                        <m:t>2</m:t>
                                      </m:r>
                                    </m:num>
                                    <m:den>
                                      <m:r>
                                        <a:rPr lang="en-US" altLang="zh-CN" b="0" i="1" smtClean="0">
                                          <a:latin typeface="Cambria Math" panose="02040503050406030204" pitchFamily="18" charset="0"/>
                                        </a:rPr>
                                        <m:t>𝛿</m:t>
                                      </m:r>
                                    </m:den>
                                  </m:f>
                                </m:e>
                              </m:func>
                            </m:e>
                          </m:rad>
                        </m:num>
                        <m:den>
                          <m:r>
                            <a:rPr lang="en-US" altLang="zh-CN" b="0" i="1" smtClean="0">
                              <a:latin typeface="Cambria Math" panose="02040503050406030204" pitchFamily="18" charset="0"/>
                            </a:rPr>
                            <m:t>𝜀</m:t>
                          </m:r>
                        </m:den>
                      </m:f>
                      <m:r>
                        <a:rPr lang="en-US" altLang="zh-CN" b="0" i="1" smtClean="0">
                          <a:latin typeface="Cambria Math" panose="02040503050406030204" pitchFamily="18" charset="0"/>
                        </a:rPr>
                        <m:t>,</m:t>
                      </m:r>
                    </m:oMath>
                  </m:oMathPara>
                </a14:m>
                <a:endParaRPr lang="en-US" altLang="zh-CN" dirty="0"/>
              </a:p>
              <a:p>
                <a:pPr marL="457200" lvl="1" indent="0">
                  <a:lnSpc>
                    <a:spcPct val="120000"/>
                  </a:lnSpc>
                  <a:buNone/>
                </a:pPr>
                <a:r>
                  <a:rPr lang="en-US" altLang="zh-CN" dirty="0"/>
                  <a:t>where </a:t>
                </a:r>
                <a14:m>
                  <m:oMath xmlns:m="http://schemas.openxmlformats.org/officeDocument/2006/math">
                    <m:r>
                      <a:rPr lang="en-US" altLang="zh-CN" i="1" smtClean="0">
                        <a:latin typeface="Cambria Math" panose="02040503050406030204" pitchFamily="18" charset="0"/>
                      </a:rPr>
                      <m:t>𝛾</m:t>
                    </m:r>
                    <m:r>
                      <a:rPr lang="en-US" altLang="zh-CN" i="1" smtClean="0">
                        <a:latin typeface="Cambria Math" panose="02040503050406030204" pitchFamily="18" charset="0"/>
                      </a:rPr>
                      <m:t>=</m:t>
                    </m:r>
                    <m:f>
                      <m:fPr>
                        <m:ctrlPr>
                          <a:rPr lang="en-US" altLang="zh-CN" i="1">
                            <a:latin typeface="Cambria Math" panose="02040503050406030204" pitchFamily="18" charset="0"/>
                          </a:rPr>
                        </m:ctrlPr>
                      </m:fPr>
                      <m:num>
                        <m:r>
                          <a:rPr lang="en-US" altLang="zh-CN" i="1">
                            <a:latin typeface="Cambria Math" panose="02040503050406030204" pitchFamily="18" charset="0"/>
                          </a:rPr>
                          <m:t>𝜀</m:t>
                        </m:r>
                      </m:num>
                      <m:den>
                        <m:r>
                          <a:rPr lang="en-US" altLang="zh-CN" i="1">
                            <a:latin typeface="Cambria Math" panose="02040503050406030204" pitchFamily="18" charset="0"/>
                          </a:rPr>
                          <m:t>4</m:t>
                        </m:r>
                        <m:d>
                          <m:dPr>
                            <m:ctrlPr>
                              <a:rPr lang="en-US" altLang="zh-CN" i="1">
                                <a:latin typeface="Cambria Math" panose="02040503050406030204" pitchFamily="18" charset="0"/>
                              </a:rPr>
                            </m:ctrlPr>
                          </m:dPr>
                          <m:e>
                            <m:r>
                              <a:rPr lang="en-US" altLang="zh-CN" i="1">
                                <a:latin typeface="Cambria Math" panose="02040503050406030204" pitchFamily="18" charset="0"/>
                              </a:rPr>
                              <m:t>𝑑</m:t>
                            </m:r>
                            <m:r>
                              <a:rPr lang="en-US" altLang="zh-CN" i="1">
                                <a:latin typeface="Cambria Math" panose="02040503050406030204" pitchFamily="18" charset="0"/>
                              </a:rPr>
                              <m:t>+</m:t>
                            </m:r>
                            <m:func>
                              <m:funcPr>
                                <m:ctrlPr>
                                  <a:rPr lang="en-US" altLang="zh-CN" i="1">
                                    <a:latin typeface="Cambria Math" panose="02040503050406030204" pitchFamily="18" charset="0"/>
                                  </a:rPr>
                                </m:ctrlPr>
                              </m:funcPr>
                              <m:fName>
                                <m:r>
                                  <m:rPr>
                                    <m:sty m:val="p"/>
                                  </m:rPr>
                                  <a:rPr lang="en-US" altLang="zh-CN">
                                    <a:latin typeface="Cambria Math" panose="02040503050406030204" pitchFamily="18" charset="0"/>
                                  </a:rPr>
                                  <m:t>ln</m:t>
                                </m:r>
                              </m:fName>
                              <m:e>
                                <m:f>
                                  <m:fPr>
                                    <m:ctrlPr>
                                      <a:rPr lang="en-US" altLang="zh-CN" i="1">
                                        <a:latin typeface="Cambria Math" panose="02040503050406030204" pitchFamily="18" charset="0"/>
                                      </a:rPr>
                                    </m:ctrlPr>
                                  </m:fPr>
                                  <m:num>
                                    <m:r>
                                      <a:rPr lang="en-US" altLang="zh-CN" i="1">
                                        <a:latin typeface="Cambria Math" panose="02040503050406030204" pitchFamily="18" charset="0"/>
                                      </a:rPr>
                                      <m:t>2</m:t>
                                    </m:r>
                                  </m:num>
                                  <m:den>
                                    <m:r>
                                      <a:rPr lang="en-US" altLang="zh-CN" i="1">
                                        <a:latin typeface="Cambria Math" panose="02040503050406030204" pitchFamily="18" charset="0"/>
                                      </a:rPr>
                                      <m:t>𝛿</m:t>
                                    </m:r>
                                  </m:den>
                                </m:f>
                              </m:e>
                            </m:func>
                          </m:e>
                        </m:d>
                      </m:den>
                    </m:f>
                  </m:oMath>
                </a14:m>
                <a:r>
                  <a:rPr lang="en-US" altLang="zh-CN" dirty="0"/>
                  <a:t>.</a:t>
                </a:r>
              </a:p>
            </p:txBody>
          </p:sp>
        </mc:Choice>
        <mc:Fallback>
          <p:sp>
            <p:nvSpPr>
              <p:cNvPr id="5" name="内容占位符 2">
                <a:extLst>
                  <a:ext uri="{FF2B5EF4-FFF2-40B4-BE49-F238E27FC236}">
                    <a16:creationId xmlns:a16="http://schemas.microsoft.com/office/drawing/2014/main" id="{3976AD5D-9197-6646-03CB-51E4D66FDBEB}"/>
                  </a:ext>
                </a:extLst>
              </p:cNvPr>
              <p:cNvSpPr txBox="1">
                <a:spLocks noRot="1" noChangeAspect="1" noMove="1" noResize="1" noEditPoints="1" noAdjustHandles="1" noChangeArrowheads="1" noChangeShapeType="1" noTextEdit="1"/>
              </p:cNvSpPr>
              <p:nvPr/>
            </p:nvSpPr>
            <p:spPr>
              <a:xfrm>
                <a:off x="347179" y="1825624"/>
                <a:ext cx="5672621" cy="4809887"/>
              </a:xfrm>
              <a:prstGeom prst="rect">
                <a:avLst/>
              </a:prstGeom>
              <a:blipFill>
                <a:blip r:embed="rId4"/>
                <a:stretch>
                  <a:fillRect l="-1719" t="-27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98198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C427F5C7-3B9D-16EA-94FE-08047C35F66A}"/>
              </a:ext>
            </a:extLst>
          </p:cNvPr>
          <p:cNvSpPr>
            <a:spLocks noGrp="1"/>
          </p:cNvSpPr>
          <p:nvPr>
            <p:ph type="title"/>
          </p:nvPr>
        </p:nvSpPr>
        <p:spPr/>
        <p:txBody>
          <a:bodyPr/>
          <a:lstStyle/>
          <a:p>
            <a:r>
              <a:rPr lang="en-US" altLang="zh-CN" dirty="0"/>
              <a:t>Summary</a:t>
            </a:r>
            <a:endParaRPr lang="zh-CN" altLang="en-US" dirty="0"/>
          </a:p>
        </p:txBody>
      </p:sp>
      <p:sp>
        <p:nvSpPr>
          <p:cNvPr id="7" name="内容占位符 6">
            <a:extLst>
              <a:ext uri="{FF2B5EF4-FFF2-40B4-BE49-F238E27FC236}">
                <a16:creationId xmlns:a16="http://schemas.microsoft.com/office/drawing/2014/main" id="{F2351094-3BBD-2DFE-080E-8A44A652BCB2}"/>
              </a:ext>
            </a:extLst>
          </p:cNvPr>
          <p:cNvSpPr>
            <a:spLocks noGrp="1"/>
          </p:cNvSpPr>
          <p:nvPr>
            <p:ph idx="1"/>
          </p:nvPr>
        </p:nvSpPr>
        <p:spPr/>
        <p:txBody>
          <a:bodyPr/>
          <a:lstStyle/>
          <a:p>
            <a:endParaRPr lang="zh-CN" altLang="en-US"/>
          </a:p>
        </p:txBody>
      </p:sp>
      <p:sp>
        <p:nvSpPr>
          <p:cNvPr id="5" name="灯片编号占位符 4">
            <a:extLst>
              <a:ext uri="{FF2B5EF4-FFF2-40B4-BE49-F238E27FC236}">
                <a16:creationId xmlns:a16="http://schemas.microsoft.com/office/drawing/2014/main" id="{10F3A829-EE25-659A-5823-CC9CE7C1A6F7}"/>
              </a:ext>
            </a:extLst>
          </p:cNvPr>
          <p:cNvSpPr>
            <a:spLocks noGrp="1"/>
          </p:cNvSpPr>
          <p:nvPr>
            <p:ph type="sldNum" sz="quarter" idx="12"/>
          </p:nvPr>
        </p:nvSpPr>
        <p:spPr/>
        <p:txBody>
          <a:bodyPr/>
          <a:lstStyle/>
          <a:p>
            <a:fld id="{B0AC98E8-77B5-4E71-A497-A3DCE01E87E0}" type="slidenum">
              <a:rPr lang="zh-CN" altLang="en-US" smtClean="0"/>
              <a:t>8</a:t>
            </a:fld>
            <a:endParaRPr lang="zh-CN" altLang="en-US"/>
          </a:p>
        </p:txBody>
      </p:sp>
      <p:pic>
        <p:nvPicPr>
          <p:cNvPr id="9" name="图片 8">
            <a:extLst>
              <a:ext uri="{FF2B5EF4-FFF2-40B4-BE49-F238E27FC236}">
                <a16:creationId xmlns:a16="http://schemas.microsoft.com/office/drawing/2014/main" id="{F51EAB24-DBEC-D67D-711D-029409D8E643}"/>
              </a:ext>
            </a:extLst>
          </p:cNvPr>
          <p:cNvPicPr>
            <a:picLocks noChangeAspect="1"/>
          </p:cNvPicPr>
          <p:nvPr/>
        </p:nvPicPr>
        <p:blipFill>
          <a:blip r:embed="rId3"/>
          <a:stretch>
            <a:fillRect/>
          </a:stretch>
        </p:blipFill>
        <p:spPr>
          <a:xfrm>
            <a:off x="2195265" y="1524000"/>
            <a:ext cx="7801470" cy="2678565"/>
          </a:xfrm>
          <a:prstGeom prst="rect">
            <a:avLst/>
          </a:prstGeom>
        </p:spPr>
      </p:pic>
      <p:pic>
        <p:nvPicPr>
          <p:cNvPr id="11" name="图片 10">
            <a:extLst>
              <a:ext uri="{FF2B5EF4-FFF2-40B4-BE49-F238E27FC236}">
                <a16:creationId xmlns:a16="http://schemas.microsoft.com/office/drawing/2014/main" id="{898DBEF5-3615-17DC-9BA6-875595B181F7}"/>
              </a:ext>
            </a:extLst>
          </p:cNvPr>
          <p:cNvPicPr>
            <a:picLocks noChangeAspect="1"/>
          </p:cNvPicPr>
          <p:nvPr/>
        </p:nvPicPr>
        <p:blipFill>
          <a:blip r:embed="rId4"/>
          <a:stretch>
            <a:fillRect/>
          </a:stretch>
        </p:blipFill>
        <p:spPr>
          <a:xfrm>
            <a:off x="2289259" y="4155307"/>
            <a:ext cx="7613481" cy="2357385"/>
          </a:xfrm>
          <a:prstGeom prst="rect">
            <a:avLst/>
          </a:prstGeom>
        </p:spPr>
      </p:pic>
    </p:spTree>
    <p:extLst>
      <p:ext uri="{BB962C8B-B14F-4D97-AF65-F5344CB8AC3E}">
        <p14:creationId xmlns:p14="http://schemas.microsoft.com/office/powerpoint/2010/main" val="17939539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1AD74F6-97C6-445A-8D96-BE04702FEAB3}"/>
              </a:ext>
            </a:extLst>
          </p:cNvPr>
          <p:cNvSpPr>
            <a:spLocks noGrp="1"/>
          </p:cNvSpPr>
          <p:nvPr>
            <p:ph type="title"/>
          </p:nvPr>
        </p:nvSpPr>
        <p:spPr/>
        <p:txBody>
          <a:bodyPr/>
          <a:lstStyle/>
          <a:p>
            <a:r>
              <a:rPr lang="en-US" altLang="zh-CN" dirty="0"/>
              <a:t>References</a:t>
            </a:r>
            <a:endParaRPr lang="zh-CN" altLang="en-US" dirty="0"/>
          </a:p>
        </p:txBody>
      </p:sp>
      <p:sp>
        <p:nvSpPr>
          <p:cNvPr id="3" name="内容占位符 2">
            <a:extLst>
              <a:ext uri="{FF2B5EF4-FFF2-40B4-BE49-F238E27FC236}">
                <a16:creationId xmlns:a16="http://schemas.microsoft.com/office/drawing/2014/main" id="{36F9A130-181F-3347-A3C9-213A736455BB}"/>
              </a:ext>
            </a:extLst>
          </p:cNvPr>
          <p:cNvSpPr>
            <a:spLocks noGrp="1"/>
          </p:cNvSpPr>
          <p:nvPr>
            <p:ph idx="1"/>
          </p:nvPr>
        </p:nvSpPr>
        <p:spPr/>
        <p:txBody>
          <a:bodyPr>
            <a:normAutofit/>
          </a:bodyPr>
          <a:lstStyle/>
          <a:p>
            <a:r>
              <a:rPr lang="en-US" altLang="zh-CN" sz="1200" dirty="0">
                <a:solidFill>
                  <a:srgbClr val="333333"/>
                </a:solidFill>
              </a:rPr>
              <a:t>Martin Abadi, Andy Chu, Ian Goodfellow, H. Brendan McMahan, Ilya Mironov, Kunal Talwar, and Li Zhang. 2016. Deep Learning with Differential Privacy. In Proceedings of the 2016 ACM SIGSAC Conference on Computer and Communications Security (CCS '16).</a:t>
            </a:r>
          </a:p>
          <a:p>
            <a:r>
              <a:rPr lang="en-US" altLang="zh-CN" sz="1200" dirty="0">
                <a:solidFill>
                  <a:srgbClr val="333333"/>
                </a:solidFill>
              </a:rPr>
              <a:t>Yuan Qiu, Wei Dong, Ke Yi, Bin Wu, and </a:t>
            </a:r>
            <a:r>
              <a:rPr lang="en-US" altLang="zh-CN" sz="1200" dirty="0" err="1">
                <a:solidFill>
                  <a:srgbClr val="333333"/>
                </a:solidFill>
              </a:rPr>
              <a:t>Feifei</a:t>
            </a:r>
            <a:r>
              <a:rPr lang="en-US" altLang="zh-CN" sz="1200" dirty="0">
                <a:solidFill>
                  <a:srgbClr val="333333"/>
                </a:solidFill>
              </a:rPr>
              <a:t> Li. 2022. Releasing Private Data for Numerical Queries. In Proceedings of the 28th ACM SIGKDD Conference on Knowledge Discovery and Data Mining (KDD '22).</a:t>
            </a:r>
          </a:p>
          <a:p>
            <a:r>
              <a:rPr lang="en-US" altLang="zh-CN" sz="1200" dirty="0">
                <a:solidFill>
                  <a:srgbClr val="333333"/>
                </a:solidFill>
              </a:rPr>
              <a:t>Shiva Prasad </a:t>
            </a:r>
            <a:r>
              <a:rPr lang="en-US" altLang="zh-CN" sz="1200" dirty="0" err="1">
                <a:solidFill>
                  <a:srgbClr val="333333"/>
                </a:solidFill>
              </a:rPr>
              <a:t>Kasiviswanathan</a:t>
            </a:r>
            <a:r>
              <a:rPr lang="en-US" altLang="zh-CN" sz="1200" dirty="0">
                <a:solidFill>
                  <a:srgbClr val="333333"/>
                </a:solidFill>
              </a:rPr>
              <a:t>, </a:t>
            </a:r>
            <a:r>
              <a:rPr lang="en-US" altLang="zh-CN" sz="1200" dirty="0" err="1">
                <a:solidFill>
                  <a:srgbClr val="333333"/>
                </a:solidFill>
              </a:rPr>
              <a:t>Kobbi</a:t>
            </a:r>
            <a:r>
              <a:rPr lang="en-US" altLang="zh-CN" sz="1200" dirty="0">
                <a:solidFill>
                  <a:srgbClr val="333333"/>
                </a:solidFill>
              </a:rPr>
              <a:t> Nissim, </a:t>
            </a:r>
            <a:r>
              <a:rPr lang="en-US" altLang="zh-CN" sz="1200" dirty="0" err="1">
                <a:solidFill>
                  <a:srgbClr val="333333"/>
                </a:solidFill>
              </a:rPr>
              <a:t>Sofya</a:t>
            </a:r>
            <a:r>
              <a:rPr lang="en-US" altLang="zh-CN" sz="1200" dirty="0">
                <a:solidFill>
                  <a:srgbClr val="333333"/>
                </a:solidFill>
              </a:rPr>
              <a:t> </a:t>
            </a:r>
            <a:r>
              <a:rPr lang="en-US" altLang="zh-CN" sz="1200" dirty="0" err="1">
                <a:solidFill>
                  <a:srgbClr val="333333"/>
                </a:solidFill>
              </a:rPr>
              <a:t>Raskhodnikova</a:t>
            </a:r>
            <a:r>
              <a:rPr lang="en-US" altLang="zh-CN" sz="1200" dirty="0">
                <a:solidFill>
                  <a:srgbClr val="333333"/>
                </a:solidFill>
              </a:rPr>
              <a:t>, and Adam Smith. 2013. Analyzing graphs with node differential privacy. In Proceedings of the 10th theory of cryptography conference on Theory of Cryptography (TCC'13).</a:t>
            </a:r>
          </a:p>
          <a:p>
            <a:r>
              <a:rPr lang="en-US" altLang="zh-CN" sz="1200" dirty="0">
                <a:solidFill>
                  <a:srgbClr val="333333"/>
                </a:solidFill>
              </a:rPr>
              <a:t>Wei Dong, </a:t>
            </a:r>
            <a:r>
              <a:rPr lang="en-US" altLang="zh-CN" sz="1200" dirty="0" err="1">
                <a:solidFill>
                  <a:srgbClr val="333333"/>
                </a:solidFill>
              </a:rPr>
              <a:t>Juanru</a:t>
            </a:r>
            <a:r>
              <a:rPr lang="en-US" altLang="zh-CN" sz="1200" dirty="0">
                <a:solidFill>
                  <a:srgbClr val="333333"/>
                </a:solidFill>
              </a:rPr>
              <a:t> Fang, Ke Yi, </a:t>
            </a:r>
            <a:r>
              <a:rPr lang="en-US" altLang="zh-CN" sz="1200" dirty="0" err="1">
                <a:solidFill>
                  <a:srgbClr val="333333"/>
                </a:solidFill>
              </a:rPr>
              <a:t>Yuchao</a:t>
            </a:r>
            <a:r>
              <a:rPr lang="en-US" altLang="zh-CN" sz="1200" dirty="0">
                <a:solidFill>
                  <a:srgbClr val="333333"/>
                </a:solidFill>
              </a:rPr>
              <a:t> Tao, and Ashwin </a:t>
            </a:r>
            <a:r>
              <a:rPr lang="en-US" altLang="zh-CN" sz="1200" dirty="0" err="1">
                <a:solidFill>
                  <a:srgbClr val="333333"/>
                </a:solidFill>
              </a:rPr>
              <a:t>Machanavajjhala</a:t>
            </a:r>
            <a:r>
              <a:rPr lang="en-US" altLang="zh-CN" sz="1200" dirty="0">
                <a:solidFill>
                  <a:srgbClr val="333333"/>
                </a:solidFill>
              </a:rPr>
              <a:t>. 2022. R2T: Instance-optimal Truncation for Differentially Private Query Evaluation with Foreign Keys. In Proceedings of the 2022 International Conference on Management of Data (SIGMOD '22).</a:t>
            </a:r>
          </a:p>
          <a:p>
            <a:r>
              <a:rPr lang="en-US" altLang="zh-CN" sz="1200" dirty="0">
                <a:solidFill>
                  <a:srgbClr val="333333"/>
                </a:solidFill>
              </a:rPr>
              <a:t>Wei Dong, </a:t>
            </a:r>
            <a:r>
              <a:rPr lang="en-US" altLang="zh-CN" sz="1200" dirty="0" err="1">
                <a:solidFill>
                  <a:srgbClr val="333333"/>
                </a:solidFill>
              </a:rPr>
              <a:t>Dajun</a:t>
            </a:r>
            <a:r>
              <a:rPr lang="en-US" altLang="zh-CN" sz="1200" dirty="0">
                <a:solidFill>
                  <a:srgbClr val="333333"/>
                </a:solidFill>
              </a:rPr>
              <a:t> Sun, and Ke Yi. 2023. Better than Composition: How to Answer Multiple Relational Queries under Differential Privacy. Proc. ACM </a:t>
            </a:r>
            <a:r>
              <a:rPr lang="en-US" altLang="zh-CN" sz="1200" dirty="0" err="1">
                <a:solidFill>
                  <a:srgbClr val="333333"/>
                </a:solidFill>
              </a:rPr>
              <a:t>Manag</a:t>
            </a:r>
            <a:r>
              <a:rPr lang="en-US" altLang="zh-CN" sz="1200" dirty="0">
                <a:solidFill>
                  <a:srgbClr val="333333"/>
                </a:solidFill>
              </a:rPr>
              <a:t>. Data 1, 2, Article 123 (SIGMOD '23), 26 pages.</a:t>
            </a:r>
          </a:p>
          <a:p>
            <a:r>
              <a:rPr lang="en-US" altLang="zh-CN" sz="1200" dirty="0">
                <a:solidFill>
                  <a:srgbClr val="333333"/>
                </a:solidFill>
              </a:rPr>
              <a:t>Borja </a:t>
            </a:r>
            <a:r>
              <a:rPr lang="en-US" altLang="zh-CN" sz="1200" dirty="0" err="1">
                <a:solidFill>
                  <a:srgbClr val="333333"/>
                </a:solidFill>
              </a:rPr>
              <a:t>Balle</a:t>
            </a:r>
            <a:r>
              <a:rPr lang="en-US" altLang="zh-CN" sz="1200" dirty="0">
                <a:solidFill>
                  <a:srgbClr val="333333"/>
                </a:solidFill>
              </a:rPr>
              <a:t>, Gilles </a:t>
            </a:r>
            <a:r>
              <a:rPr lang="en-US" altLang="zh-CN" sz="1200" dirty="0" err="1">
                <a:solidFill>
                  <a:srgbClr val="333333"/>
                </a:solidFill>
              </a:rPr>
              <a:t>Barthe</a:t>
            </a:r>
            <a:r>
              <a:rPr lang="en-US" altLang="zh-CN" sz="1200" dirty="0">
                <a:solidFill>
                  <a:srgbClr val="333333"/>
                </a:solidFill>
              </a:rPr>
              <a:t>, and Marco </a:t>
            </a:r>
            <a:r>
              <a:rPr lang="en-US" altLang="zh-CN" sz="1200" dirty="0" err="1">
                <a:solidFill>
                  <a:srgbClr val="333333"/>
                </a:solidFill>
              </a:rPr>
              <a:t>Gaboardi</a:t>
            </a:r>
            <a:r>
              <a:rPr lang="en-US" altLang="zh-CN" sz="1200" dirty="0">
                <a:solidFill>
                  <a:srgbClr val="333333"/>
                </a:solidFill>
              </a:rPr>
              <a:t>. 2018. Privacy Amplification by Subsampling: Tight Analyses via Couplings and Divergences. In Proceedings of the Conference on Neural Information Processing Systems (</a:t>
            </a:r>
            <a:r>
              <a:rPr lang="en-US" altLang="zh-CN" sz="1200" dirty="0" err="1">
                <a:solidFill>
                  <a:srgbClr val="333333"/>
                </a:solidFill>
              </a:rPr>
              <a:t>NeurIPS</a:t>
            </a:r>
            <a:r>
              <a:rPr lang="en-US" altLang="zh-CN" sz="1200" dirty="0">
                <a:solidFill>
                  <a:srgbClr val="333333"/>
                </a:solidFill>
              </a:rPr>
              <a:t> '18).</a:t>
            </a:r>
          </a:p>
          <a:p>
            <a:r>
              <a:rPr lang="en-US" altLang="zh-CN" sz="1200" dirty="0" err="1">
                <a:solidFill>
                  <a:srgbClr val="333333"/>
                </a:solidFill>
              </a:rPr>
              <a:t>Juanru</a:t>
            </a:r>
            <a:r>
              <a:rPr lang="en-US" altLang="zh-CN" sz="1200" dirty="0">
                <a:solidFill>
                  <a:srgbClr val="333333"/>
                </a:solidFill>
              </a:rPr>
              <a:t> Fang and Ke Yi. 2024. Privacy Amplification by Sampling under User-level Differential Privacy. Proc. ACM </a:t>
            </a:r>
            <a:r>
              <a:rPr lang="en-US" altLang="zh-CN" sz="1200" dirty="0" err="1">
                <a:solidFill>
                  <a:srgbClr val="333333"/>
                </a:solidFill>
              </a:rPr>
              <a:t>Manag</a:t>
            </a:r>
            <a:r>
              <a:rPr lang="en-US" altLang="zh-CN" sz="1200" dirty="0">
                <a:solidFill>
                  <a:srgbClr val="333333"/>
                </a:solidFill>
              </a:rPr>
              <a:t>. Data 2, 1, Article 34 (SIGMOD '24), 26 pages.</a:t>
            </a:r>
          </a:p>
          <a:p>
            <a:r>
              <a:rPr lang="en-US" altLang="zh-CN" sz="1200" dirty="0" err="1">
                <a:solidFill>
                  <a:srgbClr val="333333"/>
                </a:solidFill>
              </a:rPr>
              <a:t>Kobbi</a:t>
            </a:r>
            <a:r>
              <a:rPr lang="en-US" altLang="zh-CN" sz="1200" dirty="0">
                <a:solidFill>
                  <a:srgbClr val="333333"/>
                </a:solidFill>
              </a:rPr>
              <a:t> Nissim, </a:t>
            </a:r>
            <a:r>
              <a:rPr lang="en-US" altLang="zh-CN" sz="1200" dirty="0" err="1">
                <a:solidFill>
                  <a:srgbClr val="333333"/>
                </a:solidFill>
              </a:rPr>
              <a:t>Sofya</a:t>
            </a:r>
            <a:r>
              <a:rPr lang="en-US" altLang="zh-CN" sz="1200" dirty="0">
                <a:solidFill>
                  <a:srgbClr val="333333"/>
                </a:solidFill>
              </a:rPr>
              <a:t> </a:t>
            </a:r>
            <a:r>
              <a:rPr lang="en-US" altLang="zh-CN" sz="1200" dirty="0" err="1">
                <a:solidFill>
                  <a:srgbClr val="333333"/>
                </a:solidFill>
              </a:rPr>
              <a:t>Raskhodnikova</a:t>
            </a:r>
            <a:r>
              <a:rPr lang="en-US" altLang="zh-CN" sz="1200" dirty="0">
                <a:solidFill>
                  <a:srgbClr val="333333"/>
                </a:solidFill>
              </a:rPr>
              <a:t>, and Adam Smith. 2007. Smooth sensitivity and sampling in private data analysis. In Proceedings of the thirty-ninth annual ACM symposium on Theory of computing (STOC '07).</a:t>
            </a:r>
            <a:endParaRPr lang="zh-CN" altLang="en-US" sz="1200" dirty="0">
              <a:solidFill>
                <a:srgbClr val="333333"/>
              </a:solidFill>
            </a:endParaRPr>
          </a:p>
        </p:txBody>
      </p:sp>
      <p:sp>
        <p:nvSpPr>
          <p:cNvPr id="4" name="灯片编号占位符 3">
            <a:extLst>
              <a:ext uri="{FF2B5EF4-FFF2-40B4-BE49-F238E27FC236}">
                <a16:creationId xmlns:a16="http://schemas.microsoft.com/office/drawing/2014/main" id="{391A15C5-E644-78FC-B45D-BC17A7F91BE3}"/>
              </a:ext>
            </a:extLst>
          </p:cNvPr>
          <p:cNvSpPr>
            <a:spLocks noGrp="1"/>
          </p:cNvSpPr>
          <p:nvPr>
            <p:ph type="sldNum" sz="quarter" idx="12"/>
          </p:nvPr>
        </p:nvSpPr>
        <p:spPr/>
        <p:txBody>
          <a:bodyPr/>
          <a:lstStyle/>
          <a:p>
            <a:fld id="{B0AC98E8-77B5-4E71-A497-A3DCE01E87E0}" type="slidenum">
              <a:rPr lang="zh-CN" altLang="en-US" smtClean="0"/>
              <a:t>9</a:t>
            </a:fld>
            <a:endParaRPr lang="zh-CN" altLang="en-US" dirty="0"/>
          </a:p>
        </p:txBody>
      </p:sp>
    </p:spTree>
    <p:extLst>
      <p:ext uri="{BB962C8B-B14F-4D97-AF65-F5344CB8AC3E}">
        <p14:creationId xmlns:p14="http://schemas.microsoft.com/office/powerpoint/2010/main" val="844040247"/>
      </p:ext>
    </p:extLst>
  </p:cSld>
  <p:clrMapOvr>
    <a:masterClrMapping/>
  </p:clrMapOvr>
</p:sld>
</file>

<file path=ppt/theme/theme1.xml><?xml version="1.0" encoding="utf-8"?>
<a:theme xmlns:a="http://schemas.openxmlformats.org/drawingml/2006/main" name="Office 主题​​">
  <a:themeElements>
    <a:clrScheme name="自定义 1">
      <a:dk1>
        <a:sysClr val="windowText" lastClr="000000"/>
      </a:dk1>
      <a:lt1>
        <a:sysClr val="window" lastClr="FFFFFF"/>
      </a:lt1>
      <a:dk2>
        <a:srgbClr val="002060"/>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自定义 1">
      <a:majorFont>
        <a:latin typeface="Calibri"/>
        <a:ea typeface="黑体"/>
        <a:cs typeface=""/>
      </a:majorFont>
      <a:minorFont>
        <a:latin typeface="Times New Roman"/>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3754</TotalTime>
  <Words>1818</Words>
  <Application>Microsoft Office PowerPoint</Application>
  <PresentationFormat>宽屏</PresentationFormat>
  <Paragraphs>202</Paragraphs>
  <Slides>9</Slides>
  <Notes>9</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9</vt:i4>
      </vt:variant>
    </vt:vector>
  </HeadingPairs>
  <TitlesOfParts>
    <vt:vector size="16" baseType="lpstr">
      <vt:lpstr>等线</vt:lpstr>
      <vt:lpstr>微软雅黑</vt:lpstr>
      <vt:lpstr>Arial</vt:lpstr>
      <vt:lpstr>Calibri</vt:lpstr>
      <vt:lpstr>Cambria Math</vt:lpstr>
      <vt:lpstr>Times New Roman</vt:lpstr>
      <vt:lpstr>Office 主题​​</vt:lpstr>
      <vt:lpstr>DP-S4S: Accurate and Scalable Select-Join-Aggregate Query Processing with User-Level Differential Privacy</vt:lpstr>
      <vt:lpstr>Differential Privacy (DP)</vt:lpstr>
      <vt:lpstr>Select-Join-Aggregate (SJA) Queries</vt:lpstr>
      <vt:lpstr>SJA Queries under DP: Truncation</vt:lpstr>
      <vt:lpstr>Privacy Amplification by Subsampling</vt:lpstr>
      <vt:lpstr>Our Contribution (1): Sample-and-Truncate Amplification</vt:lpstr>
      <vt:lpstr>Our Contribution (2): Smooth Sensitivity under Rényi-DP</vt:lpstr>
      <vt:lpstr>Summary</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Yuan QIU</dc:creator>
  <cp:lastModifiedBy>Yuan QIU</cp:lastModifiedBy>
  <cp:revision>78</cp:revision>
  <dcterms:created xsi:type="dcterms:W3CDTF">2025-10-20T05:42:41Z</dcterms:created>
  <dcterms:modified xsi:type="dcterms:W3CDTF">2026-05-24T11:08:52Z</dcterms:modified>
</cp:coreProperties>
</file>